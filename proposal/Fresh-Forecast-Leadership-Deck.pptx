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Bakery</c:v>
                </c:pt>
              </c:strCache>
            </c:strRef>
          </c:tx>
          <c:spPr>
            <a:solidFill>
              <a:srgbClr val="1E7A46"/>
            </a:solidFill>
            <a:ln w="25400" cap="flat">
              <a:solidFill>
                <a:srgbClr val="1E7A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7A46"/>
              </a:solidFill>
              <a:ln w="9525" cap="flat">
                <a:solidFill>
                  <a:srgbClr val="1E7A46"/>
                </a:solidFill>
                <a:prstDash val="solid"/>
                <a:round/>
              </a:ln>
              <a:effectLst/>
            </c:spPr>
          </c:marker>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Sheet1!$B$2:$B$13</c:f>
              <c:numCache>
                <c:formatCode>General</c:formatCode>
                <c:ptCount val="12"/>
                <c:pt idx="0">
                  <c:v>1.036</c:v>
                </c:pt>
                <c:pt idx="1">
                  <c:v>0.998</c:v>
                </c:pt>
                <c:pt idx="2">
                  <c:v>1.001</c:v>
                </c:pt>
                <c:pt idx="3">
                  <c:v>0.951</c:v>
                </c:pt>
                <c:pt idx="4">
                  <c:v>1.049</c:v>
                </c:pt>
                <c:pt idx="5">
                  <c:v>1.003</c:v>
                </c:pt>
                <c:pt idx="6">
                  <c:v>0.94</c:v>
                </c:pt>
                <c:pt idx="7">
                  <c:v>0.986</c:v>
                </c:pt>
                <c:pt idx="8">
                  <c:v>0.958</c:v>
                </c:pt>
                <c:pt idx="9">
                  <c:v>0.987</c:v>
                </c:pt>
                <c:pt idx="10">
                  <c:v>1.039</c:v>
                </c:pt>
                <c:pt idx="11">
                  <c:v>1.053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3E7E2"/>
            </a:solidFill>
            <a:prstDash val="solid"/>
            <a:round/>
          </a:ln>
        </c:spPr>
        <c:txPr>
          <a:bodyPr/>
          <a:lstStyle/>
          <a:p>
            <a:pPr>
              <a:defRPr sz="800" b="0" i="0" u="none" strike="noStrike">
                <a:solidFill>
                  <a:srgbClr val="7D8A81"/>
                </a:solidFill>
                <a:latin typeface="Arial"/>
              </a:defRPr>
            </a:pPr>
            <a:endParaRPr lang="en-US"/>
          </a:p>
        </c:txPr>
        <c:crossAx val="2094734552"/>
        <c:crosses val="autoZero"/>
        <c:auto val="1"/>
        <c:lblAlgn val="ctr"/>
        <c:noMultiLvlLbl val="1"/>
      </c:catAx>
      <c:valAx>
        <c:axId val="2094734552"/>
        <c:scaling>
          <c:orientation val="minMax"/>
          <c:max val="1.25"/>
          <c:min val="0.8"/>
        </c:scaling>
        <c:delete val="0"/>
        <c:axPos val="l"/>
        <c:majorGridlines>
          <c:spPr>
            <a:ln w="6350" cap="flat">
              <a:solidFill>
                <a:srgbClr val="E3E7E2"/>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7D8A81"/>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Pizza</c:v>
                </c:pt>
              </c:strCache>
            </c:strRef>
          </c:tx>
          <c:spPr>
            <a:solidFill>
              <a:srgbClr val="1E7A46"/>
            </a:solidFill>
            <a:ln w="25400" cap="flat">
              <a:solidFill>
                <a:srgbClr val="1E7A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7A46"/>
              </a:solidFill>
              <a:ln w="9525" cap="flat">
                <a:solidFill>
                  <a:srgbClr val="1E7A46"/>
                </a:solidFill>
                <a:prstDash val="solid"/>
                <a:round/>
              </a:ln>
              <a:effectLst/>
            </c:spPr>
          </c:marker>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Sheet1!$B$2:$B$13</c:f>
              <c:numCache>
                <c:formatCode>General</c:formatCode>
                <c:ptCount val="12"/>
                <c:pt idx="0">
                  <c:v>1.011</c:v>
                </c:pt>
                <c:pt idx="1">
                  <c:v>1.069</c:v>
                </c:pt>
                <c:pt idx="2">
                  <c:v>1.064</c:v>
                </c:pt>
                <c:pt idx="3">
                  <c:v>0.983</c:v>
                </c:pt>
                <c:pt idx="4">
                  <c:v>0.988</c:v>
                </c:pt>
                <c:pt idx="5">
                  <c:v>0.955</c:v>
                </c:pt>
                <c:pt idx="6">
                  <c:v>0.944</c:v>
                </c:pt>
                <c:pt idx="7">
                  <c:v>0.984</c:v>
                </c:pt>
                <c:pt idx="8">
                  <c:v>0.967</c:v>
                </c:pt>
                <c:pt idx="9">
                  <c:v>0.99</c:v>
                </c:pt>
                <c:pt idx="10">
                  <c:v>0.988</c:v>
                </c:pt>
                <c:pt idx="11">
                  <c:v>1.057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3E7E2"/>
            </a:solidFill>
            <a:prstDash val="solid"/>
            <a:round/>
          </a:ln>
        </c:spPr>
        <c:txPr>
          <a:bodyPr/>
          <a:lstStyle/>
          <a:p>
            <a:pPr>
              <a:defRPr sz="800" b="0" i="0" u="none" strike="noStrike">
                <a:solidFill>
                  <a:srgbClr val="7D8A81"/>
                </a:solidFill>
                <a:latin typeface="Arial"/>
              </a:defRPr>
            </a:pPr>
            <a:endParaRPr lang="en-US"/>
          </a:p>
        </c:txPr>
        <c:crossAx val="2094734552"/>
        <c:crosses val="autoZero"/>
        <c:auto val="1"/>
        <c:lblAlgn val="ctr"/>
        <c:noMultiLvlLbl val="1"/>
      </c:catAx>
      <c:valAx>
        <c:axId val="2094734552"/>
        <c:scaling>
          <c:orientation val="minMax"/>
          <c:max val="1.25"/>
          <c:min val="0.8"/>
        </c:scaling>
        <c:delete val="0"/>
        <c:axPos val="l"/>
        <c:majorGridlines>
          <c:spPr>
            <a:ln w="6350" cap="flat">
              <a:solidFill>
                <a:srgbClr val="E3E7E2"/>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7D8A81"/>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Hot Foods</c:v>
                </c:pt>
              </c:strCache>
            </c:strRef>
          </c:tx>
          <c:spPr>
            <a:solidFill>
              <a:srgbClr val="1E7A46"/>
            </a:solidFill>
            <a:ln w="25400" cap="flat">
              <a:solidFill>
                <a:srgbClr val="1E7A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7A46"/>
              </a:solidFill>
              <a:ln w="9525" cap="flat">
                <a:solidFill>
                  <a:srgbClr val="1E7A46"/>
                </a:solidFill>
                <a:prstDash val="solid"/>
                <a:round/>
              </a:ln>
              <a:effectLst/>
            </c:spPr>
          </c:marker>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Sheet1!$B$2:$B$13</c:f>
              <c:numCache>
                <c:formatCode>General</c:formatCode>
                <c:ptCount val="12"/>
                <c:pt idx="0">
                  <c:v>1.192</c:v>
                </c:pt>
                <c:pt idx="1">
                  <c:v>1.168</c:v>
                </c:pt>
                <c:pt idx="2">
                  <c:v>1.092</c:v>
                </c:pt>
                <c:pt idx="3">
                  <c:v>0.998</c:v>
                </c:pt>
                <c:pt idx="4">
                  <c:v>0.918</c:v>
                </c:pt>
                <c:pt idx="5">
                  <c:v>0.849</c:v>
                </c:pt>
                <c:pt idx="6">
                  <c:v>0.826</c:v>
                </c:pt>
                <c:pt idx="7">
                  <c:v>0.856</c:v>
                </c:pt>
                <c:pt idx="8">
                  <c:v>0.89</c:v>
                </c:pt>
                <c:pt idx="9">
                  <c:v>0.99</c:v>
                </c:pt>
                <c:pt idx="10">
                  <c:v>1.056</c:v>
                </c:pt>
                <c:pt idx="11">
                  <c:v>1.165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3E7E2"/>
            </a:solidFill>
            <a:prstDash val="solid"/>
            <a:round/>
          </a:ln>
        </c:spPr>
        <c:txPr>
          <a:bodyPr/>
          <a:lstStyle/>
          <a:p>
            <a:pPr>
              <a:defRPr sz="800" b="0" i="0" u="none" strike="noStrike">
                <a:solidFill>
                  <a:srgbClr val="7D8A81"/>
                </a:solidFill>
                <a:latin typeface="Arial"/>
              </a:defRPr>
            </a:pPr>
            <a:endParaRPr lang="en-US"/>
          </a:p>
        </c:txPr>
        <c:crossAx val="2094734552"/>
        <c:crosses val="autoZero"/>
        <c:auto val="1"/>
        <c:lblAlgn val="ctr"/>
        <c:noMultiLvlLbl val="1"/>
      </c:catAx>
      <c:valAx>
        <c:axId val="2094734552"/>
        <c:scaling>
          <c:orientation val="minMax"/>
          <c:max val="1.25"/>
          <c:min val="0.8"/>
        </c:scaling>
        <c:delete val="0"/>
        <c:axPos val="l"/>
        <c:majorGridlines>
          <c:spPr>
            <a:ln w="6350" cap="flat">
              <a:solidFill>
                <a:srgbClr val="E3E7E2"/>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7D8A81"/>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Fresh Foods</c:v>
                </c:pt>
              </c:strCache>
            </c:strRef>
          </c:tx>
          <c:spPr>
            <a:solidFill>
              <a:srgbClr val="1E7A46"/>
            </a:solidFill>
            <a:ln w="25400" cap="flat">
              <a:solidFill>
                <a:srgbClr val="1E7A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7A46"/>
              </a:solidFill>
              <a:ln w="9525" cap="flat">
                <a:solidFill>
                  <a:srgbClr val="1E7A46"/>
                </a:solidFill>
                <a:prstDash val="solid"/>
                <a:round/>
              </a:ln>
              <a:effectLst/>
            </c:spPr>
          </c:marker>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Sheet1!$B$2:$B$13</c:f>
              <c:numCache>
                <c:formatCode>General</c:formatCode>
                <c:ptCount val="12"/>
                <c:pt idx="0">
                  <c:v>0.843</c:v>
                </c:pt>
                <c:pt idx="1">
                  <c:v>0.848</c:v>
                </c:pt>
                <c:pt idx="2">
                  <c:v>0.88</c:v>
                </c:pt>
                <c:pt idx="3">
                  <c:v>0.939</c:v>
                </c:pt>
                <c:pt idx="4">
                  <c:v>1.068</c:v>
                </c:pt>
                <c:pt idx="5">
                  <c:v>1.115</c:v>
                </c:pt>
                <c:pt idx="6">
                  <c:v>1.203</c:v>
                </c:pt>
                <c:pt idx="7">
                  <c:v>1.173</c:v>
                </c:pt>
                <c:pt idx="8">
                  <c:v>1.086</c:v>
                </c:pt>
                <c:pt idx="9">
                  <c:v>0.991</c:v>
                </c:pt>
                <c:pt idx="10">
                  <c:v>0.953</c:v>
                </c:pt>
                <c:pt idx="11">
                  <c:v>0.902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3E7E2"/>
            </a:solidFill>
            <a:prstDash val="solid"/>
            <a:round/>
          </a:ln>
        </c:spPr>
        <c:txPr>
          <a:bodyPr/>
          <a:lstStyle/>
          <a:p>
            <a:pPr>
              <a:defRPr sz="800" b="0" i="0" u="none" strike="noStrike">
                <a:solidFill>
                  <a:srgbClr val="7D8A81"/>
                </a:solidFill>
                <a:latin typeface="Arial"/>
              </a:defRPr>
            </a:pPr>
            <a:endParaRPr lang="en-US"/>
          </a:p>
        </c:txPr>
        <c:crossAx val="2094734552"/>
        <c:crosses val="autoZero"/>
        <c:auto val="1"/>
        <c:lblAlgn val="ctr"/>
        <c:noMultiLvlLbl val="1"/>
      </c:catAx>
      <c:valAx>
        <c:axId val="2094734552"/>
        <c:scaling>
          <c:orientation val="minMax"/>
          <c:max val="1.25"/>
          <c:min val="0.8"/>
        </c:scaling>
        <c:delete val="0"/>
        <c:axPos val="l"/>
        <c:majorGridlines>
          <c:spPr>
            <a:ln w="6350" cap="flat">
              <a:solidFill>
                <a:srgbClr val="E3E7E2"/>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7D8A81"/>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 demand</c:v>
                </c:pt>
              </c:strCache>
            </c:strRef>
          </c:tx>
          <c:spPr>
            <a:solidFill>
              <a:srgbClr val="9AA39C"/>
            </a:solidFill>
            <a:ln w="25400" cap="flat">
              <a:solidFill>
                <a:srgbClr val="9AA39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39C"/>
              </a:solidFill>
              <a:ln w="9525" cap="flat">
                <a:solidFill>
                  <a:srgbClr val="9AA39C"/>
                </a:solidFill>
                <a:prstDash val="solid"/>
                <a:round/>
              </a:ln>
              <a:effectLst/>
            </c:spPr>
          </c:marker>
          <c:cat>
            <c:multiLvlStrRef>
              <c:f>Sheet1!$A$2:$A$57</c:f>
              <c:multiLvlStrCache>
                <c:ptCount val="56"/>
                <c:lvl>
                  <c:pt idx="0">
                    <c:v>01-06</c:v>
                  </c:pt>
                  <c:pt idx="1">
                    <c:v/>
                  </c:pt>
                  <c:pt idx="2">
                    <c:v/>
                  </c:pt>
                  <c:pt idx="3">
                    <c:v/>
                  </c:pt>
                  <c:pt idx="4">
                    <c:v/>
                  </c:pt>
                  <c:pt idx="5">
                    <c:v/>
                  </c:pt>
                  <c:pt idx="6">
                    <c:v/>
                  </c:pt>
                  <c:pt idx="7">
                    <c:v>01-13</c:v>
                  </c:pt>
                  <c:pt idx="8">
                    <c:v/>
                  </c:pt>
                  <c:pt idx="9">
                    <c:v/>
                  </c:pt>
                  <c:pt idx="10">
                    <c:v/>
                  </c:pt>
                  <c:pt idx="11">
                    <c:v/>
                  </c:pt>
                  <c:pt idx="12">
                    <c:v/>
                  </c:pt>
                  <c:pt idx="13">
                    <c:v/>
                  </c:pt>
                  <c:pt idx="14">
                    <c:v>01-20</c:v>
                  </c:pt>
                  <c:pt idx="15">
                    <c:v/>
                  </c:pt>
                  <c:pt idx="16">
                    <c:v/>
                  </c:pt>
                  <c:pt idx="17">
                    <c:v/>
                  </c:pt>
                  <c:pt idx="18">
                    <c:v/>
                  </c:pt>
                  <c:pt idx="19">
                    <c:v/>
                  </c:pt>
                  <c:pt idx="20">
                    <c:v/>
                  </c:pt>
                  <c:pt idx="21">
                    <c:v>01-27</c:v>
                  </c:pt>
                  <c:pt idx="22">
                    <c:v/>
                  </c:pt>
                  <c:pt idx="23">
                    <c:v/>
                  </c:pt>
                  <c:pt idx="24">
                    <c:v/>
                  </c:pt>
                  <c:pt idx="25">
                    <c:v/>
                  </c:pt>
                  <c:pt idx="26">
                    <c:v/>
                  </c:pt>
                  <c:pt idx="27">
                    <c:v/>
                  </c:pt>
                  <c:pt idx="28">
                    <c:v>02-03</c:v>
                  </c:pt>
                  <c:pt idx="29">
                    <c:v/>
                  </c:pt>
                  <c:pt idx="30">
                    <c:v/>
                  </c:pt>
                  <c:pt idx="31">
                    <c:v/>
                  </c:pt>
                  <c:pt idx="32">
                    <c:v/>
                  </c:pt>
                  <c:pt idx="33">
                    <c:v/>
                  </c:pt>
                  <c:pt idx="34">
                    <c:v/>
                  </c:pt>
                  <c:pt idx="35">
                    <c:v>02-10</c:v>
                  </c:pt>
                  <c:pt idx="36">
                    <c:v/>
                  </c:pt>
                  <c:pt idx="37">
                    <c:v/>
                  </c:pt>
                  <c:pt idx="38">
                    <c:v/>
                  </c:pt>
                  <c:pt idx="39">
                    <c:v/>
                  </c:pt>
                  <c:pt idx="40">
                    <c:v/>
                  </c:pt>
                  <c:pt idx="41">
                    <c:v/>
                  </c:pt>
                  <c:pt idx="42">
                    <c:v>02-17</c:v>
                  </c:pt>
                  <c:pt idx="43">
                    <c:v/>
                  </c:pt>
                  <c:pt idx="44">
                    <c:v/>
                  </c:pt>
                  <c:pt idx="45">
                    <c:v/>
                  </c:pt>
                  <c:pt idx="46">
                    <c:v/>
                  </c:pt>
                  <c:pt idx="47">
                    <c:v/>
                  </c:pt>
                  <c:pt idx="48">
                    <c:v/>
                  </c:pt>
                  <c:pt idx="49">
                    <c:v>02-24</c:v>
                  </c:pt>
                  <c:pt idx="50">
                    <c:v/>
                  </c:pt>
                  <c:pt idx="51">
                    <c:v/>
                  </c:pt>
                  <c:pt idx="52">
                    <c:v/>
                  </c:pt>
                  <c:pt idx="53">
                    <c:v/>
                  </c:pt>
                  <c:pt idx="54">
                    <c:v/>
                  </c:pt>
                  <c:pt idx="55">
                    <c:v/>
                  </c:pt>
                </c:lvl>
              </c:multiLvlStrCache>
            </c:multiLvlStrRef>
          </c:cat>
          <c:val>
            <c:numRef>
              <c:f>Sheet1!$B$2:$B$57</c:f>
              <c:numCache>
                <c:formatCode>General</c:formatCode>
                <c:ptCount val="56"/>
                <c:pt idx="0">
                  <c:v>12</c:v>
                </c:pt>
                <c:pt idx="1">
                  <c:v>18</c:v>
                </c:pt>
                <c:pt idx="2">
                  <c:v>17</c:v>
                </c:pt>
                <c:pt idx="3">
                  <c:v>24</c:v>
                </c:pt>
                <c:pt idx="4">
                  <c:v>28</c:v>
                </c:pt>
                <c:pt idx="5">
                  <c:v>26</c:v>
                </c:pt>
                <c:pt idx="6">
                  <c:v>14</c:v>
                </c:pt>
                <c:pt idx="7">
                  <c:v>18</c:v>
                </c:pt>
                <c:pt idx="8">
                  <c:v>21</c:v>
                </c:pt>
                <c:pt idx="9">
                  <c:v>16</c:v>
                </c:pt>
                <c:pt idx="10">
                  <c:v>21</c:v>
                </c:pt>
                <c:pt idx="11">
                  <c:v>32</c:v>
                </c:pt>
                <c:pt idx="12">
                  <c:v>29</c:v>
                </c:pt>
                <c:pt idx="13">
                  <c:v>21</c:v>
                </c:pt>
                <c:pt idx="14">
                  <c:v>20</c:v>
                </c:pt>
                <c:pt idx="15">
                  <c:v>16</c:v>
                </c:pt>
                <c:pt idx="16">
                  <c:v>15</c:v>
                </c:pt>
                <c:pt idx="17">
                  <c:v>19</c:v>
                </c:pt>
                <c:pt idx="18">
                  <c:v>32</c:v>
                </c:pt>
                <c:pt idx="19">
                  <c:v>28</c:v>
                </c:pt>
                <c:pt idx="20">
                  <c:v>14</c:v>
                </c:pt>
                <c:pt idx="21">
                  <c:v>12</c:v>
                </c:pt>
                <c:pt idx="22">
                  <c:v>15</c:v>
                </c:pt>
                <c:pt idx="23">
                  <c:v>19</c:v>
                </c:pt>
                <c:pt idx="24">
                  <c:v>13</c:v>
                </c:pt>
                <c:pt idx="25">
                  <c:v>30</c:v>
                </c:pt>
                <c:pt idx="26">
                  <c:v>34</c:v>
                </c:pt>
                <c:pt idx="27">
                  <c:v>16</c:v>
                </c:pt>
                <c:pt idx="28">
                  <c:v>15</c:v>
                </c:pt>
                <c:pt idx="29">
                  <c:v>15</c:v>
                </c:pt>
                <c:pt idx="30">
                  <c:v>18</c:v>
                </c:pt>
                <c:pt idx="31">
                  <c:v>15</c:v>
                </c:pt>
                <c:pt idx="32">
                  <c:v>24</c:v>
                </c:pt>
                <c:pt idx="33">
                  <c:v>21</c:v>
                </c:pt>
                <c:pt idx="34">
                  <c:v>72</c:v>
                </c:pt>
                <c:pt idx="35">
                  <c:v>13</c:v>
                </c:pt>
                <c:pt idx="36">
                  <c:v>16</c:v>
                </c:pt>
                <c:pt idx="37">
                  <c:v>18</c:v>
                </c:pt>
                <c:pt idx="38">
                  <c:v>22</c:v>
                </c:pt>
                <c:pt idx="39">
                  <c:v>38</c:v>
                </c:pt>
                <c:pt idx="40">
                  <c:v>28</c:v>
                </c:pt>
                <c:pt idx="41">
                  <c:v>14</c:v>
                </c:pt>
                <c:pt idx="42">
                  <c:v>19</c:v>
                </c:pt>
                <c:pt idx="43">
                  <c:v>15</c:v>
                </c:pt>
                <c:pt idx="44">
                  <c:v>14</c:v>
                </c:pt>
                <c:pt idx="45">
                  <c:v>14</c:v>
                </c:pt>
                <c:pt idx="46">
                  <c:v>36</c:v>
                </c:pt>
                <c:pt idx="47">
                  <c:v>30</c:v>
                </c:pt>
                <c:pt idx="48">
                  <c:v>21</c:v>
                </c:pt>
                <c:pt idx="49">
                  <c:v>11</c:v>
                </c:pt>
                <c:pt idx="50">
                  <c:v>11</c:v>
                </c:pt>
                <c:pt idx="51">
                  <c:v>20</c:v>
                </c:pt>
                <c:pt idx="52">
                  <c:v>15</c:v>
                </c:pt>
                <c:pt idx="53">
                  <c:v>32</c:v>
                </c:pt>
                <c:pt idx="54">
                  <c:v>43</c:v>
                </c:pt>
                <c:pt idx="55">
                  <c:v>19</c:v>
                </c:pt>
              </c:numCache>
            </c:numRef>
          </c:val>
          <c:smooth val="0"/>
        </c:ser>
        <c:ser>
          <c:idx val="1"/>
          <c:order val="1"/>
          <c:tx>
            <c:strRef>
              <c:f>Sheet1!$C$1</c:f>
              <c:strCache>
                <c:ptCount val="1"/>
                <c:pt idx="0">
                  <c:v>Par sheet</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Sheet1!$A$2:$A$57</c:f>
              <c:multiLvlStrCache>
                <c:ptCount val="56"/>
                <c:lvl>
                  <c:pt idx="0">
                    <c:v>01-06</c:v>
                  </c:pt>
                  <c:pt idx="1">
                    <c:v/>
                  </c:pt>
                  <c:pt idx="2">
                    <c:v/>
                  </c:pt>
                  <c:pt idx="3">
                    <c:v/>
                  </c:pt>
                  <c:pt idx="4">
                    <c:v/>
                  </c:pt>
                  <c:pt idx="5">
                    <c:v/>
                  </c:pt>
                  <c:pt idx="6">
                    <c:v/>
                  </c:pt>
                  <c:pt idx="7">
                    <c:v>01-13</c:v>
                  </c:pt>
                  <c:pt idx="8">
                    <c:v/>
                  </c:pt>
                  <c:pt idx="9">
                    <c:v/>
                  </c:pt>
                  <c:pt idx="10">
                    <c:v/>
                  </c:pt>
                  <c:pt idx="11">
                    <c:v/>
                  </c:pt>
                  <c:pt idx="12">
                    <c:v/>
                  </c:pt>
                  <c:pt idx="13">
                    <c:v/>
                  </c:pt>
                  <c:pt idx="14">
                    <c:v>01-20</c:v>
                  </c:pt>
                  <c:pt idx="15">
                    <c:v/>
                  </c:pt>
                  <c:pt idx="16">
                    <c:v/>
                  </c:pt>
                  <c:pt idx="17">
                    <c:v/>
                  </c:pt>
                  <c:pt idx="18">
                    <c:v/>
                  </c:pt>
                  <c:pt idx="19">
                    <c:v/>
                  </c:pt>
                  <c:pt idx="20">
                    <c:v/>
                  </c:pt>
                  <c:pt idx="21">
                    <c:v>01-27</c:v>
                  </c:pt>
                  <c:pt idx="22">
                    <c:v/>
                  </c:pt>
                  <c:pt idx="23">
                    <c:v/>
                  </c:pt>
                  <c:pt idx="24">
                    <c:v/>
                  </c:pt>
                  <c:pt idx="25">
                    <c:v/>
                  </c:pt>
                  <c:pt idx="26">
                    <c:v/>
                  </c:pt>
                  <c:pt idx="27">
                    <c:v/>
                  </c:pt>
                  <c:pt idx="28">
                    <c:v>02-03</c:v>
                  </c:pt>
                  <c:pt idx="29">
                    <c:v/>
                  </c:pt>
                  <c:pt idx="30">
                    <c:v/>
                  </c:pt>
                  <c:pt idx="31">
                    <c:v/>
                  </c:pt>
                  <c:pt idx="32">
                    <c:v/>
                  </c:pt>
                  <c:pt idx="33">
                    <c:v/>
                  </c:pt>
                  <c:pt idx="34">
                    <c:v/>
                  </c:pt>
                  <c:pt idx="35">
                    <c:v>02-10</c:v>
                  </c:pt>
                  <c:pt idx="36">
                    <c:v/>
                  </c:pt>
                  <c:pt idx="37">
                    <c:v/>
                  </c:pt>
                  <c:pt idx="38">
                    <c:v/>
                  </c:pt>
                  <c:pt idx="39">
                    <c:v/>
                  </c:pt>
                  <c:pt idx="40">
                    <c:v/>
                  </c:pt>
                  <c:pt idx="41">
                    <c:v/>
                  </c:pt>
                  <c:pt idx="42">
                    <c:v>02-17</c:v>
                  </c:pt>
                  <c:pt idx="43">
                    <c:v/>
                  </c:pt>
                  <c:pt idx="44">
                    <c:v/>
                  </c:pt>
                  <c:pt idx="45">
                    <c:v/>
                  </c:pt>
                  <c:pt idx="46">
                    <c:v/>
                  </c:pt>
                  <c:pt idx="47">
                    <c:v/>
                  </c:pt>
                  <c:pt idx="48">
                    <c:v/>
                  </c:pt>
                  <c:pt idx="49">
                    <c:v>02-24</c:v>
                  </c:pt>
                  <c:pt idx="50">
                    <c:v/>
                  </c:pt>
                  <c:pt idx="51">
                    <c:v/>
                  </c:pt>
                  <c:pt idx="52">
                    <c:v/>
                  </c:pt>
                  <c:pt idx="53">
                    <c:v/>
                  </c:pt>
                  <c:pt idx="54">
                    <c:v/>
                  </c:pt>
                  <c:pt idx="55">
                    <c:v/>
                  </c:pt>
                </c:lvl>
              </c:multiLvlStrCache>
            </c:multiLvlStrRef>
          </c:cat>
          <c:val>
            <c:numRef>
              <c:f>Sheet1!$C$2:$C$57</c:f>
              <c:numCache>
                <c:formatCode>General</c:formatCode>
                <c:ptCount val="56"/>
                <c:pt idx="0">
                  <c:v>21</c:v>
                </c:pt>
                <c:pt idx="1">
                  <c:v>17</c:v>
                </c:pt>
                <c:pt idx="2">
                  <c:v>22</c:v>
                </c:pt>
                <c:pt idx="3">
                  <c:v>22</c:v>
                </c:pt>
                <c:pt idx="4">
                  <c:v>38</c:v>
                </c:pt>
                <c:pt idx="5">
                  <c:v>37</c:v>
                </c:pt>
                <c:pt idx="6">
                  <c:v>23</c:v>
                </c:pt>
                <c:pt idx="7">
                  <c:v>17</c:v>
                </c:pt>
                <c:pt idx="8">
                  <c:v>22</c:v>
                </c:pt>
                <c:pt idx="9">
                  <c:v>22</c:v>
                </c:pt>
                <c:pt idx="10">
                  <c:v>24</c:v>
                </c:pt>
                <c:pt idx="11">
                  <c:v>34</c:v>
                </c:pt>
                <c:pt idx="12">
                  <c:v>34</c:v>
                </c:pt>
                <c:pt idx="13">
                  <c:v>23</c:v>
                </c:pt>
                <c:pt idx="14">
                  <c:v>18</c:v>
                </c:pt>
                <c:pt idx="15">
                  <c:v>25</c:v>
                </c:pt>
                <c:pt idx="16">
                  <c:v>21</c:v>
                </c:pt>
                <c:pt idx="17">
                  <c:v>25</c:v>
                </c:pt>
                <c:pt idx="18">
                  <c:v>36</c:v>
                </c:pt>
                <c:pt idx="19">
                  <c:v>35</c:v>
                </c:pt>
                <c:pt idx="20">
                  <c:v>21</c:v>
                </c:pt>
                <c:pt idx="21">
                  <c:v>18</c:v>
                </c:pt>
                <c:pt idx="22">
                  <c:v>22</c:v>
                </c:pt>
                <c:pt idx="23">
                  <c:v>19</c:v>
                </c:pt>
                <c:pt idx="24">
                  <c:v>24</c:v>
                </c:pt>
                <c:pt idx="25">
                  <c:v>35</c:v>
                </c:pt>
                <c:pt idx="26">
                  <c:v>36</c:v>
                </c:pt>
                <c:pt idx="27">
                  <c:v>19</c:v>
                </c:pt>
                <c:pt idx="28">
                  <c:v>19</c:v>
                </c:pt>
                <c:pt idx="29">
                  <c:v>20</c:v>
                </c:pt>
                <c:pt idx="30">
                  <c:v>21</c:v>
                </c:pt>
                <c:pt idx="31">
                  <c:v>22</c:v>
                </c:pt>
                <c:pt idx="32">
                  <c:v>32</c:v>
                </c:pt>
                <c:pt idx="33">
                  <c:v>32</c:v>
                </c:pt>
                <c:pt idx="34">
                  <c:v>31</c:v>
                </c:pt>
                <c:pt idx="35">
                  <c:v>21</c:v>
                </c:pt>
                <c:pt idx="36">
                  <c:v>19</c:v>
                </c:pt>
                <c:pt idx="37">
                  <c:v>20</c:v>
                </c:pt>
                <c:pt idx="38">
                  <c:v>20</c:v>
                </c:pt>
                <c:pt idx="39">
                  <c:v>38</c:v>
                </c:pt>
                <c:pt idx="40">
                  <c:v>36</c:v>
                </c:pt>
                <c:pt idx="41">
                  <c:v>24</c:v>
                </c:pt>
                <c:pt idx="42">
                  <c:v>17</c:v>
                </c:pt>
                <c:pt idx="43">
                  <c:v>20</c:v>
                </c:pt>
                <c:pt idx="44">
                  <c:v>21</c:v>
                </c:pt>
                <c:pt idx="45">
                  <c:v>19</c:v>
                </c:pt>
                <c:pt idx="46">
                  <c:v>38</c:v>
                </c:pt>
                <c:pt idx="47">
                  <c:v>32</c:v>
                </c:pt>
                <c:pt idx="48">
                  <c:v>22</c:v>
                </c:pt>
                <c:pt idx="49">
                  <c:v>17</c:v>
                </c:pt>
                <c:pt idx="50">
                  <c:v>17</c:v>
                </c:pt>
                <c:pt idx="51">
                  <c:v>20</c:v>
                </c:pt>
                <c:pt idx="52">
                  <c:v>21</c:v>
                </c:pt>
                <c:pt idx="53">
                  <c:v>40</c:v>
                </c:pt>
                <c:pt idx="54">
                  <c:v>33</c:v>
                </c:pt>
                <c:pt idx="55">
                  <c:v>28</c:v>
                </c:pt>
              </c:numCache>
            </c:numRef>
          </c:val>
          <c:smooth val="0"/>
        </c:ser>
        <c:ser>
          <c:idx val="2"/>
          <c:order val="2"/>
          <c:tx>
            <c:strRef>
              <c:f>Sheet1!$D$1</c:f>
              <c:strCache>
                <c:ptCount val="1"/>
                <c:pt idx="0">
                  <c:v>Forecast</c:v>
                </c:pt>
              </c:strCache>
            </c:strRef>
          </c:tx>
          <c:spPr>
            <a:solidFill>
              <a:srgbClr val="1E7A46"/>
            </a:solidFill>
            <a:ln w="25400" cap="flat">
              <a:solidFill>
                <a:srgbClr val="1E7A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7A46"/>
              </a:solidFill>
              <a:ln w="9525" cap="flat">
                <a:solidFill>
                  <a:srgbClr val="1E7A46"/>
                </a:solidFill>
                <a:prstDash val="solid"/>
                <a:round/>
              </a:ln>
              <a:effectLst/>
            </c:spPr>
          </c:marker>
          <c:cat>
            <c:multiLvlStrRef>
              <c:f>Sheet1!$A$2:$A$57</c:f>
              <c:multiLvlStrCache>
                <c:ptCount val="56"/>
                <c:lvl>
                  <c:pt idx="0">
                    <c:v>01-06</c:v>
                  </c:pt>
                  <c:pt idx="1">
                    <c:v/>
                  </c:pt>
                  <c:pt idx="2">
                    <c:v/>
                  </c:pt>
                  <c:pt idx="3">
                    <c:v/>
                  </c:pt>
                  <c:pt idx="4">
                    <c:v/>
                  </c:pt>
                  <c:pt idx="5">
                    <c:v/>
                  </c:pt>
                  <c:pt idx="6">
                    <c:v/>
                  </c:pt>
                  <c:pt idx="7">
                    <c:v>01-13</c:v>
                  </c:pt>
                  <c:pt idx="8">
                    <c:v/>
                  </c:pt>
                  <c:pt idx="9">
                    <c:v/>
                  </c:pt>
                  <c:pt idx="10">
                    <c:v/>
                  </c:pt>
                  <c:pt idx="11">
                    <c:v/>
                  </c:pt>
                  <c:pt idx="12">
                    <c:v/>
                  </c:pt>
                  <c:pt idx="13">
                    <c:v/>
                  </c:pt>
                  <c:pt idx="14">
                    <c:v>01-20</c:v>
                  </c:pt>
                  <c:pt idx="15">
                    <c:v/>
                  </c:pt>
                  <c:pt idx="16">
                    <c:v/>
                  </c:pt>
                  <c:pt idx="17">
                    <c:v/>
                  </c:pt>
                  <c:pt idx="18">
                    <c:v/>
                  </c:pt>
                  <c:pt idx="19">
                    <c:v/>
                  </c:pt>
                  <c:pt idx="20">
                    <c:v/>
                  </c:pt>
                  <c:pt idx="21">
                    <c:v>01-27</c:v>
                  </c:pt>
                  <c:pt idx="22">
                    <c:v/>
                  </c:pt>
                  <c:pt idx="23">
                    <c:v/>
                  </c:pt>
                  <c:pt idx="24">
                    <c:v/>
                  </c:pt>
                  <c:pt idx="25">
                    <c:v/>
                  </c:pt>
                  <c:pt idx="26">
                    <c:v/>
                  </c:pt>
                  <c:pt idx="27">
                    <c:v/>
                  </c:pt>
                  <c:pt idx="28">
                    <c:v>02-03</c:v>
                  </c:pt>
                  <c:pt idx="29">
                    <c:v/>
                  </c:pt>
                  <c:pt idx="30">
                    <c:v/>
                  </c:pt>
                  <c:pt idx="31">
                    <c:v/>
                  </c:pt>
                  <c:pt idx="32">
                    <c:v/>
                  </c:pt>
                  <c:pt idx="33">
                    <c:v/>
                  </c:pt>
                  <c:pt idx="34">
                    <c:v/>
                  </c:pt>
                  <c:pt idx="35">
                    <c:v>02-10</c:v>
                  </c:pt>
                  <c:pt idx="36">
                    <c:v/>
                  </c:pt>
                  <c:pt idx="37">
                    <c:v/>
                  </c:pt>
                  <c:pt idx="38">
                    <c:v/>
                  </c:pt>
                  <c:pt idx="39">
                    <c:v/>
                  </c:pt>
                  <c:pt idx="40">
                    <c:v/>
                  </c:pt>
                  <c:pt idx="41">
                    <c:v/>
                  </c:pt>
                  <c:pt idx="42">
                    <c:v>02-17</c:v>
                  </c:pt>
                  <c:pt idx="43">
                    <c:v/>
                  </c:pt>
                  <c:pt idx="44">
                    <c:v/>
                  </c:pt>
                  <c:pt idx="45">
                    <c:v/>
                  </c:pt>
                  <c:pt idx="46">
                    <c:v/>
                  </c:pt>
                  <c:pt idx="47">
                    <c:v/>
                  </c:pt>
                  <c:pt idx="48">
                    <c:v/>
                  </c:pt>
                  <c:pt idx="49">
                    <c:v>02-24</c:v>
                  </c:pt>
                  <c:pt idx="50">
                    <c:v/>
                  </c:pt>
                  <c:pt idx="51">
                    <c:v/>
                  </c:pt>
                  <c:pt idx="52">
                    <c:v/>
                  </c:pt>
                  <c:pt idx="53">
                    <c:v/>
                  </c:pt>
                  <c:pt idx="54">
                    <c:v/>
                  </c:pt>
                  <c:pt idx="55">
                    <c:v/>
                  </c:pt>
                </c:lvl>
              </c:multiLvlStrCache>
            </c:multiLvlStrRef>
          </c:cat>
          <c:val>
            <c:numRef>
              <c:f>Sheet1!$D$2:$D$57</c:f>
              <c:numCache>
                <c:formatCode>General</c:formatCode>
                <c:ptCount val="56"/>
                <c:pt idx="0">
                  <c:v>19</c:v>
                </c:pt>
                <c:pt idx="1">
                  <c:v>14</c:v>
                </c:pt>
                <c:pt idx="2">
                  <c:v>19</c:v>
                </c:pt>
                <c:pt idx="3">
                  <c:v>21</c:v>
                </c:pt>
                <c:pt idx="4">
                  <c:v>34</c:v>
                </c:pt>
                <c:pt idx="5">
                  <c:v>29</c:v>
                </c:pt>
                <c:pt idx="6">
                  <c:v>24</c:v>
                </c:pt>
                <c:pt idx="7">
                  <c:v>18</c:v>
                </c:pt>
                <c:pt idx="8">
                  <c:v>16</c:v>
                </c:pt>
                <c:pt idx="9">
                  <c:v>21</c:v>
                </c:pt>
                <c:pt idx="10">
                  <c:v>21</c:v>
                </c:pt>
                <c:pt idx="11">
                  <c:v>35</c:v>
                </c:pt>
                <c:pt idx="12">
                  <c:v>30</c:v>
                </c:pt>
                <c:pt idx="13">
                  <c:v>24</c:v>
                </c:pt>
                <c:pt idx="14">
                  <c:v>19</c:v>
                </c:pt>
                <c:pt idx="15">
                  <c:v>17</c:v>
                </c:pt>
                <c:pt idx="16">
                  <c:v>20</c:v>
                </c:pt>
                <c:pt idx="17">
                  <c:v>21</c:v>
                </c:pt>
                <c:pt idx="18">
                  <c:v>35</c:v>
                </c:pt>
                <c:pt idx="19">
                  <c:v>34</c:v>
                </c:pt>
                <c:pt idx="20">
                  <c:v>22</c:v>
                </c:pt>
                <c:pt idx="21">
                  <c:v>18</c:v>
                </c:pt>
                <c:pt idx="22">
                  <c:v>17</c:v>
                </c:pt>
                <c:pt idx="23">
                  <c:v>19</c:v>
                </c:pt>
                <c:pt idx="24">
                  <c:v>20</c:v>
                </c:pt>
                <c:pt idx="25">
                  <c:v>34</c:v>
                </c:pt>
                <c:pt idx="26">
                  <c:v>33</c:v>
                </c:pt>
                <c:pt idx="27">
                  <c:v>23</c:v>
                </c:pt>
                <c:pt idx="28">
                  <c:v>20</c:v>
                </c:pt>
                <c:pt idx="29">
                  <c:v>14</c:v>
                </c:pt>
                <c:pt idx="30">
                  <c:v>19</c:v>
                </c:pt>
                <c:pt idx="31">
                  <c:v>19</c:v>
                </c:pt>
                <c:pt idx="32">
                  <c:v>31</c:v>
                </c:pt>
                <c:pt idx="33">
                  <c:v>28</c:v>
                </c:pt>
                <c:pt idx="34">
                  <c:v>39</c:v>
                </c:pt>
                <c:pt idx="35">
                  <c:v>19</c:v>
                </c:pt>
                <c:pt idx="36">
                  <c:v>18</c:v>
                </c:pt>
                <c:pt idx="37">
                  <c:v>18</c:v>
                </c:pt>
                <c:pt idx="38">
                  <c:v>22</c:v>
                </c:pt>
                <c:pt idx="39">
                  <c:v>36</c:v>
                </c:pt>
                <c:pt idx="40">
                  <c:v>35</c:v>
                </c:pt>
                <c:pt idx="41">
                  <c:v>22</c:v>
                </c:pt>
                <c:pt idx="42">
                  <c:v>19</c:v>
                </c:pt>
                <c:pt idx="43">
                  <c:v>16</c:v>
                </c:pt>
                <c:pt idx="44">
                  <c:v>17</c:v>
                </c:pt>
                <c:pt idx="45">
                  <c:v>18</c:v>
                </c:pt>
                <c:pt idx="46">
                  <c:v>34</c:v>
                </c:pt>
                <c:pt idx="47">
                  <c:v>35</c:v>
                </c:pt>
                <c:pt idx="48">
                  <c:v>22</c:v>
                </c:pt>
                <c:pt idx="49">
                  <c:v>18</c:v>
                </c:pt>
                <c:pt idx="50">
                  <c:v>17</c:v>
                </c:pt>
                <c:pt idx="51">
                  <c:v>19</c:v>
                </c:pt>
                <c:pt idx="52">
                  <c:v>22</c:v>
                </c:pt>
                <c:pt idx="53">
                  <c:v>36</c:v>
                </c:pt>
                <c:pt idx="54">
                  <c:v>33</c:v>
                </c:pt>
                <c:pt idx="55">
                  <c:v>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3E7E2"/>
            </a:solidFill>
            <a:prstDash val="solid"/>
            <a:round/>
          </a:ln>
        </c:spPr>
        <c:txPr>
          <a:bodyPr/>
          <a:lstStyle/>
          <a:p>
            <a:pPr>
              <a:defRPr sz="900" b="0" i="0" u="none" strike="noStrike">
                <a:solidFill>
                  <a:srgbClr val="7D8A81"/>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7E2"/>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D8A81"/>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17211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Cumulative economic cost avoided</c:v>
                </c:pt>
              </c:strCache>
            </c:strRef>
          </c:tx>
          <c:spPr>
            <a:solidFill>
              <a:srgbClr val="1E7A46">
                <a:alpha val="18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Sheet1!$A$2:$A$365</c:f>
              <c:multiLvlStrCache>
                <c:ptCount val="364"/>
                <c:lvl>
                  <c:pt idx="0">
                    <c:v>Jan</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Feb</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Mar</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Apr</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May</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Jun</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Jul</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Aug</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Sep</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Oct</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Nov</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Dec</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lvl>
              </c:multiLvlStrCache>
            </c:multiLvlStrRef>
          </c:cat>
          <c:val>
            <c:numRef>
              <c:f>Sheet1!$B$2:$B$365</c:f>
              <c:numCache>
                <c:formatCode>General</c:formatCode>
                <c:ptCount val="364"/>
                <c:pt idx="0">
                  <c:v>1.15</c:v>
                </c:pt>
                <c:pt idx="1">
                  <c:v>65.4</c:v>
                </c:pt>
                <c:pt idx="2">
                  <c:v>42.47</c:v>
                </c:pt>
                <c:pt idx="3">
                  <c:v>45.59</c:v>
                </c:pt>
                <c:pt idx="4">
                  <c:v>177.74</c:v>
                </c:pt>
                <c:pt idx="5">
                  <c:v>225.74</c:v>
                </c:pt>
                <c:pt idx="6">
                  <c:v>347.47</c:v>
                </c:pt>
                <c:pt idx="7">
                  <c:v>361.33</c:v>
                </c:pt>
                <c:pt idx="8">
                  <c:v>354.34</c:v>
                </c:pt>
                <c:pt idx="9">
                  <c:v>358.41</c:v>
                </c:pt>
                <c:pt idx="10">
                  <c:v>313.3</c:v>
                </c:pt>
                <c:pt idx="11">
                  <c:v>359.77</c:v>
                </c:pt>
                <c:pt idx="12">
                  <c:v>405.98</c:v>
                </c:pt>
                <c:pt idx="13">
                  <c:v>352.22</c:v>
                </c:pt>
                <c:pt idx="14">
                  <c:v>358.02</c:v>
                </c:pt>
                <c:pt idx="15">
                  <c:v>368.71</c:v>
                </c:pt>
                <c:pt idx="16">
                  <c:v>355.39</c:v>
                </c:pt>
                <c:pt idx="17">
                  <c:v>430.94</c:v>
                </c:pt>
                <c:pt idx="18">
                  <c:v>459.55</c:v>
                </c:pt>
                <c:pt idx="19">
                  <c:v>462.04</c:v>
                </c:pt>
                <c:pt idx="20">
                  <c:v>451.85</c:v>
                </c:pt>
                <c:pt idx="21">
                  <c:v>530.14</c:v>
                </c:pt>
                <c:pt idx="22">
                  <c:v>595.78</c:v>
                </c:pt>
                <c:pt idx="23">
                  <c:v>674.09</c:v>
                </c:pt>
                <c:pt idx="24">
                  <c:v>702.5</c:v>
                </c:pt>
                <c:pt idx="25">
                  <c:v>751.8</c:v>
                </c:pt>
                <c:pt idx="26">
                  <c:v>772.62</c:v>
                </c:pt>
                <c:pt idx="27">
                  <c:v>813.06</c:v>
                </c:pt>
                <c:pt idx="28">
                  <c:v>857.29</c:v>
                </c:pt>
                <c:pt idx="29">
                  <c:v>973.21</c:v>
                </c:pt>
                <c:pt idx="30">
                  <c:v>990.13</c:v>
                </c:pt>
                <c:pt idx="31">
                  <c:v>1125.54</c:v>
                </c:pt>
                <c:pt idx="32">
                  <c:v>1074.09</c:v>
                </c:pt>
                <c:pt idx="33">
                  <c:v>1065.98</c:v>
                </c:pt>
                <c:pt idx="34">
                  <c:v>987.61</c:v>
                </c:pt>
                <c:pt idx="35">
                  <c:v>1107.68</c:v>
                </c:pt>
                <c:pt idx="36">
                  <c:v>1231.38</c:v>
                </c:pt>
                <c:pt idx="37">
                  <c:v>1339.84</c:v>
                </c:pt>
                <c:pt idx="38">
                  <c:v>1440.99</c:v>
                </c:pt>
                <c:pt idx="39">
                  <c:v>1462.07</c:v>
                </c:pt>
                <c:pt idx="40">
                  <c:v>1537.39</c:v>
                </c:pt>
                <c:pt idx="41">
                  <c:v>1526.47</c:v>
                </c:pt>
                <c:pt idx="42">
                  <c:v>1603.07</c:v>
                </c:pt>
                <c:pt idx="43">
                  <c:v>1646.19</c:v>
                </c:pt>
                <c:pt idx="44">
                  <c:v>1590.46</c:v>
                </c:pt>
                <c:pt idx="45">
                  <c:v>1628.74</c:v>
                </c:pt>
                <c:pt idx="46">
                  <c:v>1794.24</c:v>
                </c:pt>
                <c:pt idx="47">
                  <c:v>1820.9</c:v>
                </c:pt>
                <c:pt idx="48">
                  <c:v>1990.22</c:v>
                </c:pt>
                <c:pt idx="49">
                  <c:v>2123.42</c:v>
                </c:pt>
                <c:pt idx="50">
                  <c:v>2163.44</c:v>
                </c:pt>
                <c:pt idx="51">
                  <c:v>2235.13</c:v>
                </c:pt>
                <c:pt idx="52">
                  <c:v>2284.44</c:v>
                </c:pt>
                <c:pt idx="53">
                  <c:v>2420.85</c:v>
                </c:pt>
                <c:pt idx="54">
                  <c:v>2478.18</c:v>
                </c:pt>
                <c:pt idx="55">
                  <c:v>2565.07</c:v>
                </c:pt>
                <c:pt idx="56">
                  <c:v>2606.99</c:v>
                </c:pt>
                <c:pt idx="57">
                  <c:v>2619.59</c:v>
                </c:pt>
                <c:pt idx="58">
                  <c:v>2809.8</c:v>
                </c:pt>
                <c:pt idx="59">
                  <c:v>2811.49</c:v>
                </c:pt>
                <c:pt idx="60">
                  <c:v>2841.1</c:v>
                </c:pt>
                <c:pt idx="61">
                  <c:v>2825.45</c:v>
                </c:pt>
                <c:pt idx="62">
                  <c:v>2977.15</c:v>
                </c:pt>
                <c:pt idx="63">
                  <c:v>3097.65</c:v>
                </c:pt>
                <c:pt idx="64">
                  <c:v>3182.66</c:v>
                </c:pt>
                <c:pt idx="65">
                  <c:v>3290.96</c:v>
                </c:pt>
                <c:pt idx="66">
                  <c:v>3345.32</c:v>
                </c:pt>
                <c:pt idx="67">
                  <c:v>3444.09</c:v>
                </c:pt>
                <c:pt idx="68">
                  <c:v>3497.4</c:v>
                </c:pt>
                <c:pt idx="69">
                  <c:v>3563.3</c:v>
                </c:pt>
                <c:pt idx="70">
                  <c:v>3569.17</c:v>
                </c:pt>
                <c:pt idx="71">
                  <c:v>3637.91</c:v>
                </c:pt>
                <c:pt idx="72">
                  <c:v>3674.69</c:v>
                </c:pt>
                <c:pt idx="73">
                  <c:v>3759.15</c:v>
                </c:pt>
                <c:pt idx="74">
                  <c:v>3767.2</c:v>
                </c:pt>
                <c:pt idx="75">
                  <c:v>3861.4</c:v>
                </c:pt>
                <c:pt idx="76">
                  <c:v>3881.3</c:v>
                </c:pt>
                <c:pt idx="77">
                  <c:v>3931.59</c:v>
                </c:pt>
                <c:pt idx="78">
                  <c:v>3954.78</c:v>
                </c:pt>
                <c:pt idx="79">
                  <c:v>4029.43</c:v>
                </c:pt>
                <c:pt idx="80">
                  <c:v>4059.23</c:v>
                </c:pt>
                <c:pt idx="81">
                  <c:v>4086.58</c:v>
                </c:pt>
                <c:pt idx="82">
                  <c:v>4197.39</c:v>
                </c:pt>
                <c:pt idx="83">
                  <c:v>4214.71</c:v>
                </c:pt>
                <c:pt idx="84">
                  <c:v>4113.5</c:v>
                </c:pt>
                <c:pt idx="85">
                  <c:v>4170.89</c:v>
                </c:pt>
                <c:pt idx="86">
                  <c:v>4262.74</c:v>
                </c:pt>
                <c:pt idx="87">
                  <c:v>4382.26</c:v>
                </c:pt>
                <c:pt idx="88">
                  <c:v>4423.54</c:v>
                </c:pt>
                <c:pt idx="89">
                  <c:v>4424.83</c:v>
                </c:pt>
                <c:pt idx="90">
                  <c:v>4451.36</c:v>
                </c:pt>
                <c:pt idx="91">
                  <c:v>4507.56</c:v>
                </c:pt>
                <c:pt idx="92">
                  <c:v>4486.78</c:v>
                </c:pt>
                <c:pt idx="93">
                  <c:v>4616.08</c:v>
                </c:pt>
                <c:pt idx="94">
                  <c:v>4613.81</c:v>
                </c:pt>
                <c:pt idx="95">
                  <c:v>4725.17</c:v>
                </c:pt>
                <c:pt idx="96">
                  <c:v>4784.84</c:v>
                </c:pt>
                <c:pt idx="97">
                  <c:v>4838.09</c:v>
                </c:pt>
                <c:pt idx="98">
                  <c:v>4983.37</c:v>
                </c:pt>
                <c:pt idx="99">
                  <c:v>5038.72</c:v>
                </c:pt>
                <c:pt idx="100">
                  <c:v>5114.77</c:v>
                </c:pt>
                <c:pt idx="101">
                  <c:v>5229.82</c:v>
                </c:pt>
                <c:pt idx="102">
                  <c:v>5250.21</c:v>
                </c:pt>
                <c:pt idx="103">
                  <c:v>5221.81</c:v>
                </c:pt>
                <c:pt idx="104">
                  <c:v>5210.4</c:v>
                </c:pt>
                <c:pt idx="105">
                  <c:v>5309.64</c:v>
                </c:pt>
                <c:pt idx="106">
                  <c:v>5392.64</c:v>
                </c:pt>
                <c:pt idx="107">
                  <c:v>5448.97</c:v>
                </c:pt>
                <c:pt idx="108">
                  <c:v>5557.04</c:v>
                </c:pt>
                <c:pt idx="109">
                  <c:v>5650.59</c:v>
                </c:pt>
                <c:pt idx="110">
                  <c:v>5729.56</c:v>
                </c:pt>
                <c:pt idx="111">
                  <c:v>5758.4</c:v>
                </c:pt>
                <c:pt idx="112">
                  <c:v>5895.69</c:v>
                </c:pt>
                <c:pt idx="113">
                  <c:v>6023.07</c:v>
                </c:pt>
                <c:pt idx="114">
                  <c:v>6145.77</c:v>
                </c:pt>
                <c:pt idx="115">
                  <c:v>6194.3</c:v>
                </c:pt>
                <c:pt idx="116">
                  <c:v>6244.13</c:v>
                </c:pt>
                <c:pt idx="117">
                  <c:v>6285.92</c:v>
                </c:pt>
                <c:pt idx="118">
                  <c:v>6183.28</c:v>
                </c:pt>
                <c:pt idx="119">
                  <c:v>6311.68</c:v>
                </c:pt>
                <c:pt idx="120">
                  <c:v>6369.68</c:v>
                </c:pt>
                <c:pt idx="121">
                  <c:v>6405.96</c:v>
                </c:pt>
                <c:pt idx="122">
                  <c:v>6433.15</c:v>
                </c:pt>
                <c:pt idx="123">
                  <c:v>6470.81</c:v>
                </c:pt>
                <c:pt idx="124">
                  <c:v>6537.58</c:v>
                </c:pt>
                <c:pt idx="125">
                  <c:v>6637.42</c:v>
                </c:pt>
                <c:pt idx="126">
                  <c:v>6683.13</c:v>
                </c:pt>
                <c:pt idx="127">
                  <c:v>6690.71</c:v>
                </c:pt>
                <c:pt idx="128">
                  <c:v>6696.43</c:v>
                </c:pt>
                <c:pt idx="129">
                  <c:v>6833.84</c:v>
                </c:pt>
                <c:pt idx="130">
                  <c:v>6768.98</c:v>
                </c:pt>
                <c:pt idx="131">
                  <c:v>6857.27</c:v>
                </c:pt>
                <c:pt idx="132">
                  <c:v>6926.54</c:v>
                </c:pt>
                <c:pt idx="133">
                  <c:v>6911.21</c:v>
                </c:pt>
                <c:pt idx="134">
                  <c:v>6902.67</c:v>
                </c:pt>
                <c:pt idx="135">
                  <c:v>6958.72</c:v>
                </c:pt>
                <c:pt idx="136">
                  <c:v>7040.58</c:v>
                </c:pt>
                <c:pt idx="137">
                  <c:v>7164.24</c:v>
                </c:pt>
                <c:pt idx="138">
                  <c:v>7248.13</c:v>
                </c:pt>
                <c:pt idx="139">
                  <c:v>7266.12</c:v>
                </c:pt>
                <c:pt idx="140">
                  <c:v>7267.41</c:v>
                </c:pt>
                <c:pt idx="141">
                  <c:v>7274.93</c:v>
                </c:pt>
                <c:pt idx="142">
                  <c:v>7290.84</c:v>
                </c:pt>
                <c:pt idx="143">
                  <c:v>7391.54</c:v>
                </c:pt>
                <c:pt idx="144">
                  <c:v>7508.14</c:v>
                </c:pt>
                <c:pt idx="145">
                  <c:v>7515.59</c:v>
                </c:pt>
                <c:pt idx="146">
                  <c:v>7526.56</c:v>
                </c:pt>
                <c:pt idx="147">
                  <c:v>7452.99</c:v>
                </c:pt>
                <c:pt idx="148">
                  <c:v>7604.52</c:v>
                </c:pt>
                <c:pt idx="149">
                  <c:v>7646.69</c:v>
                </c:pt>
                <c:pt idx="150">
                  <c:v>7691.83</c:v>
                </c:pt>
                <c:pt idx="151">
                  <c:v>7848.63</c:v>
                </c:pt>
                <c:pt idx="152">
                  <c:v>7869.73</c:v>
                </c:pt>
                <c:pt idx="153">
                  <c:v>7898.03</c:v>
                </c:pt>
                <c:pt idx="154">
                  <c:v>7963.72</c:v>
                </c:pt>
                <c:pt idx="155">
                  <c:v>8002.76</c:v>
                </c:pt>
                <c:pt idx="156">
                  <c:v>7770.87</c:v>
                </c:pt>
                <c:pt idx="157">
                  <c:v>7834.03</c:v>
                </c:pt>
                <c:pt idx="158">
                  <c:v>7866.32</c:v>
                </c:pt>
                <c:pt idx="159">
                  <c:v>7848.05</c:v>
                </c:pt>
                <c:pt idx="160">
                  <c:v>7998.98</c:v>
                </c:pt>
                <c:pt idx="161">
                  <c:v>8061.58</c:v>
                </c:pt>
                <c:pt idx="162">
                  <c:v>8122.74</c:v>
                </c:pt>
                <c:pt idx="163">
                  <c:v>8145.06</c:v>
                </c:pt>
                <c:pt idx="164">
                  <c:v>8168.56</c:v>
                </c:pt>
                <c:pt idx="165">
                  <c:v>8220.8</c:v>
                </c:pt>
                <c:pt idx="166">
                  <c:v>8265.11</c:v>
                </c:pt>
                <c:pt idx="167">
                  <c:v>8181.28</c:v>
                </c:pt>
                <c:pt idx="168">
                  <c:v>8272.86</c:v>
                </c:pt>
                <c:pt idx="169">
                  <c:v>8411.83</c:v>
                </c:pt>
                <c:pt idx="170">
                  <c:v>8536.95</c:v>
                </c:pt>
                <c:pt idx="171">
                  <c:v>8469.21</c:v>
                </c:pt>
                <c:pt idx="172">
                  <c:v>8573.31</c:v>
                </c:pt>
                <c:pt idx="173">
                  <c:v>8736.12</c:v>
                </c:pt>
                <c:pt idx="174">
                  <c:v>8744.5</c:v>
                </c:pt>
                <c:pt idx="175">
                  <c:v>8775.81</c:v>
                </c:pt>
                <c:pt idx="176">
                  <c:v>8789.73</c:v>
                </c:pt>
                <c:pt idx="177">
                  <c:v>8921.3</c:v>
                </c:pt>
                <c:pt idx="178">
                  <c:v>9025.52</c:v>
                </c:pt>
                <c:pt idx="179">
                  <c:v>9066.17</c:v>
                </c:pt>
                <c:pt idx="180">
                  <c:v>9162.7</c:v>
                </c:pt>
                <c:pt idx="181">
                  <c:v>9065.1</c:v>
                </c:pt>
                <c:pt idx="182">
                  <c:v>9075.78</c:v>
                </c:pt>
                <c:pt idx="183">
                  <c:v>9062.98</c:v>
                </c:pt>
                <c:pt idx="184">
                  <c:v>8954.03</c:v>
                </c:pt>
                <c:pt idx="185">
                  <c:v>8980.91</c:v>
                </c:pt>
                <c:pt idx="186">
                  <c:v>9008.71</c:v>
                </c:pt>
                <c:pt idx="187">
                  <c:v>9106.12</c:v>
                </c:pt>
                <c:pt idx="188">
                  <c:v>9240.14</c:v>
                </c:pt>
                <c:pt idx="189">
                  <c:v>9353.48</c:v>
                </c:pt>
                <c:pt idx="190">
                  <c:v>9403.23</c:v>
                </c:pt>
                <c:pt idx="191">
                  <c:v>9525.48</c:v>
                </c:pt>
                <c:pt idx="192">
                  <c:v>9527.47</c:v>
                </c:pt>
                <c:pt idx="193">
                  <c:v>9631.33</c:v>
                </c:pt>
                <c:pt idx="194">
                  <c:v>9647.48</c:v>
                </c:pt>
                <c:pt idx="195">
                  <c:v>9742.93</c:v>
                </c:pt>
                <c:pt idx="196">
                  <c:v>9673.06</c:v>
                </c:pt>
                <c:pt idx="197">
                  <c:v>9685.03</c:v>
                </c:pt>
                <c:pt idx="198">
                  <c:v>9761.62</c:v>
                </c:pt>
                <c:pt idx="199">
                  <c:v>9718.44</c:v>
                </c:pt>
                <c:pt idx="200">
                  <c:v>9725.8</c:v>
                </c:pt>
                <c:pt idx="201">
                  <c:v>9727.41</c:v>
                </c:pt>
                <c:pt idx="202">
                  <c:v>9919.61</c:v>
                </c:pt>
                <c:pt idx="203">
                  <c:v>9872.82</c:v>
                </c:pt>
                <c:pt idx="204">
                  <c:v>9851.91</c:v>
                </c:pt>
                <c:pt idx="205">
                  <c:v>9779.22</c:v>
                </c:pt>
                <c:pt idx="206">
                  <c:v>9717.84</c:v>
                </c:pt>
                <c:pt idx="207">
                  <c:v>9724.89</c:v>
                </c:pt>
                <c:pt idx="208">
                  <c:v>9677.73</c:v>
                </c:pt>
                <c:pt idx="209">
                  <c:v>9686.11</c:v>
                </c:pt>
                <c:pt idx="210">
                  <c:v>9757.95</c:v>
                </c:pt>
                <c:pt idx="211">
                  <c:v>9889.71</c:v>
                </c:pt>
                <c:pt idx="212">
                  <c:v>9943.64</c:v>
                </c:pt>
                <c:pt idx="213">
                  <c:v>9947.42</c:v>
                </c:pt>
                <c:pt idx="214">
                  <c:v>10043.71</c:v>
                </c:pt>
                <c:pt idx="215">
                  <c:v>10139.21</c:v>
                </c:pt>
                <c:pt idx="216">
                  <c:v>10117.12</c:v>
                </c:pt>
                <c:pt idx="217">
                  <c:v>10264.62</c:v>
                </c:pt>
                <c:pt idx="218">
                  <c:v>10251.22</c:v>
                </c:pt>
                <c:pt idx="219">
                  <c:v>10283.57</c:v>
                </c:pt>
                <c:pt idx="220">
                  <c:v>10391.7</c:v>
                </c:pt>
                <c:pt idx="221">
                  <c:v>10421.28</c:v>
                </c:pt>
                <c:pt idx="222">
                  <c:v>10480.58</c:v>
                </c:pt>
                <c:pt idx="223">
                  <c:v>10476.23</c:v>
                </c:pt>
                <c:pt idx="224">
                  <c:v>10517.46</c:v>
                </c:pt>
                <c:pt idx="225">
                  <c:v>10528.76</c:v>
                </c:pt>
                <c:pt idx="226">
                  <c:v>10631.04</c:v>
                </c:pt>
                <c:pt idx="227">
                  <c:v>10673.86</c:v>
                </c:pt>
                <c:pt idx="228">
                  <c:v>10666.43</c:v>
                </c:pt>
                <c:pt idx="229">
                  <c:v>10731.17</c:v>
                </c:pt>
                <c:pt idx="230">
                  <c:v>10774.58</c:v>
                </c:pt>
                <c:pt idx="231">
                  <c:v>10867</c:v>
                </c:pt>
                <c:pt idx="232">
                  <c:v>10892.33</c:v>
                </c:pt>
                <c:pt idx="233">
                  <c:v>10850.17</c:v>
                </c:pt>
                <c:pt idx="234">
                  <c:v>10899.07</c:v>
                </c:pt>
                <c:pt idx="235">
                  <c:v>11010.28</c:v>
                </c:pt>
                <c:pt idx="236">
                  <c:v>10998.03</c:v>
                </c:pt>
                <c:pt idx="237">
                  <c:v>11147.78</c:v>
                </c:pt>
                <c:pt idx="238">
                  <c:v>11194.98</c:v>
                </c:pt>
                <c:pt idx="239">
                  <c:v>11189.04</c:v>
                </c:pt>
                <c:pt idx="240">
                  <c:v>11334.29</c:v>
                </c:pt>
                <c:pt idx="241">
                  <c:v>11416.31</c:v>
                </c:pt>
                <c:pt idx="242">
                  <c:v>11440.94</c:v>
                </c:pt>
                <c:pt idx="243">
                  <c:v>11341.35</c:v>
                </c:pt>
                <c:pt idx="244">
                  <c:v>11387.77</c:v>
                </c:pt>
                <c:pt idx="245">
                  <c:v>11380.16</c:v>
                </c:pt>
                <c:pt idx="246">
                  <c:v>11472.16</c:v>
                </c:pt>
                <c:pt idx="247">
                  <c:v>11487.03</c:v>
                </c:pt>
                <c:pt idx="248">
                  <c:v>11537.15</c:v>
                </c:pt>
                <c:pt idx="249">
                  <c:v>11586.35</c:v>
                </c:pt>
                <c:pt idx="250">
                  <c:v>11589.77</c:v>
                </c:pt>
                <c:pt idx="251">
                  <c:v>11749.08</c:v>
                </c:pt>
                <c:pt idx="252">
                  <c:v>11784.83</c:v>
                </c:pt>
                <c:pt idx="253">
                  <c:v>11858.28</c:v>
                </c:pt>
                <c:pt idx="254">
                  <c:v>11875.27</c:v>
                </c:pt>
                <c:pt idx="255">
                  <c:v>11930.77</c:v>
                </c:pt>
                <c:pt idx="256">
                  <c:v>11947.86</c:v>
                </c:pt>
                <c:pt idx="257">
                  <c:v>12108.16</c:v>
                </c:pt>
                <c:pt idx="258">
                  <c:v>12160.53</c:v>
                </c:pt>
                <c:pt idx="259">
                  <c:v>12173.31</c:v>
                </c:pt>
                <c:pt idx="260">
                  <c:v>12280.71</c:v>
                </c:pt>
                <c:pt idx="261">
                  <c:v>12191.78</c:v>
                </c:pt>
                <c:pt idx="262">
                  <c:v>12327.89</c:v>
                </c:pt>
                <c:pt idx="263">
                  <c:v>12393.2</c:v>
                </c:pt>
                <c:pt idx="264">
                  <c:v>12415.4</c:v>
                </c:pt>
                <c:pt idx="265">
                  <c:v>12486.21</c:v>
                </c:pt>
                <c:pt idx="266">
                  <c:v>12554.89</c:v>
                </c:pt>
                <c:pt idx="267">
                  <c:v>12584.47</c:v>
                </c:pt>
                <c:pt idx="268">
                  <c:v>12756.27</c:v>
                </c:pt>
                <c:pt idx="269">
                  <c:v>12749.76</c:v>
                </c:pt>
                <c:pt idx="270">
                  <c:v>12745.14</c:v>
                </c:pt>
                <c:pt idx="271">
                  <c:v>12927.06</c:v>
                </c:pt>
                <c:pt idx="272">
                  <c:v>12952.71</c:v>
                </c:pt>
                <c:pt idx="273">
                  <c:v>12944.36</c:v>
                </c:pt>
                <c:pt idx="274">
                  <c:v>12926.52</c:v>
                </c:pt>
                <c:pt idx="275">
                  <c:v>12923.76</c:v>
                </c:pt>
                <c:pt idx="276">
                  <c:v>12871.3</c:v>
                </c:pt>
                <c:pt idx="277">
                  <c:v>12920.38</c:v>
                </c:pt>
                <c:pt idx="278">
                  <c:v>12970.24</c:v>
                </c:pt>
                <c:pt idx="279">
                  <c:v>12969.88</c:v>
                </c:pt>
                <c:pt idx="280">
                  <c:v>13085.48</c:v>
                </c:pt>
                <c:pt idx="281">
                  <c:v>13138.49</c:v>
                </c:pt>
                <c:pt idx="282">
                  <c:v>13221.07</c:v>
                </c:pt>
                <c:pt idx="283">
                  <c:v>13253.77</c:v>
                </c:pt>
                <c:pt idx="284">
                  <c:v>13291.12</c:v>
                </c:pt>
                <c:pt idx="285">
                  <c:v>13383.84</c:v>
                </c:pt>
                <c:pt idx="286">
                  <c:v>13412.45</c:v>
                </c:pt>
                <c:pt idx="287">
                  <c:v>13444.3</c:v>
                </c:pt>
                <c:pt idx="288">
                  <c:v>13414.69</c:v>
                </c:pt>
                <c:pt idx="289">
                  <c:v>13431.44</c:v>
                </c:pt>
                <c:pt idx="290">
                  <c:v>13475.37</c:v>
                </c:pt>
                <c:pt idx="291">
                  <c:v>13483.34</c:v>
                </c:pt>
                <c:pt idx="292">
                  <c:v>13518.2</c:v>
                </c:pt>
                <c:pt idx="293">
                  <c:v>13569.32</c:v>
                </c:pt>
                <c:pt idx="294">
                  <c:v>13657.74</c:v>
                </c:pt>
                <c:pt idx="295">
                  <c:v>13685.58</c:v>
                </c:pt>
                <c:pt idx="296">
                  <c:v>13776.13</c:v>
                </c:pt>
                <c:pt idx="297">
                  <c:v>13789.06</c:v>
                </c:pt>
                <c:pt idx="298">
                  <c:v>13916.02</c:v>
                </c:pt>
                <c:pt idx="299">
                  <c:v>13849.32</c:v>
                </c:pt>
                <c:pt idx="300">
                  <c:v>14015.32</c:v>
                </c:pt>
                <c:pt idx="301">
                  <c:v>14081.04</c:v>
                </c:pt>
                <c:pt idx="302">
                  <c:v>14059.01</c:v>
                </c:pt>
                <c:pt idx="303">
                  <c:v>14197.08</c:v>
                </c:pt>
                <c:pt idx="304">
                  <c:v>14183.4</c:v>
                </c:pt>
                <c:pt idx="305">
                  <c:v>14236.04</c:v>
                </c:pt>
                <c:pt idx="306">
                  <c:v>14210.38</c:v>
                </c:pt>
                <c:pt idx="307">
                  <c:v>14361.48</c:v>
                </c:pt>
                <c:pt idx="308">
                  <c:v>14333.1</c:v>
                </c:pt>
                <c:pt idx="309">
                  <c:v>14234</c:v>
                </c:pt>
                <c:pt idx="310">
                  <c:v>14155.78</c:v>
                </c:pt>
                <c:pt idx="311">
                  <c:v>14206.02</c:v>
                </c:pt>
                <c:pt idx="312">
                  <c:v>14226.51</c:v>
                </c:pt>
                <c:pt idx="313">
                  <c:v>14360.24</c:v>
                </c:pt>
                <c:pt idx="314">
                  <c:v>14331.33</c:v>
                </c:pt>
                <c:pt idx="315">
                  <c:v>14425.73</c:v>
                </c:pt>
                <c:pt idx="316">
                  <c:v>14403.1</c:v>
                </c:pt>
                <c:pt idx="317">
                  <c:v>14460.23</c:v>
                </c:pt>
                <c:pt idx="318">
                  <c:v>14535.98</c:v>
                </c:pt>
                <c:pt idx="319">
                  <c:v>14552.42</c:v>
                </c:pt>
                <c:pt idx="320">
                  <c:v>14688.21</c:v>
                </c:pt>
                <c:pt idx="321">
                  <c:v>14707.01</c:v>
                </c:pt>
                <c:pt idx="322">
                  <c:v>14768.61</c:v>
                </c:pt>
                <c:pt idx="323">
                  <c:v>14828.49</c:v>
                </c:pt>
                <c:pt idx="324">
                  <c:v>14877.5</c:v>
                </c:pt>
                <c:pt idx="325">
                  <c:v>14988.12</c:v>
                </c:pt>
                <c:pt idx="326">
                  <c:v>15039.32</c:v>
                </c:pt>
                <c:pt idx="327">
                  <c:v>15108.21</c:v>
                </c:pt>
                <c:pt idx="328">
                  <c:v>15124.22</c:v>
                </c:pt>
                <c:pt idx="329">
                  <c:v>15135.33</c:v>
                </c:pt>
                <c:pt idx="330">
                  <c:v>15327.52</c:v>
                </c:pt>
                <c:pt idx="331">
                  <c:v>15321.37</c:v>
                </c:pt>
                <c:pt idx="332">
                  <c:v>15415.77</c:v>
                </c:pt>
                <c:pt idx="333">
                  <c:v>15511.27</c:v>
                </c:pt>
                <c:pt idx="334">
                  <c:v>15369.22</c:v>
                </c:pt>
                <c:pt idx="335">
                  <c:v>15475.84</c:v>
                </c:pt>
                <c:pt idx="336">
                  <c:v>15479.57</c:v>
                </c:pt>
                <c:pt idx="337">
                  <c:v>15520.18</c:v>
                </c:pt>
                <c:pt idx="338">
                  <c:v>15525.48</c:v>
                </c:pt>
                <c:pt idx="339">
                  <c:v>15551.26</c:v>
                </c:pt>
                <c:pt idx="340">
                  <c:v>15586</c:v>
                </c:pt>
                <c:pt idx="341">
                  <c:v>15605.46</c:v>
                </c:pt>
                <c:pt idx="342">
                  <c:v>15638.69</c:v>
                </c:pt>
                <c:pt idx="343">
                  <c:v>15658.9</c:v>
                </c:pt>
                <c:pt idx="344">
                  <c:v>15627.2</c:v>
                </c:pt>
                <c:pt idx="345">
                  <c:v>15648.29</c:v>
                </c:pt>
                <c:pt idx="346">
                  <c:v>15674.42</c:v>
                </c:pt>
                <c:pt idx="347">
                  <c:v>15732.01</c:v>
                </c:pt>
                <c:pt idx="348">
                  <c:v>15862.11</c:v>
                </c:pt>
                <c:pt idx="349">
                  <c:v>15931.44</c:v>
                </c:pt>
                <c:pt idx="350">
                  <c:v>15877.8</c:v>
                </c:pt>
                <c:pt idx="351">
                  <c:v>15862.96</c:v>
                </c:pt>
                <c:pt idx="352">
                  <c:v>15824.84</c:v>
                </c:pt>
                <c:pt idx="353">
                  <c:v>15883.34</c:v>
                </c:pt>
                <c:pt idx="354">
                  <c:v>15938.48</c:v>
                </c:pt>
                <c:pt idx="355">
                  <c:v>16057.08</c:v>
                </c:pt>
                <c:pt idx="356">
                  <c:v>16020.89</c:v>
                </c:pt>
                <c:pt idx="357">
                  <c:v>16116.65</c:v>
                </c:pt>
                <c:pt idx="358">
                  <c:v>16147.98</c:v>
                </c:pt>
                <c:pt idx="359">
                  <c:v>16177.38</c:v>
                </c:pt>
                <c:pt idx="360">
                  <c:v>16163.84</c:v>
                </c:pt>
                <c:pt idx="361">
                  <c:v>16249.12</c:v>
                </c:pt>
                <c:pt idx="362">
                  <c:v>16268.48</c:v>
                </c:pt>
                <c:pt idx="363">
                  <c:v>16288.19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E3E7E2"/>
            </a:solidFill>
            <a:prstDash val="solid"/>
            <a:round/>
          </a:ln>
        </c:spPr>
        <c:txPr>
          <a:bodyPr/>
          <a:lstStyle/>
          <a:p>
            <a:pPr>
              <a:defRPr sz="900" b="0" i="0" u="none" strike="noStrike">
                <a:solidFill>
                  <a:srgbClr val="7D8A81"/>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7E2"/>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7D8A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two-sided cost: every night we throw away food we made too much of, and every week we send customers home without food we made too little of. Same forecasting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leadership reads one slide, this is it. Method proven; dollars to be measured; ask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Industry-typical waste for these departments runs 15 to 25 percent of production. The heatmap is the simulated store, but the shape is the one every kitchen manager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hot foods: a swing of nearly 40 points between July and January. No single par survives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how little has to change: the kitchen gets a piece of paper. The manager can override any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accuracy: 13.0% weighted error for the network against 15.5% for the trailing average and 15.1% for the linear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forecast rows are the same model with a different availability target. Leadership picks the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 Bowl Sunday: the forecast lifts production ahead of the spike; the par sheet catches up a week late, then over-produces.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Steady slope means no big-bang: the value shows up in the first shrink report after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 Leadership funds measured numbers, and the credibility of the ask rests on not overclaiming.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at week 6 is the point: the downside of the pilot is bounded to a few pallets of mis-produced food, and only after shadow mode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three is what makes this a leadership decision rather than a store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100-store row as a projection. Read it as: this is why a single-store pilot is worth 80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row is the honest one: the importer was tested against its own author's imagination.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sponsor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Sushi is the item to watch: high cost, so the rule runs it lean and availability drops most. In a real pilot that item would get a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analyst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14"/>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7FD1A0"/>
                </a:solidFill>
                <a:latin typeface="Arial" pitchFamily="34" charset="0"/>
                <a:ea typeface="Arial" pitchFamily="34" charset="-122"/>
                <a:cs typeface="Arial" pitchFamily="34" charset="-120"/>
              </a:rPr>
              <a:t>HARRIS TEETER · PREPARED FOODS · PROPOSAL FOR LEADERSHIP</a:t>
            </a:r>
            <a:endParaRPr lang="en-US" sz="1000" dirty="0"/>
          </a:p>
        </p:txBody>
      </p:sp>
      <p:sp>
        <p:nvSpPr>
          <p:cNvPr id="3" name="Text 1"/>
          <p:cNvSpPr txBox="1"/>
          <p:nvPr/>
        </p:nvSpPr>
        <p:spPr>
          <a:xfrm>
            <a:off x="548640" y="1371600"/>
            <a:ext cx="8046720" cy="1005840"/>
          </a:xfrm>
          <a:prstGeom prst="rect">
            <a:avLst/>
          </a:prstGeom>
          <a:noFill/>
          <a:ln/>
        </p:spPr>
        <p:txBody>
          <a:bodyPr wrap="square" lIns="0" tIns="0" rIns="0" bIns="0" rtlCol="0" anchor="ctr"/>
          <a:lstStyle/>
          <a:p>
            <a:pPr indent="0" marL="0">
              <a:buNone/>
            </a:pPr>
            <a:r>
              <a:rPr lang="en-US" sz="6000" b="1" dirty="0">
                <a:solidFill>
                  <a:srgbClr val="EEF1EC"/>
                </a:solidFill>
                <a:latin typeface="Arial" pitchFamily="34" charset="0"/>
                <a:ea typeface="Arial" pitchFamily="34" charset="-122"/>
                <a:cs typeface="Arial" pitchFamily="34" charset="-120"/>
              </a:rPr>
              <a:t>Fresh Forecast</a:t>
            </a:r>
            <a:endParaRPr lang="en-US" sz="6000" dirty="0"/>
          </a:p>
        </p:txBody>
      </p:sp>
      <p:sp>
        <p:nvSpPr>
          <p:cNvPr id="4" name="Text 2"/>
          <p:cNvSpPr txBox="1"/>
          <p:nvPr/>
        </p:nvSpPr>
        <p:spPr>
          <a:xfrm>
            <a:off x="548640" y="2468880"/>
            <a:ext cx="6583680" cy="822960"/>
          </a:xfrm>
          <a:prstGeom prst="rect">
            <a:avLst/>
          </a:prstGeom>
          <a:noFill/>
          <a:ln/>
        </p:spPr>
        <p:txBody>
          <a:bodyPr wrap="square" lIns="0" tIns="0" rIns="0" bIns="0" rtlCol="0" anchor="ctr"/>
          <a:lstStyle/>
          <a:p>
            <a:pPr indent="0" marL="0">
              <a:buNone/>
            </a:pPr>
            <a:r>
              <a:rPr lang="en-US" sz="2000" dirty="0">
                <a:solidFill>
                  <a:srgbClr val="C9D4CC"/>
                </a:solidFill>
                <a:latin typeface="Calibri" pitchFamily="34" charset="0"/>
                <a:ea typeface="Calibri" pitchFamily="34" charset="-122"/>
                <a:cs typeface="Calibri" pitchFamily="34" charset="-120"/>
              </a:rPr>
              <a:t>Measure, predict and reduce prepared-food waste, one store at a time, starting with a 90-day pilot.</a:t>
            </a:r>
            <a:endParaRPr lang="en-US" sz="2000" dirty="0"/>
          </a:p>
        </p:txBody>
      </p:sp>
      <p:sp>
        <p:nvSpPr>
          <p:cNvPr id="5" name="Text 3"/>
          <p:cNvSpPr txBox="1"/>
          <p:nvPr/>
        </p:nvSpPr>
        <p:spPr>
          <a:xfrm>
            <a:off x="548640" y="3429000"/>
            <a:ext cx="8046720" cy="320040"/>
          </a:xfrm>
          <a:prstGeom prst="rect">
            <a:avLst/>
          </a:prstGeom>
          <a:noFill/>
          <a:ln/>
        </p:spPr>
        <p:txBody>
          <a:bodyPr wrap="square" lIns="0" tIns="0" rIns="0" bIns="0" rtlCol="0" anchor="ctr"/>
          <a:lstStyle/>
          <a:p>
            <a:pPr indent="0" marL="0">
              <a:buNone/>
            </a:pPr>
            <a:r>
              <a:rPr lang="en-US" sz="700" dirty="0">
                <a:solidFill>
                  <a:srgbClr val="7FD1A0"/>
                </a:solidFill>
                <a:latin typeface="Arial" pitchFamily="34" charset="0"/>
                <a:ea typeface="Arial" pitchFamily="34" charset="-122"/>
                <a:cs typeface="Arial" pitchFamily="34" charset="-120"/>
              </a:rPr>
              <a:t>●  </a:t>
            </a:r>
            <a:pPr indent="0" marL="0">
              <a:buNone/>
            </a:pPr>
            <a:r>
              <a:rPr lang="en-US" sz="1100" dirty="0">
                <a:solidFill>
                  <a:srgbClr val="9FB0A5"/>
                </a:solidFill>
                <a:latin typeface="Arial" pitchFamily="34" charset="0"/>
                <a:ea typeface="Arial" pitchFamily="34" charset="-122"/>
                <a:cs typeface="Arial" pitchFamily="34" charset="-120"/>
              </a:rPr>
              <a:t>Concept validated in a full-year simulation      </a:t>
            </a:r>
            <a:pPr indent="0" marL="0">
              <a:buNone/>
            </a:pPr>
            <a:r>
              <a:rPr lang="en-US" sz="700" dirty="0">
                <a:solidFill>
                  <a:srgbClr val="7FD1A0"/>
                </a:solidFill>
                <a:latin typeface="Arial" pitchFamily="34" charset="0"/>
                <a:ea typeface="Arial" pitchFamily="34" charset="-122"/>
                <a:cs typeface="Arial" pitchFamily="34" charset="-120"/>
              </a:rPr>
              <a:t>●  </a:t>
            </a:r>
            <a:pPr indent="0" marL="0">
              <a:buNone/>
            </a:pPr>
            <a:r>
              <a:rPr lang="en-US" sz="1100" dirty="0">
                <a:solidFill>
                  <a:srgbClr val="9FB0A5"/>
                </a:solidFill>
                <a:latin typeface="Arial" pitchFamily="34" charset="0"/>
                <a:ea typeface="Arial" pitchFamily="34" charset="-122"/>
                <a:cs typeface="Arial" pitchFamily="34" charset="-120"/>
              </a:rPr>
              <a:t>Built on zero company data      </a:t>
            </a:r>
            <a:pPr indent="0" marL="0">
              <a:buNone/>
            </a:pPr>
            <a:r>
              <a:rPr lang="en-US" sz="700" dirty="0">
                <a:solidFill>
                  <a:srgbClr val="7FD1A0"/>
                </a:solidFill>
                <a:latin typeface="Arial" pitchFamily="34" charset="0"/>
                <a:ea typeface="Arial" pitchFamily="34" charset="-122"/>
                <a:cs typeface="Arial" pitchFamily="34" charset="-120"/>
              </a:rPr>
              <a:t>●  </a:t>
            </a:r>
            <a:pPr indent="0" marL="0">
              <a:buNone/>
            </a:pPr>
            <a:r>
              <a:rPr lang="en-US" sz="1100" dirty="0">
                <a:solidFill>
                  <a:srgbClr val="9FB0A5"/>
                </a:solidFill>
                <a:latin typeface="Arial" pitchFamily="34" charset="0"/>
                <a:ea typeface="Arial" pitchFamily="34" charset="-122"/>
                <a:cs typeface="Arial" pitchFamily="34" charset="-120"/>
              </a:rPr>
              <a:t>September 2026</a:t>
            </a:r>
            <a:endParaRPr lang="en-US" sz="1100" dirty="0"/>
          </a:p>
        </p:txBody>
      </p:sp>
      <p:sp>
        <p:nvSpPr>
          <p:cNvPr id="7" name="Text 4"/>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9FB0A5"/>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THE ONE-SLIDE VERSION</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600" b="1" dirty="0">
                <a:solidFill>
                  <a:srgbClr val="17211B"/>
                </a:solidFill>
                <a:latin typeface="Arial" pitchFamily="34" charset="0"/>
                <a:ea typeface="Arial" pitchFamily="34" charset="-122"/>
                <a:cs typeface="Arial" pitchFamily="34" charset="-120"/>
              </a:rPr>
              <a:t>We can stop guessing how much to make</a:t>
            </a:r>
            <a:endParaRPr lang="en-US" sz="2600" dirty="0"/>
          </a:p>
        </p:txBody>
      </p:sp>
      <p:sp>
        <p:nvSpPr>
          <p:cNvPr id="4" name="Text 2"/>
          <p:cNvSpPr txBox="1"/>
          <p:nvPr/>
        </p:nvSpPr>
        <p:spPr>
          <a:xfrm>
            <a:off x="548640" y="1417320"/>
            <a:ext cx="3931920" cy="146304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7211B"/>
                </a:solidFill>
                <a:latin typeface="Calibri" pitchFamily="34" charset="0"/>
                <a:ea typeface="Calibri" pitchFamily="34" charset="-122"/>
                <a:cs typeface="Calibri" pitchFamily="34" charset="-120"/>
              </a:rPr>
              <a:t>Bakery, pizza, hot foods and fresh cases are produced against gut-feel par sheets. Pars cannot see weather, holidays or trend, so they pad, and the padding becomes waste. A demand forecast can see all of those a day ahead.</a:t>
            </a:r>
            <a:endParaRPr lang="en-US" sz="1200" dirty="0"/>
          </a:p>
        </p:txBody>
      </p:sp>
      <p:sp>
        <p:nvSpPr>
          <p:cNvPr id="5" name="Text 3"/>
          <p:cNvSpPr txBox="1"/>
          <p:nvPr/>
        </p:nvSpPr>
        <p:spPr>
          <a:xfrm>
            <a:off x="548640" y="2926080"/>
            <a:ext cx="3931920" cy="146304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7211B"/>
                </a:solidFill>
                <a:latin typeface="Calibri" pitchFamily="34" charset="0"/>
                <a:ea typeface="Calibri" pitchFamily="34" charset="-122"/>
                <a:cs typeface="Calibri" pitchFamily="34" charset="-120"/>
              </a:rPr>
              <a:t>A working forecasting system already exists. It was built and tested on a fully synthetic store so that no data-permission or IP question had to be answered first. The ask is one pilot store, read-only data access, and a modest number of hours.</a:t>
            </a:r>
            <a:endParaRPr lang="en-US" sz="1200" dirty="0"/>
          </a:p>
        </p:txBody>
      </p:sp>
      <p:sp>
        <p:nvSpPr>
          <p:cNvPr id="6" name="Shape 4"/>
          <p:cNvSpPr/>
          <p:nvPr/>
        </p:nvSpPr>
        <p:spPr>
          <a:xfrm>
            <a:off x="4754880" y="1417320"/>
            <a:ext cx="3840480" cy="822960"/>
          </a:xfrm>
          <a:prstGeom prst="roundRect">
            <a:avLst>
              <a:gd name="adj" fmla="val 13333"/>
            </a:avLst>
          </a:prstGeom>
          <a:solidFill>
            <a:srgbClr val="FFFFFF"/>
          </a:solidFill>
          <a:ln w="9525">
            <a:solidFill>
              <a:srgbClr val="D9DFD9"/>
            </a:solidFill>
            <a:prstDash val="solid"/>
          </a:ln>
        </p:spPr>
      </p:sp>
      <p:sp>
        <p:nvSpPr>
          <p:cNvPr id="7" name="Text 5"/>
          <p:cNvSpPr txBox="1"/>
          <p:nvPr/>
        </p:nvSpPr>
        <p:spPr>
          <a:xfrm>
            <a:off x="4892040" y="1508760"/>
            <a:ext cx="1417320" cy="640080"/>
          </a:xfrm>
          <a:prstGeom prst="rect">
            <a:avLst/>
          </a:prstGeom>
          <a:noFill/>
          <a:ln/>
        </p:spPr>
        <p:txBody>
          <a:bodyPr wrap="square" lIns="0" tIns="0" rIns="0" bIns="0" rtlCol="0" anchor="ctr">
            <a:normAutofit/>
          </a:bodyPr>
          <a:lstStyle/>
          <a:p>
            <a:pPr indent="0" marL="0">
              <a:buNone/>
            </a:pPr>
            <a:r>
              <a:rPr lang="en-US" sz="2800" b="1" dirty="0">
                <a:solidFill>
                  <a:srgbClr val="1E7A46"/>
                </a:solidFill>
                <a:latin typeface="Arial" pitchFamily="34" charset="0"/>
                <a:ea typeface="Arial" pitchFamily="34" charset="-122"/>
                <a:cs typeface="Arial" pitchFamily="34" charset="-120"/>
              </a:rPr>
              <a:t>−37%</a:t>
            </a:r>
            <a:endParaRPr lang="en-US" sz="2800" dirty="0"/>
          </a:p>
        </p:txBody>
      </p:sp>
      <p:sp>
        <p:nvSpPr>
          <p:cNvPr id="8" name="Text 6"/>
          <p:cNvSpPr txBox="1"/>
          <p:nvPr/>
        </p:nvSpPr>
        <p:spPr>
          <a:xfrm>
            <a:off x="6355080" y="1508760"/>
            <a:ext cx="2148840" cy="640080"/>
          </a:xfrm>
          <a:prstGeom prst="rect">
            <a:avLst/>
          </a:prstGeom>
          <a:noFill/>
          <a:ln/>
        </p:spPr>
        <p:txBody>
          <a:bodyPr wrap="square" lIns="0" tIns="0" rIns="0" bIns="0" rtlCol="0" anchor="ctr"/>
          <a:lstStyle/>
          <a:p>
            <a:pPr indent="0" marL="0">
              <a:buNone/>
            </a:pPr>
            <a:r>
              <a:rPr lang="en-US" sz="1050" dirty="0">
                <a:solidFill>
                  <a:srgbClr val="4D5A52"/>
                </a:solidFill>
                <a:latin typeface="Calibri" pitchFamily="34" charset="0"/>
                <a:ea typeface="Calibri" pitchFamily="34" charset="-122"/>
                <a:cs typeface="Calibri" pitchFamily="34" charset="-120"/>
              </a:rPr>
              <a:t>waste in the simulated pilot year with product availability held at today's level</a:t>
            </a:r>
            <a:endParaRPr lang="en-US" sz="1050" dirty="0"/>
          </a:p>
        </p:txBody>
      </p:sp>
      <p:sp>
        <p:nvSpPr>
          <p:cNvPr id="9" name="Shape 7"/>
          <p:cNvSpPr/>
          <p:nvPr/>
        </p:nvSpPr>
        <p:spPr>
          <a:xfrm>
            <a:off x="4754880" y="2377440"/>
            <a:ext cx="3840480" cy="822960"/>
          </a:xfrm>
          <a:prstGeom prst="roundRect">
            <a:avLst>
              <a:gd name="adj" fmla="val 13333"/>
            </a:avLst>
          </a:prstGeom>
          <a:solidFill>
            <a:srgbClr val="FFFFFF"/>
          </a:solidFill>
          <a:ln w="9525">
            <a:solidFill>
              <a:srgbClr val="D9DFD9"/>
            </a:solidFill>
            <a:prstDash val="solid"/>
          </a:ln>
        </p:spPr>
      </p:sp>
      <p:sp>
        <p:nvSpPr>
          <p:cNvPr id="10" name="Text 8"/>
          <p:cNvSpPr txBox="1"/>
          <p:nvPr/>
        </p:nvSpPr>
        <p:spPr>
          <a:xfrm>
            <a:off x="4892040" y="2468880"/>
            <a:ext cx="1417320" cy="640080"/>
          </a:xfrm>
          <a:prstGeom prst="rect">
            <a:avLst/>
          </a:prstGeom>
          <a:noFill/>
          <a:ln/>
        </p:spPr>
        <p:txBody>
          <a:bodyPr wrap="square" lIns="0" tIns="0" rIns="0" bIns="0" rtlCol="0" anchor="ctr">
            <a:normAutofit/>
          </a:bodyPr>
          <a:lstStyle/>
          <a:p>
            <a:pPr indent="0" marL="0">
              <a:buNone/>
            </a:pPr>
            <a:r>
              <a:rPr lang="en-US" sz="2800" b="1" dirty="0">
                <a:solidFill>
                  <a:srgbClr val="1E7A46"/>
                </a:solidFill>
                <a:latin typeface="Arial" pitchFamily="34" charset="0"/>
                <a:ea typeface="Arial" pitchFamily="34" charset="-122"/>
                <a:cs typeface="Arial" pitchFamily="34" charset="-120"/>
              </a:rPr>
              <a:t>81%</a:t>
            </a:r>
            <a:endParaRPr lang="en-US" sz="2800" dirty="0"/>
          </a:p>
        </p:txBody>
      </p:sp>
      <p:sp>
        <p:nvSpPr>
          <p:cNvPr id="11" name="Text 9"/>
          <p:cNvSpPr txBox="1"/>
          <p:nvPr/>
        </p:nvSpPr>
        <p:spPr>
          <a:xfrm>
            <a:off x="6355080" y="2468880"/>
            <a:ext cx="2148840" cy="640080"/>
          </a:xfrm>
          <a:prstGeom prst="rect">
            <a:avLst/>
          </a:prstGeom>
          <a:noFill/>
          <a:ln/>
        </p:spPr>
        <p:txBody>
          <a:bodyPr wrap="square" lIns="0" tIns="0" rIns="0" bIns="0" rtlCol="0" anchor="ctr"/>
          <a:lstStyle/>
          <a:p>
            <a:pPr indent="0" marL="0">
              <a:buNone/>
            </a:pPr>
            <a:r>
              <a:rPr lang="en-US" sz="1050" dirty="0">
                <a:solidFill>
                  <a:srgbClr val="4D5A52"/>
                </a:solidFill>
                <a:latin typeface="Calibri" pitchFamily="34" charset="0"/>
                <a:ea typeface="Calibri" pitchFamily="34" charset="-122"/>
                <a:cs typeface="Calibri" pitchFamily="34" charset="-120"/>
              </a:rPr>
              <a:t>of the improvement that perfect knowledge of demand would allow</a:t>
            </a:r>
            <a:endParaRPr lang="en-US" sz="1050" dirty="0"/>
          </a:p>
        </p:txBody>
      </p:sp>
      <p:sp>
        <p:nvSpPr>
          <p:cNvPr id="12" name="Shape 10"/>
          <p:cNvSpPr/>
          <p:nvPr/>
        </p:nvSpPr>
        <p:spPr>
          <a:xfrm>
            <a:off x="4754880" y="3337560"/>
            <a:ext cx="3840480" cy="822960"/>
          </a:xfrm>
          <a:prstGeom prst="roundRect">
            <a:avLst>
              <a:gd name="adj" fmla="val 13333"/>
            </a:avLst>
          </a:prstGeom>
          <a:solidFill>
            <a:srgbClr val="E7F2EC"/>
          </a:solidFill>
          <a:ln w="9525">
            <a:solidFill>
              <a:srgbClr val="B9D8C6"/>
            </a:solidFill>
            <a:prstDash val="solid"/>
          </a:ln>
        </p:spPr>
      </p:sp>
      <p:sp>
        <p:nvSpPr>
          <p:cNvPr id="13" name="Text 11"/>
          <p:cNvSpPr txBox="1"/>
          <p:nvPr/>
        </p:nvSpPr>
        <p:spPr>
          <a:xfrm>
            <a:off x="4892040" y="3429000"/>
            <a:ext cx="1417320" cy="640080"/>
          </a:xfrm>
          <a:prstGeom prst="rect">
            <a:avLst/>
          </a:prstGeom>
          <a:noFill/>
          <a:ln/>
        </p:spPr>
        <p:txBody>
          <a:bodyPr wrap="square" lIns="0" tIns="0" rIns="0" bIns="0" rtlCol="0" anchor="ctr">
            <a:normAutofit/>
          </a:bodyPr>
          <a:lstStyle/>
          <a:p>
            <a:pPr indent="0" marL="0">
              <a:buNone/>
            </a:pPr>
            <a:r>
              <a:rPr lang="en-US" sz="2800" b="1" dirty="0">
                <a:solidFill>
                  <a:srgbClr val="1E7A46"/>
                </a:solidFill>
                <a:latin typeface="Arial" pitchFamily="34" charset="0"/>
                <a:ea typeface="Arial" pitchFamily="34" charset="-122"/>
                <a:cs typeface="Arial" pitchFamily="34" charset="-120"/>
              </a:rPr>
              <a:t>10–15%</a:t>
            </a:r>
            <a:endParaRPr lang="en-US" sz="2800" dirty="0"/>
          </a:p>
        </p:txBody>
      </p:sp>
      <p:sp>
        <p:nvSpPr>
          <p:cNvPr id="14" name="Text 12"/>
          <p:cNvSpPr txBox="1"/>
          <p:nvPr/>
        </p:nvSpPr>
        <p:spPr>
          <a:xfrm>
            <a:off x="6355080" y="3429000"/>
            <a:ext cx="2148840" cy="640080"/>
          </a:xfrm>
          <a:prstGeom prst="rect">
            <a:avLst/>
          </a:prstGeom>
          <a:noFill/>
          <a:ln/>
        </p:spPr>
        <p:txBody>
          <a:bodyPr wrap="square" lIns="0" tIns="0" rIns="0" bIns="0" rtlCol="0" anchor="ctr"/>
          <a:lstStyle/>
          <a:p>
            <a:pPr indent="0" marL="0">
              <a:buNone/>
            </a:pPr>
            <a:r>
              <a:rPr lang="en-US" sz="1050" dirty="0">
                <a:solidFill>
                  <a:srgbClr val="4D5A52"/>
                </a:solidFill>
                <a:latin typeface="Calibri" pitchFamily="34" charset="0"/>
                <a:ea typeface="Calibri" pitchFamily="34" charset="-122"/>
                <a:cs typeface="Calibri" pitchFamily="34" charset="-120"/>
              </a:rPr>
              <a:t>the waste reduction this proposal actually promises for a real 90-day pilot</a:t>
            </a:r>
            <a:endParaRPr lang="en-US" sz="1050" dirty="0"/>
          </a:p>
        </p:txBody>
      </p:sp>
      <p:sp>
        <p:nvSpPr>
          <p:cNvPr id="15" name="Text 13"/>
          <p:cNvSpPr txBox="1"/>
          <p:nvPr/>
        </p:nvSpPr>
        <p:spPr>
          <a:xfrm>
            <a:off x="548640" y="4526280"/>
            <a:ext cx="7223760" cy="411480"/>
          </a:xfrm>
          <a:prstGeom prst="rect">
            <a:avLst/>
          </a:prstGeom>
          <a:noFill/>
          <a:ln/>
        </p:spPr>
        <p:txBody>
          <a:bodyPr wrap="square" lIns="0" tIns="0" rIns="0" bIns="0" rtlCol="0" anchor="b"/>
          <a:lstStyle/>
          <a:p>
            <a:pPr indent="0" marL="0">
              <a:buNone/>
            </a:pPr>
            <a:r>
              <a:rPr lang="en-US" sz="950" dirty="0">
                <a:solidFill>
                  <a:srgbClr val="7D8A81"/>
                </a:solidFill>
                <a:latin typeface="Calibri" pitchFamily="34" charset="0"/>
                <a:ea typeface="Calibri" pitchFamily="34" charset="-122"/>
                <a:cs typeface="Calibri" pitchFamily="34" charset="-120"/>
              </a:rPr>
              <a:t>Simulation figures come from a synthetic three-year store, held-out year 2025. They prove the method. The real dollar figure comes from the pilot's measured baseline.</a:t>
            </a:r>
            <a:endParaRPr lang="en-US" sz="950" dirty="0"/>
          </a:p>
        </p:txBody>
      </p:sp>
      <p:sp>
        <p:nvSpPr>
          <p:cNvPr id="17" name="Text 14"/>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THE PROBLEM</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600" b="1" dirty="0">
                <a:solidFill>
                  <a:srgbClr val="17211B"/>
                </a:solidFill>
                <a:latin typeface="Arial" pitchFamily="34" charset="0"/>
                <a:ea typeface="Arial" pitchFamily="34" charset="-122"/>
                <a:cs typeface="Arial" pitchFamily="34" charset="-120"/>
              </a:rPr>
              <a:t>A par sheet is one number. Demand is not.</a:t>
            </a:r>
            <a:endParaRPr lang="en-US" sz="2600" dirty="0"/>
          </a:p>
        </p:txBody>
      </p:sp>
      <p:sp>
        <p:nvSpPr>
          <p:cNvPr id="4" name="Text 2"/>
          <p:cNvSpPr txBox="1"/>
          <p:nvPr/>
        </p:nvSpPr>
        <p:spPr>
          <a:xfrm>
            <a:off x="548640" y="1417320"/>
            <a:ext cx="2834640" cy="1051560"/>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7211B"/>
                </a:solidFill>
                <a:latin typeface="Calibri" pitchFamily="34" charset="0"/>
                <a:ea typeface="Calibri" pitchFamily="34" charset="-122"/>
                <a:cs typeface="Calibri" pitchFamily="34" charset="-120"/>
              </a:rPr>
              <a:t>Make too much and we eat the cost of goods. Make too little and we lose the margin and disappoint the customer at an empty hot bar at 6 pm.</a:t>
            </a:r>
            <a:endParaRPr lang="en-US" sz="1150" dirty="0"/>
          </a:p>
        </p:txBody>
      </p:sp>
      <p:sp>
        <p:nvSpPr>
          <p:cNvPr id="5" name="Text 3"/>
          <p:cNvSpPr txBox="1"/>
          <p:nvPr/>
        </p:nvSpPr>
        <p:spPr>
          <a:xfrm>
            <a:off x="548640" y="2514600"/>
            <a:ext cx="2834640" cy="1143000"/>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7211B"/>
                </a:solidFill>
                <a:latin typeface="Calibri" pitchFamily="34" charset="0"/>
                <a:ea typeface="Calibri" pitchFamily="34" charset="-122"/>
                <a:cs typeface="Calibri" pitchFamily="34" charset="-120"/>
              </a:rPr>
              <a:t>Pars solve this with a flat safety pad. But demand swings with the weekday, the weather, the season and the calendar, and all of those are known the day before.</a:t>
            </a:r>
            <a:endParaRPr lang="en-US" sz="1150" dirty="0"/>
          </a:p>
        </p:txBody>
      </p:sp>
      <p:sp>
        <p:nvSpPr>
          <p:cNvPr id="6" name="Text 4"/>
          <p:cNvSpPr txBox="1"/>
          <p:nvPr/>
        </p:nvSpPr>
        <p:spPr>
          <a:xfrm>
            <a:off x="548640" y="3703320"/>
            <a:ext cx="2834640" cy="1005840"/>
          </a:xfrm>
          <a:prstGeom prst="rect">
            <a:avLst/>
          </a:prstGeom>
          <a:noFill/>
          <a:ln/>
        </p:spPr>
        <p:txBody>
          <a:bodyPr wrap="square" lIns="0" tIns="0" rIns="0" bIns="0" rtlCol="0" anchor="t"/>
          <a:lstStyle/>
          <a:p>
            <a:pPr indent="0" marL="0">
              <a:lnSpc>
                <a:spcPct val="112000"/>
              </a:lnSpc>
              <a:spcAft>
                <a:spcPts val="600"/>
              </a:spcAft>
              <a:buNone/>
            </a:pPr>
            <a:r>
              <a:rPr lang="en-US" sz="900" dirty="0">
                <a:solidFill>
                  <a:srgbClr val="7D8A81"/>
                </a:solidFill>
                <a:latin typeface="Calibri" pitchFamily="34" charset="0"/>
                <a:ea typeface="Calibri" pitchFamily="34" charset="-122"/>
                <a:cs typeface="Calibri" pitchFamily="34" charset="-120"/>
              </a:rPr>
              <a:t>Demand index by weekday and weather in the simulated store. 1.00 is an average day. The spread between a snowy Monday and a sunny Friday is almost 2×, and a single par number has to cover both.</a:t>
            </a:r>
            <a:endParaRPr lang="en-US" sz="900" dirty="0"/>
          </a:p>
        </p:txBody>
      </p:sp>
      <p:sp>
        <p:nvSpPr>
          <p:cNvPr id="7" name="Text 5"/>
          <p:cNvSpPr txBox="1"/>
          <p:nvPr/>
        </p:nvSpPr>
        <p:spPr>
          <a:xfrm>
            <a:off x="4069080" y="1399032"/>
            <a:ext cx="640080" cy="274320"/>
          </a:xfrm>
          <a:prstGeom prst="rect">
            <a:avLst/>
          </a:prstGeom>
          <a:noFill/>
          <a:ln/>
        </p:spPr>
        <p:txBody>
          <a:bodyPr wrap="square" lIns="0" tIns="0" rIns="0" bIns="0" rtlCol="0" anchor="ctr"/>
          <a:lstStyle/>
          <a:p>
            <a:pPr algn="ctr" indent="0" marL="0">
              <a:buNone/>
            </a:pPr>
            <a:r>
              <a:rPr lang="en-US" sz="1000" b="1" dirty="0">
                <a:solidFill>
                  <a:srgbClr val="4D5A52"/>
                </a:solidFill>
                <a:latin typeface="Arial" pitchFamily="34" charset="0"/>
                <a:ea typeface="Arial" pitchFamily="34" charset="-122"/>
                <a:cs typeface="Arial" pitchFamily="34" charset="-120"/>
              </a:rPr>
              <a:t>Mon</a:t>
            </a:r>
            <a:endParaRPr lang="en-US" sz="1000" dirty="0"/>
          </a:p>
        </p:txBody>
      </p:sp>
      <p:sp>
        <p:nvSpPr>
          <p:cNvPr id="8" name="Text 6"/>
          <p:cNvSpPr txBox="1"/>
          <p:nvPr/>
        </p:nvSpPr>
        <p:spPr>
          <a:xfrm>
            <a:off x="4709160" y="1399032"/>
            <a:ext cx="640080" cy="274320"/>
          </a:xfrm>
          <a:prstGeom prst="rect">
            <a:avLst/>
          </a:prstGeom>
          <a:noFill/>
          <a:ln/>
        </p:spPr>
        <p:txBody>
          <a:bodyPr wrap="square" lIns="0" tIns="0" rIns="0" bIns="0" rtlCol="0" anchor="ctr"/>
          <a:lstStyle/>
          <a:p>
            <a:pPr algn="ctr" indent="0" marL="0">
              <a:buNone/>
            </a:pPr>
            <a:r>
              <a:rPr lang="en-US" sz="1000" b="1" dirty="0">
                <a:solidFill>
                  <a:srgbClr val="4D5A52"/>
                </a:solidFill>
                <a:latin typeface="Arial" pitchFamily="34" charset="0"/>
                <a:ea typeface="Arial" pitchFamily="34" charset="-122"/>
                <a:cs typeface="Arial" pitchFamily="34" charset="-120"/>
              </a:rPr>
              <a:t>Tue</a:t>
            </a:r>
            <a:endParaRPr lang="en-US" sz="1000" dirty="0"/>
          </a:p>
        </p:txBody>
      </p:sp>
      <p:sp>
        <p:nvSpPr>
          <p:cNvPr id="9" name="Text 7"/>
          <p:cNvSpPr txBox="1"/>
          <p:nvPr/>
        </p:nvSpPr>
        <p:spPr>
          <a:xfrm>
            <a:off x="5349240" y="1399032"/>
            <a:ext cx="640080" cy="274320"/>
          </a:xfrm>
          <a:prstGeom prst="rect">
            <a:avLst/>
          </a:prstGeom>
          <a:noFill/>
          <a:ln/>
        </p:spPr>
        <p:txBody>
          <a:bodyPr wrap="square" lIns="0" tIns="0" rIns="0" bIns="0" rtlCol="0" anchor="ctr"/>
          <a:lstStyle/>
          <a:p>
            <a:pPr algn="ctr" indent="0" marL="0">
              <a:buNone/>
            </a:pPr>
            <a:r>
              <a:rPr lang="en-US" sz="1000" b="1" dirty="0">
                <a:solidFill>
                  <a:srgbClr val="4D5A52"/>
                </a:solidFill>
                <a:latin typeface="Arial" pitchFamily="34" charset="0"/>
                <a:ea typeface="Arial" pitchFamily="34" charset="-122"/>
                <a:cs typeface="Arial" pitchFamily="34" charset="-120"/>
              </a:rPr>
              <a:t>Wed</a:t>
            </a:r>
            <a:endParaRPr lang="en-US" sz="1000" dirty="0"/>
          </a:p>
        </p:txBody>
      </p:sp>
      <p:sp>
        <p:nvSpPr>
          <p:cNvPr id="10" name="Text 8"/>
          <p:cNvSpPr txBox="1"/>
          <p:nvPr/>
        </p:nvSpPr>
        <p:spPr>
          <a:xfrm>
            <a:off x="5989320" y="1399032"/>
            <a:ext cx="640080" cy="274320"/>
          </a:xfrm>
          <a:prstGeom prst="rect">
            <a:avLst/>
          </a:prstGeom>
          <a:noFill/>
          <a:ln/>
        </p:spPr>
        <p:txBody>
          <a:bodyPr wrap="square" lIns="0" tIns="0" rIns="0" bIns="0" rtlCol="0" anchor="ctr"/>
          <a:lstStyle/>
          <a:p>
            <a:pPr algn="ctr" indent="0" marL="0">
              <a:buNone/>
            </a:pPr>
            <a:r>
              <a:rPr lang="en-US" sz="1000" b="1" dirty="0">
                <a:solidFill>
                  <a:srgbClr val="4D5A52"/>
                </a:solidFill>
                <a:latin typeface="Arial" pitchFamily="34" charset="0"/>
                <a:ea typeface="Arial" pitchFamily="34" charset="-122"/>
                <a:cs typeface="Arial" pitchFamily="34" charset="-120"/>
              </a:rPr>
              <a:t>Thu</a:t>
            </a:r>
            <a:endParaRPr lang="en-US" sz="1000" dirty="0"/>
          </a:p>
        </p:txBody>
      </p:sp>
      <p:sp>
        <p:nvSpPr>
          <p:cNvPr id="11" name="Text 9"/>
          <p:cNvSpPr txBox="1"/>
          <p:nvPr/>
        </p:nvSpPr>
        <p:spPr>
          <a:xfrm>
            <a:off x="6629400" y="1399032"/>
            <a:ext cx="640080" cy="274320"/>
          </a:xfrm>
          <a:prstGeom prst="rect">
            <a:avLst/>
          </a:prstGeom>
          <a:noFill/>
          <a:ln/>
        </p:spPr>
        <p:txBody>
          <a:bodyPr wrap="square" lIns="0" tIns="0" rIns="0" bIns="0" rtlCol="0" anchor="ctr"/>
          <a:lstStyle/>
          <a:p>
            <a:pPr algn="ctr" indent="0" marL="0">
              <a:buNone/>
            </a:pPr>
            <a:r>
              <a:rPr lang="en-US" sz="1000" b="1" dirty="0">
                <a:solidFill>
                  <a:srgbClr val="4D5A52"/>
                </a:solidFill>
                <a:latin typeface="Arial" pitchFamily="34" charset="0"/>
                <a:ea typeface="Arial" pitchFamily="34" charset="-122"/>
                <a:cs typeface="Arial" pitchFamily="34" charset="-120"/>
              </a:rPr>
              <a:t>Fri</a:t>
            </a:r>
            <a:endParaRPr lang="en-US" sz="1000" dirty="0"/>
          </a:p>
        </p:txBody>
      </p:sp>
      <p:sp>
        <p:nvSpPr>
          <p:cNvPr id="12" name="Text 10"/>
          <p:cNvSpPr txBox="1"/>
          <p:nvPr/>
        </p:nvSpPr>
        <p:spPr>
          <a:xfrm>
            <a:off x="7269480" y="1399032"/>
            <a:ext cx="640080" cy="274320"/>
          </a:xfrm>
          <a:prstGeom prst="rect">
            <a:avLst/>
          </a:prstGeom>
          <a:noFill/>
          <a:ln/>
        </p:spPr>
        <p:txBody>
          <a:bodyPr wrap="square" lIns="0" tIns="0" rIns="0" bIns="0" rtlCol="0" anchor="ctr"/>
          <a:lstStyle/>
          <a:p>
            <a:pPr algn="ctr" indent="0" marL="0">
              <a:buNone/>
            </a:pPr>
            <a:r>
              <a:rPr lang="en-US" sz="1000" b="1" dirty="0">
                <a:solidFill>
                  <a:srgbClr val="4D5A52"/>
                </a:solidFill>
                <a:latin typeface="Arial" pitchFamily="34" charset="0"/>
                <a:ea typeface="Arial" pitchFamily="34" charset="-122"/>
                <a:cs typeface="Arial" pitchFamily="34" charset="-120"/>
              </a:rPr>
              <a:t>Sat</a:t>
            </a:r>
            <a:endParaRPr lang="en-US" sz="1000" dirty="0"/>
          </a:p>
        </p:txBody>
      </p:sp>
      <p:sp>
        <p:nvSpPr>
          <p:cNvPr id="13" name="Text 11"/>
          <p:cNvSpPr txBox="1"/>
          <p:nvPr/>
        </p:nvSpPr>
        <p:spPr>
          <a:xfrm>
            <a:off x="7909560" y="1399032"/>
            <a:ext cx="640080" cy="274320"/>
          </a:xfrm>
          <a:prstGeom prst="rect">
            <a:avLst/>
          </a:prstGeom>
          <a:noFill/>
          <a:ln/>
        </p:spPr>
        <p:txBody>
          <a:bodyPr wrap="square" lIns="0" tIns="0" rIns="0" bIns="0" rtlCol="0" anchor="ctr"/>
          <a:lstStyle/>
          <a:p>
            <a:pPr algn="ctr" indent="0" marL="0">
              <a:buNone/>
            </a:pPr>
            <a:r>
              <a:rPr lang="en-US" sz="1000" b="1" dirty="0">
                <a:solidFill>
                  <a:srgbClr val="4D5A52"/>
                </a:solidFill>
                <a:latin typeface="Arial" pitchFamily="34" charset="0"/>
                <a:ea typeface="Arial" pitchFamily="34" charset="-122"/>
                <a:cs typeface="Arial" pitchFamily="34" charset="-120"/>
              </a:rPr>
              <a:t>Sun</a:t>
            </a:r>
            <a:endParaRPr lang="en-US" sz="1000" dirty="0"/>
          </a:p>
        </p:txBody>
      </p:sp>
      <p:sp>
        <p:nvSpPr>
          <p:cNvPr id="14" name="Text 12"/>
          <p:cNvSpPr txBox="1"/>
          <p:nvPr/>
        </p:nvSpPr>
        <p:spPr>
          <a:xfrm>
            <a:off x="3383280" y="1691640"/>
            <a:ext cx="640080" cy="658368"/>
          </a:xfrm>
          <a:prstGeom prst="rect">
            <a:avLst/>
          </a:prstGeom>
          <a:noFill/>
          <a:ln/>
        </p:spPr>
        <p:txBody>
          <a:bodyPr wrap="square" lIns="0" tIns="0" rIns="0" bIns="0" rtlCol="0" anchor="ctr"/>
          <a:lstStyle/>
          <a:p>
            <a:pPr algn="r" indent="0" marL="0">
              <a:buNone/>
            </a:pPr>
            <a:r>
              <a:rPr lang="en-US" sz="1000" b="1" dirty="0">
                <a:solidFill>
                  <a:srgbClr val="4D5A52"/>
                </a:solidFill>
                <a:latin typeface="Arial" pitchFamily="34" charset="0"/>
                <a:ea typeface="Arial" pitchFamily="34" charset="-122"/>
                <a:cs typeface="Arial" pitchFamily="34" charset="-120"/>
              </a:rPr>
              <a:t>Sunny</a:t>
            </a:r>
            <a:endParaRPr lang="en-US" sz="1000" dirty="0"/>
          </a:p>
        </p:txBody>
      </p:sp>
      <p:sp>
        <p:nvSpPr>
          <p:cNvPr id="15" name="Shape 13"/>
          <p:cNvSpPr/>
          <p:nvPr/>
        </p:nvSpPr>
        <p:spPr>
          <a:xfrm>
            <a:off x="4096512" y="1719072"/>
            <a:ext cx="585216" cy="603504"/>
          </a:xfrm>
          <a:prstGeom prst="roundRect">
            <a:avLst>
              <a:gd name="adj" fmla="val 9375"/>
            </a:avLst>
          </a:prstGeom>
          <a:solidFill>
            <a:srgbClr val="58836D"/>
          </a:solidFill>
          <a:ln w="12700">
            <a:solidFill>
              <a:srgbClr val="58836D"/>
            </a:solidFill>
            <a:prstDash val="solid"/>
          </a:ln>
        </p:spPr>
      </p:sp>
      <p:sp>
        <p:nvSpPr>
          <p:cNvPr id="16" name="Text 14"/>
          <p:cNvSpPr txBox="1"/>
          <p:nvPr/>
        </p:nvSpPr>
        <p:spPr>
          <a:xfrm>
            <a:off x="4096512" y="1719072"/>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1.02</a:t>
            </a:r>
            <a:endParaRPr lang="en-US" sz="1200" dirty="0"/>
          </a:p>
        </p:txBody>
      </p:sp>
      <p:sp>
        <p:nvSpPr>
          <p:cNvPr id="17" name="Shape 15"/>
          <p:cNvSpPr/>
          <p:nvPr/>
        </p:nvSpPr>
        <p:spPr>
          <a:xfrm>
            <a:off x="4736592" y="1719072"/>
            <a:ext cx="585216" cy="603504"/>
          </a:xfrm>
          <a:prstGeom prst="roundRect">
            <a:avLst>
              <a:gd name="adj" fmla="val 9375"/>
            </a:avLst>
          </a:prstGeom>
          <a:solidFill>
            <a:srgbClr val="5F8872"/>
          </a:solidFill>
          <a:ln w="12700">
            <a:solidFill>
              <a:srgbClr val="5F8872"/>
            </a:solidFill>
            <a:prstDash val="solid"/>
          </a:ln>
        </p:spPr>
      </p:sp>
      <p:sp>
        <p:nvSpPr>
          <p:cNvPr id="18" name="Text 16"/>
          <p:cNvSpPr txBox="1"/>
          <p:nvPr/>
        </p:nvSpPr>
        <p:spPr>
          <a:xfrm>
            <a:off x="4736592" y="1719072"/>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1.00</a:t>
            </a:r>
            <a:endParaRPr lang="en-US" sz="1200" dirty="0"/>
          </a:p>
        </p:txBody>
      </p:sp>
      <p:sp>
        <p:nvSpPr>
          <p:cNvPr id="19" name="Shape 17"/>
          <p:cNvSpPr/>
          <p:nvPr/>
        </p:nvSpPr>
        <p:spPr>
          <a:xfrm>
            <a:off x="5376672" y="1719072"/>
            <a:ext cx="585216" cy="603504"/>
          </a:xfrm>
          <a:prstGeom prst="roundRect">
            <a:avLst>
              <a:gd name="adj" fmla="val 9375"/>
            </a:avLst>
          </a:prstGeom>
          <a:solidFill>
            <a:srgbClr val="4C7A62"/>
          </a:solidFill>
          <a:ln w="12700">
            <a:solidFill>
              <a:srgbClr val="4C7A62"/>
            </a:solidFill>
            <a:prstDash val="solid"/>
          </a:ln>
        </p:spPr>
      </p:sp>
      <p:sp>
        <p:nvSpPr>
          <p:cNvPr id="20" name="Text 18"/>
          <p:cNvSpPr txBox="1"/>
          <p:nvPr/>
        </p:nvSpPr>
        <p:spPr>
          <a:xfrm>
            <a:off x="5376672" y="1719072"/>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1.05</a:t>
            </a:r>
            <a:endParaRPr lang="en-US" sz="1200" dirty="0"/>
          </a:p>
        </p:txBody>
      </p:sp>
      <p:sp>
        <p:nvSpPr>
          <p:cNvPr id="21" name="Shape 19"/>
          <p:cNvSpPr/>
          <p:nvPr/>
        </p:nvSpPr>
        <p:spPr>
          <a:xfrm>
            <a:off x="6016752" y="1719072"/>
            <a:ext cx="585216" cy="603504"/>
          </a:xfrm>
          <a:prstGeom prst="roundRect">
            <a:avLst>
              <a:gd name="adj" fmla="val 9375"/>
            </a:avLst>
          </a:prstGeom>
          <a:solidFill>
            <a:srgbClr val="4D7A62"/>
          </a:solidFill>
          <a:ln w="12700">
            <a:solidFill>
              <a:srgbClr val="4D7A62"/>
            </a:solidFill>
            <a:prstDash val="solid"/>
          </a:ln>
        </p:spPr>
      </p:sp>
      <p:sp>
        <p:nvSpPr>
          <p:cNvPr id="22" name="Text 20"/>
          <p:cNvSpPr txBox="1"/>
          <p:nvPr/>
        </p:nvSpPr>
        <p:spPr>
          <a:xfrm>
            <a:off x="6016752" y="1719072"/>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1.05</a:t>
            </a:r>
            <a:endParaRPr lang="en-US" sz="1200" dirty="0"/>
          </a:p>
        </p:txBody>
      </p:sp>
      <p:sp>
        <p:nvSpPr>
          <p:cNvPr id="23" name="Shape 21"/>
          <p:cNvSpPr/>
          <p:nvPr/>
        </p:nvSpPr>
        <p:spPr>
          <a:xfrm>
            <a:off x="6656832" y="1719072"/>
            <a:ext cx="585216" cy="603504"/>
          </a:xfrm>
          <a:prstGeom prst="roundRect">
            <a:avLst>
              <a:gd name="adj" fmla="val 9375"/>
            </a:avLst>
          </a:prstGeom>
          <a:solidFill>
            <a:srgbClr val="124D2E"/>
          </a:solidFill>
          <a:ln w="12700">
            <a:solidFill>
              <a:srgbClr val="124D2E"/>
            </a:solidFill>
            <a:prstDash val="solid"/>
          </a:ln>
        </p:spPr>
      </p:sp>
      <p:sp>
        <p:nvSpPr>
          <p:cNvPr id="24" name="Text 22"/>
          <p:cNvSpPr txBox="1"/>
          <p:nvPr/>
        </p:nvSpPr>
        <p:spPr>
          <a:xfrm>
            <a:off x="6656832" y="1719072"/>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1.22</a:t>
            </a:r>
            <a:endParaRPr lang="en-US" sz="1200" dirty="0"/>
          </a:p>
        </p:txBody>
      </p:sp>
      <p:sp>
        <p:nvSpPr>
          <p:cNvPr id="25" name="Shape 23"/>
          <p:cNvSpPr/>
          <p:nvPr/>
        </p:nvSpPr>
        <p:spPr>
          <a:xfrm>
            <a:off x="7296912" y="1719072"/>
            <a:ext cx="585216" cy="603504"/>
          </a:xfrm>
          <a:prstGeom prst="roundRect">
            <a:avLst>
              <a:gd name="adj" fmla="val 9375"/>
            </a:avLst>
          </a:prstGeom>
          <a:solidFill>
            <a:srgbClr val="43735A"/>
          </a:solidFill>
          <a:ln w="12700">
            <a:solidFill>
              <a:srgbClr val="43735A"/>
            </a:solidFill>
            <a:prstDash val="solid"/>
          </a:ln>
        </p:spPr>
      </p:sp>
      <p:sp>
        <p:nvSpPr>
          <p:cNvPr id="26" name="Text 24"/>
          <p:cNvSpPr txBox="1"/>
          <p:nvPr/>
        </p:nvSpPr>
        <p:spPr>
          <a:xfrm>
            <a:off x="7296912" y="1719072"/>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1.08</a:t>
            </a:r>
            <a:endParaRPr lang="en-US" sz="1200" dirty="0"/>
          </a:p>
        </p:txBody>
      </p:sp>
      <p:sp>
        <p:nvSpPr>
          <p:cNvPr id="27" name="Shape 25"/>
          <p:cNvSpPr/>
          <p:nvPr/>
        </p:nvSpPr>
        <p:spPr>
          <a:xfrm>
            <a:off x="7936992" y="1719072"/>
            <a:ext cx="585216" cy="603504"/>
          </a:xfrm>
          <a:prstGeom prst="roundRect">
            <a:avLst>
              <a:gd name="adj" fmla="val 9375"/>
            </a:avLst>
          </a:prstGeom>
          <a:solidFill>
            <a:srgbClr val="618A74"/>
          </a:solidFill>
          <a:ln w="12700">
            <a:solidFill>
              <a:srgbClr val="618A74"/>
            </a:solidFill>
            <a:prstDash val="solid"/>
          </a:ln>
        </p:spPr>
      </p:sp>
      <p:sp>
        <p:nvSpPr>
          <p:cNvPr id="28" name="Text 26"/>
          <p:cNvSpPr txBox="1"/>
          <p:nvPr/>
        </p:nvSpPr>
        <p:spPr>
          <a:xfrm>
            <a:off x="7936992" y="1719072"/>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0.99</a:t>
            </a:r>
            <a:endParaRPr lang="en-US" sz="1200" dirty="0"/>
          </a:p>
        </p:txBody>
      </p:sp>
      <p:sp>
        <p:nvSpPr>
          <p:cNvPr id="29" name="Text 27"/>
          <p:cNvSpPr txBox="1"/>
          <p:nvPr/>
        </p:nvSpPr>
        <p:spPr>
          <a:xfrm>
            <a:off x="3383280" y="2350008"/>
            <a:ext cx="640080" cy="658368"/>
          </a:xfrm>
          <a:prstGeom prst="rect">
            <a:avLst/>
          </a:prstGeom>
          <a:noFill/>
          <a:ln/>
        </p:spPr>
        <p:txBody>
          <a:bodyPr wrap="square" lIns="0" tIns="0" rIns="0" bIns="0" rtlCol="0" anchor="ctr"/>
          <a:lstStyle/>
          <a:p>
            <a:pPr algn="r" indent="0" marL="0">
              <a:buNone/>
            </a:pPr>
            <a:r>
              <a:rPr lang="en-US" sz="1000" b="1" dirty="0">
                <a:solidFill>
                  <a:srgbClr val="4D5A52"/>
                </a:solidFill>
                <a:latin typeface="Arial" pitchFamily="34" charset="0"/>
                <a:ea typeface="Arial" pitchFamily="34" charset="-122"/>
                <a:cs typeface="Arial" pitchFamily="34" charset="-120"/>
              </a:rPr>
              <a:t>Cloudy</a:t>
            </a:r>
            <a:endParaRPr lang="en-US" sz="1000" dirty="0"/>
          </a:p>
        </p:txBody>
      </p:sp>
      <p:sp>
        <p:nvSpPr>
          <p:cNvPr id="30" name="Shape 28"/>
          <p:cNvSpPr/>
          <p:nvPr/>
        </p:nvSpPr>
        <p:spPr>
          <a:xfrm>
            <a:off x="4096512" y="2377440"/>
            <a:ext cx="585216" cy="603504"/>
          </a:xfrm>
          <a:prstGeom prst="roundRect">
            <a:avLst>
              <a:gd name="adj" fmla="val 9375"/>
            </a:avLst>
          </a:prstGeom>
          <a:solidFill>
            <a:srgbClr val="628B75"/>
          </a:solidFill>
          <a:ln w="12700">
            <a:solidFill>
              <a:srgbClr val="628B75"/>
            </a:solidFill>
            <a:prstDash val="solid"/>
          </a:ln>
        </p:spPr>
      </p:sp>
      <p:sp>
        <p:nvSpPr>
          <p:cNvPr id="31" name="Text 29"/>
          <p:cNvSpPr txBox="1"/>
          <p:nvPr/>
        </p:nvSpPr>
        <p:spPr>
          <a:xfrm>
            <a:off x="4096512" y="2377440"/>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0.99</a:t>
            </a:r>
            <a:endParaRPr lang="en-US" sz="1200" dirty="0"/>
          </a:p>
        </p:txBody>
      </p:sp>
      <p:sp>
        <p:nvSpPr>
          <p:cNvPr id="32" name="Shape 30"/>
          <p:cNvSpPr/>
          <p:nvPr/>
        </p:nvSpPr>
        <p:spPr>
          <a:xfrm>
            <a:off x="4736592" y="2377440"/>
            <a:ext cx="585216" cy="603504"/>
          </a:xfrm>
          <a:prstGeom prst="roundRect">
            <a:avLst>
              <a:gd name="adj" fmla="val 9375"/>
            </a:avLst>
          </a:prstGeom>
          <a:solidFill>
            <a:srgbClr val="749986"/>
          </a:solidFill>
          <a:ln w="12700">
            <a:solidFill>
              <a:srgbClr val="749986"/>
            </a:solidFill>
            <a:prstDash val="solid"/>
          </a:ln>
        </p:spPr>
      </p:sp>
      <p:sp>
        <p:nvSpPr>
          <p:cNvPr id="33" name="Text 31"/>
          <p:cNvSpPr txBox="1"/>
          <p:nvPr/>
        </p:nvSpPr>
        <p:spPr>
          <a:xfrm>
            <a:off x="4736592" y="2377440"/>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0.94</a:t>
            </a:r>
            <a:endParaRPr lang="en-US" sz="1200" dirty="0"/>
          </a:p>
        </p:txBody>
      </p:sp>
      <p:sp>
        <p:nvSpPr>
          <p:cNvPr id="34" name="Shape 32"/>
          <p:cNvSpPr/>
          <p:nvPr/>
        </p:nvSpPr>
        <p:spPr>
          <a:xfrm>
            <a:off x="5376672" y="2377440"/>
            <a:ext cx="585216" cy="603504"/>
          </a:xfrm>
          <a:prstGeom prst="roundRect">
            <a:avLst>
              <a:gd name="adj" fmla="val 9375"/>
            </a:avLst>
          </a:prstGeom>
          <a:solidFill>
            <a:srgbClr val="5F8973"/>
          </a:solidFill>
          <a:ln w="12700">
            <a:solidFill>
              <a:srgbClr val="5F8973"/>
            </a:solidFill>
            <a:prstDash val="solid"/>
          </a:ln>
        </p:spPr>
      </p:sp>
      <p:sp>
        <p:nvSpPr>
          <p:cNvPr id="35" name="Text 33"/>
          <p:cNvSpPr txBox="1"/>
          <p:nvPr/>
        </p:nvSpPr>
        <p:spPr>
          <a:xfrm>
            <a:off x="5376672" y="2377440"/>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1.00</a:t>
            </a:r>
            <a:endParaRPr lang="en-US" sz="1200" dirty="0"/>
          </a:p>
        </p:txBody>
      </p:sp>
      <p:sp>
        <p:nvSpPr>
          <p:cNvPr id="36" name="Shape 34"/>
          <p:cNvSpPr/>
          <p:nvPr/>
        </p:nvSpPr>
        <p:spPr>
          <a:xfrm>
            <a:off x="6016752" y="2377440"/>
            <a:ext cx="585216" cy="603504"/>
          </a:xfrm>
          <a:prstGeom prst="roundRect">
            <a:avLst>
              <a:gd name="adj" fmla="val 9375"/>
            </a:avLst>
          </a:prstGeom>
          <a:solidFill>
            <a:srgbClr val="537F68"/>
          </a:solidFill>
          <a:ln w="12700">
            <a:solidFill>
              <a:srgbClr val="537F68"/>
            </a:solidFill>
            <a:prstDash val="solid"/>
          </a:ln>
        </p:spPr>
      </p:sp>
      <p:sp>
        <p:nvSpPr>
          <p:cNvPr id="37" name="Text 35"/>
          <p:cNvSpPr txBox="1"/>
          <p:nvPr/>
        </p:nvSpPr>
        <p:spPr>
          <a:xfrm>
            <a:off x="6016752" y="2377440"/>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1.03</a:t>
            </a:r>
            <a:endParaRPr lang="en-US" sz="1200" dirty="0"/>
          </a:p>
        </p:txBody>
      </p:sp>
      <p:sp>
        <p:nvSpPr>
          <p:cNvPr id="38" name="Shape 36"/>
          <p:cNvSpPr/>
          <p:nvPr/>
        </p:nvSpPr>
        <p:spPr>
          <a:xfrm>
            <a:off x="6656832" y="2377440"/>
            <a:ext cx="585216" cy="603504"/>
          </a:xfrm>
          <a:prstGeom prst="roundRect">
            <a:avLst>
              <a:gd name="adj" fmla="val 9375"/>
            </a:avLst>
          </a:prstGeom>
          <a:solidFill>
            <a:srgbClr val="275D40"/>
          </a:solidFill>
          <a:ln w="12700">
            <a:solidFill>
              <a:srgbClr val="275D40"/>
            </a:solidFill>
            <a:prstDash val="solid"/>
          </a:ln>
        </p:spPr>
      </p:sp>
      <p:sp>
        <p:nvSpPr>
          <p:cNvPr id="39" name="Text 37"/>
          <p:cNvSpPr txBox="1"/>
          <p:nvPr/>
        </p:nvSpPr>
        <p:spPr>
          <a:xfrm>
            <a:off x="6656832" y="2377440"/>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1.16</a:t>
            </a:r>
            <a:endParaRPr lang="en-US" sz="1200" dirty="0"/>
          </a:p>
        </p:txBody>
      </p:sp>
      <p:sp>
        <p:nvSpPr>
          <p:cNvPr id="40" name="Shape 38"/>
          <p:cNvSpPr/>
          <p:nvPr/>
        </p:nvSpPr>
        <p:spPr>
          <a:xfrm>
            <a:off x="7296912" y="2377440"/>
            <a:ext cx="585216" cy="603504"/>
          </a:xfrm>
          <a:prstGeom prst="roundRect">
            <a:avLst>
              <a:gd name="adj" fmla="val 9375"/>
            </a:avLst>
          </a:prstGeom>
          <a:solidFill>
            <a:srgbClr val="527E67"/>
          </a:solidFill>
          <a:ln w="12700">
            <a:solidFill>
              <a:srgbClr val="527E67"/>
            </a:solidFill>
            <a:prstDash val="solid"/>
          </a:ln>
        </p:spPr>
      </p:sp>
      <p:sp>
        <p:nvSpPr>
          <p:cNvPr id="41" name="Text 39"/>
          <p:cNvSpPr txBox="1"/>
          <p:nvPr/>
        </p:nvSpPr>
        <p:spPr>
          <a:xfrm>
            <a:off x="7296912" y="2377440"/>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1.04</a:t>
            </a:r>
            <a:endParaRPr lang="en-US" sz="1200" dirty="0"/>
          </a:p>
        </p:txBody>
      </p:sp>
      <p:sp>
        <p:nvSpPr>
          <p:cNvPr id="42" name="Shape 40"/>
          <p:cNvSpPr/>
          <p:nvPr/>
        </p:nvSpPr>
        <p:spPr>
          <a:xfrm>
            <a:off x="7936992" y="2377440"/>
            <a:ext cx="585216" cy="603504"/>
          </a:xfrm>
          <a:prstGeom prst="roundRect">
            <a:avLst>
              <a:gd name="adj" fmla="val 9375"/>
            </a:avLst>
          </a:prstGeom>
          <a:solidFill>
            <a:srgbClr val="6D9480"/>
          </a:solidFill>
          <a:ln w="12700">
            <a:solidFill>
              <a:srgbClr val="6D9480"/>
            </a:solidFill>
            <a:prstDash val="solid"/>
          </a:ln>
        </p:spPr>
      </p:sp>
      <p:sp>
        <p:nvSpPr>
          <p:cNvPr id="43" name="Text 41"/>
          <p:cNvSpPr txBox="1"/>
          <p:nvPr/>
        </p:nvSpPr>
        <p:spPr>
          <a:xfrm>
            <a:off x="7936992" y="2377440"/>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0.95</a:t>
            </a:r>
            <a:endParaRPr lang="en-US" sz="1200" dirty="0"/>
          </a:p>
        </p:txBody>
      </p:sp>
      <p:sp>
        <p:nvSpPr>
          <p:cNvPr id="44" name="Text 42"/>
          <p:cNvSpPr txBox="1"/>
          <p:nvPr/>
        </p:nvSpPr>
        <p:spPr>
          <a:xfrm>
            <a:off x="3383280" y="3008376"/>
            <a:ext cx="640080" cy="658368"/>
          </a:xfrm>
          <a:prstGeom prst="rect">
            <a:avLst/>
          </a:prstGeom>
          <a:noFill/>
          <a:ln/>
        </p:spPr>
        <p:txBody>
          <a:bodyPr wrap="square" lIns="0" tIns="0" rIns="0" bIns="0" rtlCol="0" anchor="ctr"/>
          <a:lstStyle/>
          <a:p>
            <a:pPr algn="r" indent="0" marL="0">
              <a:buNone/>
            </a:pPr>
            <a:r>
              <a:rPr lang="en-US" sz="1000" b="1" dirty="0">
                <a:solidFill>
                  <a:srgbClr val="4D5A52"/>
                </a:solidFill>
                <a:latin typeface="Arial" pitchFamily="34" charset="0"/>
                <a:ea typeface="Arial" pitchFamily="34" charset="-122"/>
                <a:cs typeface="Arial" pitchFamily="34" charset="-120"/>
              </a:rPr>
              <a:t>Rain</a:t>
            </a:r>
            <a:endParaRPr lang="en-US" sz="1000" dirty="0"/>
          </a:p>
        </p:txBody>
      </p:sp>
      <p:sp>
        <p:nvSpPr>
          <p:cNvPr id="45" name="Shape 43"/>
          <p:cNvSpPr/>
          <p:nvPr/>
        </p:nvSpPr>
        <p:spPr>
          <a:xfrm>
            <a:off x="4096512" y="3035808"/>
            <a:ext cx="585216" cy="603504"/>
          </a:xfrm>
          <a:prstGeom prst="roundRect">
            <a:avLst>
              <a:gd name="adj" fmla="val 9375"/>
            </a:avLst>
          </a:prstGeom>
          <a:solidFill>
            <a:srgbClr val="8BAB9A"/>
          </a:solidFill>
          <a:ln w="12700">
            <a:solidFill>
              <a:srgbClr val="8BAB9A"/>
            </a:solidFill>
            <a:prstDash val="solid"/>
          </a:ln>
        </p:spPr>
      </p:sp>
      <p:sp>
        <p:nvSpPr>
          <p:cNvPr id="46" name="Text 44"/>
          <p:cNvSpPr txBox="1"/>
          <p:nvPr/>
        </p:nvSpPr>
        <p:spPr>
          <a:xfrm>
            <a:off x="4096512" y="3035808"/>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0.87</a:t>
            </a:r>
            <a:endParaRPr lang="en-US" sz="1200" dirty="0"/>
          </a:p>
        </p:txBody>
      </p:sp>
      <p:sp>
        <p:nvSpPr>
          <p:cNvPr id="47" name="Shape 45"/>
          <p:cNvSpPr/>
          <p:nvPr/>
        </p:nvSpPr>
        <p:spPr>
          <a:xfrm>
            <a:off x="4736592" y="3035808"/>
            <a:ext cx="585216" cy="603504"/>
          </a:xfrm>
          <a:prstGeom prst="roundRect">
            <a:avLst>
              <a:gd name="adj" fmla="val 9375"/>
            </a:avLst>
          </a:prstGeom>
          <a:solidFill>
            <a:srgbClr val="90AF9F"/>
          </a:solidFill>
          <a:ln w="12700">
            <a:solidFill>
              <a:srgbClr val="90AF9F"/>
            </a:solidFill>
            <a:prstDash val="solid"/>
          </a:ln>
        </p:spPr>
      </p:sp>
      <p:sp>
        <p:nvSpPr>
          <p:cNvPr id="48" name="Text 46"/>
          <p:cNvSpPr txBox="1"/>
          <p:nvPr/>
        </p:nvSpPr>
        <p:spPr>
          <a:xfrm>
            <a:off x="4736592" y="3035808"/>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0.85</a:t>
            </a:r>
            <a:endParaRPr lang="en-US" sz="1200" dirty="0"/>
          </a:p>
        </p:txBody>
      </p:sp>
      <p:sp>
        <p:nvSpPr>
          <p:cNvPr id="49" name="Shape 47"/>
          <p:cNvSpPr/>
          <p:nvPr/>
        </p:nvSpPr>
        <p:spPr>
          <a:xfrm>
            <a:off x="5376672" y="3035808"/>
            <a:ext cx="585216" cy="603504"/>
          </a:xfrm>
          <a:prstGeom prst="roundRect">
            <a:avLst>
              <a:gd name="adj" fmla="val 9375"/>
            </a:avLst>
          </a:prstGeom>
          <a:solidFill>
            <a:srgbClr val="7EA18F"/>
          </a:solidFill>
          <a:ln w="12700">
            <a:solidFill>
              <a:srgbClr val="7EA18F"/>
            </a:solidFill>
            <a:prstDash val="solid"/>
          </a:ln>
        </p:spPr>
      </p:sp>
      <p:sp>
        <p:nvSpPr>
          <p:cNvPr id="50" name="Text 48"/>
          <p:cNvSpPr txBox="1"/>
          <p:nvPr/>
        </p:nvSpPr>
        <p:spPr>
          <a:xfrm>
            <a:off x="5376672" y="3035808"/>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0.91</a:t>
            </a:r>
            <a:endParaRPr lang="en-US" sz="1200" dirty="0"/>
          </a:p>
        </p:txBody>
      </p:sp>
      <p:sp>
        <p:nvSpPr>
          <p:cNvPr id="51" name="Shape 49"/>
          <p:cNvSpPr/>
          <p:nvPr/>
        </p:nvSpPr>
        <p:spPr>
          <a:xfrm>
            <a:off x="6016752" y="3035808"/>
            <a:ext cx="585216" cy="603504"/>
          </a:xfrm>
          <a:prstGeom prst="roundRect">
            <a:avLst>
              <a:gd name="adj" fmla="val 9375"/>
            </a:avLst>
          </a:prstGeom>
          <a:solidFill>
            <a:srgbClr val="82A391"/>
          </a:solidFill>
          <a:ln w="12700">
            <a:solidFill>
              <a:srgbClr val="82A391"/>
            </a:solidFill>
            <a:prstDash val="solid"/>
          </a:ln>
        </p:spPr>
      </p:sp>
      <p:sp>
        <p:nvSpPr>
          <p:cNvPr id="52" name="Text 50"/>
          <p:cNvSpPr txBox="1"/>
          <p:nvPr/>
        </p:nvSpPr>
        <p:spPr>
          <a:xfrm>
            <a:off x="6016752" y="3035808"/>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0.90</a:t>
            </a:r>
            <a:endParaRPr lang="en-US" sz="1200" dirty="0"/>
          </a:p>
        </p:txBody>
      </p:sp>
      <p:sp>
        <p:nvSpPr>
          <p:cNvPr id="53" name="Shape 51"/>
          <p:cNvSpPr/>
          <p:nvPr/>
        </p:nvSpPr>
        <p:spPr>
          <a:xfrm>
            <a:off x="6656832" y="3035808"/>
            <a:ext cx="585216" cy="603504"/>
          </a:xfrm>
          <a:prstGeom prst="roundRect">
            <a:avLst>
              <a:gd name="adj" fmla="val 9375"/>
            </a:avLst>
          </a:prstGeom>
          <a:solidFill>
            <a:srgbClr val="4D7B63"/>
          </a:solidFill>
          <a:ln w="12700">
            <a:solidFill>
              <a:srgbClr val="4D7B63"/>
            </a:solidFill>
            <a:prstDash val="solid"/>
          </a:ln>
        </p:spPr>
      </p:sp>
      <p:sp>
        <p:nvSpPr>
          <p:cNvPr id="54" name="Text 52"/>
          <p:cNvSpPr txBox="1"/>
          <p:nvPr/>
        </p:nvSpPr>
        <p:spPr>
          <a:xfrm>
            <a:off x="6656832" y="3035808"/>
            <a:ext cx="585216"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1.05</a:t>
            </a:r>
            <a:endParaRPr lang="en-US" sz="1200" dirty="0"/>
          </a:p>
        </p:txBody>
      </p:sp>
      <p:sp>
        <p:nvSpPr>
          <p:cNvPr id="55" name="Shape 53"/>
          <p:cNvSpPr/>
          <p:nvPr/>
        </p:nvSpPr>
        <p:spPr>
          <a:xfrm>
            <a:off x="7296912" y="3035808"/>
            <a:ext cx="585216" cy="603504"/>
          </a:xfrm>
          <a:prstGeom prst="roundRect">
            <a:avLst>
              <a:gd name="adj" fmla="val 9375"/>
            </a:avLst>
          </a:prstGeom>
          <a:solidFill>
            <a:srgbClr val="7A9D8B"/>
          </a:solidFill>
          <a:ln w="12700">
            <a:solidFill>
              <a:srgbClr val="7A9D8B"/>
            </a:solidFill>
            <a:prstDash val="solid"/>
          </a:ln>
        </p:spPr>
      </p:sp>
      <p:sp>
        <p:nvSpPr>
          <p:cNvPr id="56" name="Text 54"/>
          <p:cNvSpPr txBox="1"/>
          <p:nvPr/>
        </p:nvSpPr>
        <p:spPr>
          <a:xfrm>
            <a:off x="7296912" y="3035808"/>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0.92</a:t>
            </a:r>
            <a:endParaRPr lang="en-US" sz="1200" dirty="0"/>
          </a:p>
        </p:txBody>
      </p:sp>
      <p:sp>
        <p:nvSpPr>
          <p:cNvPr id="57" name="Shape 55"/>
          <p:cNvSpPr/>
          <p:nvPr/>
        </p:nvSpPr>
        <p:spPr>
          <a:xfrm>
            <a:off x="7936992" y="3035808"/>
            <a:ext cx="585216" cy="603504"/>
          </a:xfrm>
          <a:prstGeom prst="roundRect">
            <a:avLst>
              <a:gd name="adj" fmla="val 9375"/>
            </a:avLst>
          </a:prstGeom>
          <a:solidFill>
            <a:srgbClr val="94B2A2"/>
          </a:solidFill>
          <a:ln w="12700">
            <a:solidFill>
              <a:srgbClr val="94B2A2"/>
            </a:solidFill>
            <a:prstDash val="solid"/>
          </a:ln>
        </p:spPr>
      </p:sp>
      <p:sp>
        <p:nvSpPr>
          <p:cNvPr id="58" name="Text 56"/>
          <p:cNvSpPr txBox="1"/>
          <p:nvPr/>
        </p:nvSpPr>
        <p:spPr>
          <a:xfrm>
            <a:off x="7936992" y="3035808"/>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0.84</a:t>
            </a:r>
            <a:endParaRPr lang="en-US" sz="1200" dirty="0"/>
          </a:p>
        </p:txBody>
      </p:sp>
      <p:sp>
        <p:nvSpPr>
          <p:cNvPr id="59" name="Text 57"/>
          <p:cNvSpPr txBox="1"/>
          <p:nvPr/>
        </p:nvSpPr>
        <p:spPr>
          <a:xfrm>
            <a:off x="3383280" y="3666744"/>
            <a:ext cx="640080" cy="658368"/>
          </a:xfrm>
          <a:prstGeom prst="rect">
            <a:avLst/>
          </a:prstGeom>
          <a:noFill/>
          <a:ln/>
        </p:spPr>
        <p:txBody>
          <a:bodyPr wrap="square" lIns="0" tIns="0" rIns="0" bIns="0" rtlCol="0" anchor="ctr"/>
          <a:lstStyle/>
          <a:p>
            <a:pPr algn="r" indent="0" marL="0">
              <a:buNone/>
            </a:pPr>
            <a:r>
              <a:rPr lang="en-US" sz="1000" b="1" dirty="0">
                <a:solidFill>
                  <a:srgbClr val="4D5A52"/>
                </a:solidFill>
                <a:latin typeface="Arial" pitchFamily="34" charset="0"/>
                <a:ea typeface="Arial" pitchFamily="34" charset="-122"/>
                <a:cs typeface="Arial" pitchFamily="34" charset="-120"/>
              </a:rPr>
              <a:t>Snow</a:t>
            </a:r>
            <a:endParaRPr lang="en-US" sz="1000" dirty="0"/>
          </a:p>
        </p:txBody>
      </p:sp>
      <p:sp>
        <p:nvSpPr>
          <p:cNvPr id="60" name="Shape 58"/>
          <p:cNvSpPr/>
          <p:nvPr/>
        </p:nvSpPr>
        <p:spPr>
          <a:xfrm>
            <a:off x="4096512" y="3694176"/>
            <a:ext cx="585216" cy="603504"/>
          </a:xfrm>
          <a:prstGeom prst="roundRect">
            <a:avLst>
              <a:gd name="adj" fmla="val 9375"/>
            </a:avLst>
          </a:prstGeom>
          <a:solidFill>
            <a:srgbClr val="DBE8E1"/>
          </a:solidFill>
          <a:ln w="12700">
            <a:solidFill>
              <a:srgbClr val="DBE8E1"/>
            </a:solidFill>
            <a:prstDash val="solid"/>
          </a:ln>
        </p:spPr>
      </p:sp>
      <p:sp>
        <p:nvSpPr>
          <p:cNvPr id="61" name="Text 59"/>
          <p:cNvSpPr txBox="1"/>
          <p:nvPr/>
        </p:nvSpPr>
        <p:spPr>
          <a:xfrm>
            <a:off x="4096512" y="3694176"/>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0.64</a:t>
            </a:r>
            <a:endParaRPr lang="en-US" sz="1200" dirty="0"/>
          </a:p>
        </p:txBody>
      </p:sp>
      <p:sp>
        <p:nvSpPr>
          <p:cNvPr id="62" name="Shape 60"/>
          <p:cNvSpPr/>
          <p:nvPr/>
        </p:nvSpPr>
        <p:spPr>
          <a:xfrm>
            <a:off x="4736592" y="3694176"/>
            <a:ext cx="585216" cy="603504"/>
          </a:xfrm>
          <a:prstGeom prst="roundRect">
            <a:avLst>
              <a:gd name="adj" fmla="val 9375"/>
            </a:avLst>
          </a:prstGeom>
          <a:solidFill>
            <a:srgbClr val="F8F9F6"/>
          </a:solidFill>
          <a:ln w="9525">
            <a:solidFill>
              <a:srgbClr val="E3E7E2"/>
            </a:solidFill>
            <a:prstDash val="dash"/>
          </a:ln>
        </p:spPr>
      </p:sp>
      <p:sp>
        <p:nvSpPr>
          <p:cNvPr id="63" name="Text 61"/>
          <p:cNvSpPr txBox="1"/>
          <p:nvPr/>
        </p:nvSpPr>
        <p:spPr>
          <a:xfrm>
            <a:off x="4736592" y="3694176"/>
            <a:ext cx="585216" cy="603504"/>
          </a:xfrm>
          <a:prstGeom prst="rect">
            <a:avLst/>
          </a:prstGeom>
          <a:noFill/>
          <a:ln/>
        </p:spPr>
        <p:txBody>
          <a:bodyPr wrap="square" lIns="0" tIns="0" rIns="0" bIns="0" rtlCol="0" anchor="ctr"/>
          <a:lstStyle/>
          <a:p>
            <a:pPr algn="ctr" indent="0" marL="0">
              <a:buNone/>
            </a:pPr>
            <a:r>
              <a:rPr lang="en-US" sz="800" dirty="0">
                <a:solidFill>
                  <a:srgbClr val="7D8A81"/>
                </a:solidFill>
                <a:latin typeface="Arial" pitchFamily="34" charset="0"/>
                <a:ea typeface="Arial" pitchFamily="34" charset="-122"/>
                <a:cs typeface="Arial" pitchFamily="34" charset="-120"/>
              </a:rPr>
              <a:t>n/a</a:t>
            </a:r>
            <a:endParaRPr lang="en-US" sz="800" dirty="0"/>
          </a:p>
        </p:txBody>
      </p:sp>
      <p:sp>
        <p:nvSpPr>
          <p:cNvPr id="64" name="Shape 62"/>
          <p:cNvSpPr/>
          <p:nvPr/>
        </p:nvSpPr>
        <p:spPr>
          <a:xfrm>
            <a:off x="5376672" y="3694176"/>
            <a:ext cx="585216" cy="603504"/>
          </a:xfrm>
          <a:prstGeom prst="roundRect">
            <a:avLst>
              <a:gd name="adj" fmla="val 9375"/>
            </a:avLst>
          </a:prstGeom>
          <a:solidFill>
            <a:srgbClr val="F8F9F6"/>
          </a:solidFill>
          <a:ln w="9525">
            <a:solidFill>
              <a:srgbClr val="E3E7E2"/>
            </a:solidFill>
            <a:prstDash val="dash"/>
          </a:ln>
        </p:spPr>
      </p:sp>
      <p:sp>
        <p:nvSpPr>
          <p:cNvPr id="65" name="Text 63"/>
          <p:cNvSpPr txBox="1"/>
          <p:nvPr/>
        </p:nvSpPr>
        <p:spPr>
          <a:xfrm>
            <a:off x="5376672" y="3694176"/>
            <a:ext cx="585216" cy="603504"/>
          </a:xfrm>
          <a:prstGeom prst="rect">
            <a:avLst/>
          </a:prstGeom>
          <a:noFill/>
          <a:ln/>
        </p:spPr>
        <p:txBody>
          <a:bodyPr wrap="square" lIns="0" tIns="0" rIns="0" bIns="0" rtlCol="0" anchor="ctr"/>
          <a:lstStyle/>
          <a:p>
            <a:pPr algn="ctr" indent="0" marL="0">
              <a:buNone/>
            </a:pPr>
            <a:r>
              <a:rPr lang="en-US" sz="800" dirty="0">
                <a:solidFill>
                  <a:srgbClr val="7D8A81"/>
                </a:solidFill>
                <a:latin typeface="Arial" pitchFamily="34" charset="0"/>
                <a:ea typeface="Arial" pitchFamily="34" charset="-122"/>
                <a:cs typeface="Arial" pitchFamily="34" charset="-120"/>
              </a:rPr>
              <a:t>n/a</a:t>
            </a:r>
            <a:endParaRPr lang="en-US" sz="800" dirty="0"/>
          </a:p>
        </p:txBody>
      </p:sp>
      <p:sp>
        <p:nvSpPr>
          <p:cNvPr id="66" name="Shape 64"/>
          <p:cNvSpPr/>
          <p:nvPr/>
        </p:nvSpPr>
        <p:spPr>
          <a:xfrm>
            <a:off x="6016752" y="3694176"/>
            <a:ext cx="585216" cy="603504"/>
          </a:xfrm>
          <a:prstGeom prst="roundRect">
            <a:avLst>
              <a:gd name="adj" fmla="val 9375"/>
            </a:avLst>
          </a:prstGeom>
          <a:solidFill>
            <a:srgbClr val="F8F9F6"/>
          </a:solidFill>
          <a:ln w="9525">
            <a:solidFill>
              <a:srgbClr val="E3E7E2"/>
            </a:solidFill>
            <a:prstDash val="dash"/>
          </a:ln>
        </p:spPr>
      </p:sp>
      <p:sp>
        <p:nvSpPr>
          <p:cNvPr id="67" name="Text 65"/>
          <p:cNvSpPr txBox="1"/>
          <p:nvPr/>
        </p:nvSpPr>
        <p:spPr>
          <a:xfrm>
            <a:off x="6016752" y="3694176"/>
            <a:ext cx="585216" cy="603504"/>
          </a:xfrm>
          <a:prstGeom prst="rect">
            <a:avLst/>
          </a:prstGeom>
          <a:noFill/>
          <a:ln/>
        </p:spPr>
        <p:txBody>
          <a:bodyPr wrap="square" lIns="0" tIns="0" rIns="0" bIns="0" rtlCol="0" anchor="ctr"/>
          <a:lstStyle/>
          <a:p>
            <a:pPr algn="ctr" indent="0" marL="0">
              <a:buNone/>
            </a:pPr>
            <a:r>
              <a:rPr lang="en-US" sz="800" dirty="0">
                <a:solidFill>
                  <a:srgbClr val="7D8A81"/>
                </a:solidFill>
                <a:latin typeface="Arial" pitchFamily="34" charset="0"/>
                <a:ea typeface="Arial" pitchFamily="34" charset="-122"/>
                <a:cs typeface="Arial" pitchFamily="34" charset="-120"/>
              </a:rPr>
              <a:t>n/a</a:t>
            </a:r>
            <a:endParaRPr lang="en-US" sz="800" dirty="0"/>
          </a:p>
        </p:txBody>
      </p:sp>
      <p:sp>
        <p:nvSpPr>
          <p:cNvPr id="68" name="Shape 66"/>
          <p:cNvSpPr/>
          <p:nvPr/>
        </p:nvSpPr>
        <p:spPr>
          <a:xfrm>
            <a:off x="6656832" y="3694176"/>
            <a:ext cx="585216" cy="603504"/>
          </a:xfrm>
          <a:prstGeom prst="roundRect">
            <a:avLst>
              <a:gd name="adj" fmla="val 9375"/>
            </a:avLst>
          </a:prstGeom>
          <a:solidFill>
            <a:srgbClr val="E7F2EC"/>
          </a:solidFill>
          <a:ln w="12700">
            <a:solidFill>
              <a:srgbClr val="E7F2EC"/>
            </a:solidFill>
            <a:prstDash val="solid"/>
          </a:ln>
        </p:spPr>
      </p:sp>
      <p:sp>
        <p:nvSpPr>
          <p:cNvPr id="69" name="Text 67"/>
          <p:cNvSpPr txBox="1"/>
          <p:nvPr/>
        </p:nvSpPr>
        <p:spPr>
          <a:xfrm>
            <a:off x="6656832" y="3694176"/>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0.60</a:t>
            </a:r>
            <a:endParaRPr lang="en-US" sz="1200" dirty="0"/>
          </a:p>
        </p:txBody>
      </p:sp>
      <p:sp>
        <p:nvSpPr>
          <p:cNvPr id="70" name="Shape 68"/>
          <p:cNvSpPr/>
          <p:nvPr/>
        </p:nvSpPr>
        <p:spPr>
          <a:xfrm>
            <a:off x="7296912" y="3694176"/>
            <a:ext cx="585216" cy="603504"/>
          </a:xfrm>
          <a:prstGeom prst="roundRect">
            <a:avLst>
              <a:gd name="adj" fmla="val 9375"/>
            </a:avLst>
          </a:prstGeom>
          <a:solidFill>
            <a:srgbClr val="F8F9F6"/>
          </a:solidFill>
          <a:ln w="9525">
            <a:solidFill>
              <a:srgbClr val="E3E7E2"/>
            </a:solidFill>
            <a:prstDash val="dash"/>
          </a:ln>
        </p:spPr>
      </p:sp>
      <p:sp>
        <p:nvSpPr>
          <p:cNvPr id="71" name="Text 69"/>
          <p:cNvSpPr txBox="1"/>
          <p:nvPr/>
        </p:nvSpPr>
        <p:spPr>
          <a:xfrm>
            <a:off x="7296912" y="3694176"/>
            <a:ext cx="585216" cy="603504"/>
          </a:xfrm>
          <a:prstGeom prst="rect">
            <a:avLst/>
          </a:prstGeom>
          <a:noFill/>
          <a:ln/>
        </p:spPr>
        <p:txBody>
          <a:bodyPr wrap="square" lIns="0" tIns="0" rIns="0" bIns="0" rtlCol="0" anchor="ctr"/>
          <a:lstStyle/>
          <a:p>
            <a:pPr algn="ctr" indent="0" marL="0">
              <a:buNone/>
            </a:pPr>
            <a:r>
              <a:rPr lang="en-US" sz="800" dirty="0">
                <a:solidFill>
                  <a:srgbClr val="7D8A81"/>
                </a:solidFill>
                <a:latin typeface="Arial" pitchFamily="34" charset="0"/>
                <a:ea typeface="Arial" pitchFamily="34" charset="-122"/>
                <a:cs typeface="Arial" pitchFamily="34" charset="-120"/>
              </a:rPr>
              <a:t>n/a</a:t>
            </a:r>
            <a:endParaRPr lang="en-US" sz="800" dirty="0"/>
          </a:p>
        </p:txBody>
      </p:sp>
      <p:sp>
        <p:nvSpPr>
          <p:cNvPr id="72" name="Shape 70"/>
          <p:cNvSpPr/>
          <p:nvPr/>
        </p:nvSpPr>
        <p:spPr>
          <a:xfrm>
            <a:off x="7936992" y="3694176"/>
            <a:ext cx="585216" cy="603504"/>
          </a:xfrm>
          <a:prstGeom prst="roundRect">
            <a:avLst>
              <a:gd name="adj" fmla="val 9375"/>
            </a:avLst>
          </a:prstGeom>
          <a:solidFill>
            <a:srgbClr val="E4EFE9"/>
          </a:solidFill>
          <a:ln w="12700">
            <a:solidFill>
              <a:srgbClr val="E4EFE9"/>
            </a:solidFill>
            <a:prstDash val="solid"/>
          </a:ln>
        </p:spPr>
      </p:sp>
      <p:sp>
        <p:nvSpPr>
          <p:cNvPr id="73" name="Text 71"/>
          <p:cNvSpPr txBox="1"/>
          <p:nvPr/>
        </p:nvSpPr>
        <p:spPr>
          <a:xfrm>
            <a:off x="7936992" y="3694176"/>
            <a:ext cx="585216" cy="603504"/>
          </a:xfrm>
          <a:prstGeom prst="rect">
            <a:avLst/>
          </a:prstGeom>
          <a:noFill/>
          <a:ln/>
        </p:spPr>
        <p:txBody>
          <a:bodyPr wrap="square" lIns="0" tIns="0" rIns="0" bIns="0" rtlCol="0" anchor="ctr"/>
          <a:lstStyle/>
          <a:p>
            <a:pPr algn="ctr" indent="0" marL="0">
              <a:buNone/>
            </a:pPr>
            <a:r>
              <a:rPr lang="en-US" sz="1200" b="1" dirty="0">
                <a:solidFill>
                  <a:srgbClr val="17211B"/>
                </a:solidFill>
                <a:latin typeface="Arial" pitchFamily="34" charset="0"/>
                <a:ea typeface="Arial" pitchFamily="34" charset="-122"/>
                <a:cs typeface="Arial" pitchFamily="34" charset="-120"/>
              </a:rPr>
              <a:t>0.61</a:t>
            </a:r>
            <a:endParaRPr lang="en-US" sz="1200" dirty="0"/>
          </a:p>
        </p:txBody>
      </p:sp>
      <p:sp>
        <p:nvSpPr>
          <p:cNvPr id="75" name="Text 7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THE PROBLEM, CONTINUED</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600" b="1" dirty="0">
                <a:solidFill>
                  <a:srgbClr val="17211B"/>
                </a:solidFill>
                <a:latin typeface="Arial" pitchFamily="34" charset="0"/>
                <a:ea typeface="Arial" pitchFamily="34" charset="-122"/>
                <a:cs typeface="Arial" pitchFamily="34" charset="-120"/>
              </a:rPr>
              <a:t>Each department has its own year</a:t>
            </a:r>
            <a:endParaRPr lang="en-US" sz="2600" dirty="0"/>
          </a:p>
        </p:txBody>
      </p:sp>
      <p:sp>
        <p:nvSpPr>
          <p:cNvPr id="4" name="Text 2"/>
          <p:cNvSpPr txBox="1"/>
          <p:nvPr/>
        </p:nvSpPr>
        <p:spPr>
          <a:xfrm>
            <a:off x="548640" y="1417320"/>
            <a:ext cx="2743200" cy="1463040"/>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7211B"/>
                </a:solidFill>
                <a:latin typeface="Calibri" pitchFamily="34" charset="0"/>
                <a:ea typeface="Calibri" pitchFamily="34" charset="-122"/>
                <a:cs typeface="Calibri" pitchFamily="34" charset="-120"/>
              </a:rPr>
              <a:t>Hot foods peak in winter, fresh foods in summer, bakery and pizza around the holidays. A trailing average lags each of these turns by weeks. A forecast that knows the calendar turns with them.</a:t>
            </a:r>
            <a:endParaRPr lang="en-US" sz="1250" dirty="0"/>
          </a:p>
        </p:txBody>
      </p:sp>
      <p:sp>
        <p:nvSpPr>
          <p:cNvPr id="5" name="Text 3"/>
          <p:cNvSpPr txBox="1"/>
          <p:nvPr/>
        </p:nvSpPr>
        <p:spPr>
          <a:xfrm>
            <a:off x="548640" y="3017520"/>
            <a:ext cx="2743200" cy="914400"/>
          </a:xfrm>
          <a:prstGeom prst="rect">
            <a:avLst/>
          </a:prstGeom>
          <a:noFill/>
          <a:ln/>
        </p:spPr>
        <p:txBody>
          <a:bodyPr wrap="square" lIns="0" tIns="0" rIns="0" bIns="0" rtlCol="0" anchor="t"/>
          <a:lstStyle/>
          <a:p>
            <a:pPr indent="0" marL="0">
              <a:lnSpc>
                <a:spcPct val="112000"/>
              </a:lnSpc>
              <a:spcAft>
                <a:spcPts val="600"/>
              </a:spcAft>
              <a:buNone/>
            </a:pPr>
            <a:r>
              <a:rPr lang="en-US" sz="950" dirty="0">
                <a:solidFill>
                  <a:srgbClr val="7D8A81"/>
                </a:solidFill>
                <a:latin typeface="Calibri" pitchFamily="34" charset="0"/>
                <a:ea typeface="Calibri" pitchFamily="34" charset="-122"/>
                <a:cs typeface="Calibri" pitchFamily="34" charset="-120"/>
              </a:rPr>
              <a:t>Monthly demand index by department in the simulated store, relative to each department's own average.</a:t>
            </a:r>
            <a:endParaRPr lang="en-US" sz="950" dirty="0"/>
          </a:p>
        </p:txBody>
      </p:sp>
      <p:sp>
        <p:nvSpPr>
          <p:cNvPr id="6" name="Text 4"/>
          <p:cNvSpPr txBox="1"/>
          <p:nvPr/>
        </p:nvSpPr>
        <p:spPr>
          <a:xfrm>
            <a:off x="3657600" y="1371600"/>
            <a:ext cx="2377440" cy="228600"/>
          </a:xfrm>
          <a:prstGeom prst="rect">
            <a:avLst/>
          </a:prstGeom>
          <a:noFill/>
          <a:ln/>
        </p:spPr>
        <p:txBody>
          <a:bodyPr wrap="square" lIns="0" tIns="0" rIns="0" bIns="0" rtlCol="0" anchor="ctr"/>
          <a:lstStyle/>
          <a:p>
            <a:pPr indent="0" marL="0">
              <a:buNone/>
            </a:pPr>
            <a:r>
              <a:rPr lang="en-US" sz="1050" b="1" dirty="0">
                <a:solidFill>
                  <a:srgbClr val="17211B"/>
                </a:solidFill>
                <a:latin typeface="Arial" pitchFamily="34" charset="0"/>
                <a:ea typeface="Arial" pitchFamily="34" charset="-122"/>
                <a:cs typeface="Arial" pitchFamily="34" charset="-120"/>
              </a:rPr>
              <a:t>Bakery</a:t>
            </a:r>
            <a:endParaRPr lang="en-US" sz="1050" dirty="0"/>
          </a:p>
        </p:txBody>
      </p:sp>
      <p:graphicFrame>
        <p:nvGraphicFramePr>
          <p:cNvPr id="7" name="Chart 0" descr=""/>
          <p:cNvGraphicFramePr/>
          <p:nvPr/>
        </p:nvGraphicFramePr>
        <p:xfrm>
          <a:off x="3566160" y="1572768"/>
          <a:ext cx="2514600" cy="14630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263640" y="1371600"/>
            <a:ext cx="2377440" cy="228600"/>
          </a:xfrm>
          <a:prstGeom prst="rect">
            <a:avLst/>
          </a:prstGeom>
          <a:noFill/>
          <a:ln/>
        </p:spPr>
        <p:txBody>
          <a:bodyPr wrap="square" lIns="0" tIns="0" rIns="0" bIns="0" rtlCol="0" anchor="ctr"/>
          <a:lstStyle/>
          <a:p>
            <a:pPr indent="0" marL="0">
              <a:buNone/>
            </a:pPr>
            <a:r>
              <a:rPr lang="en-US" sz="1050" b="1" dirty="0">
                <a:solidFill>
                  <a:srgbClr val="17211B"/>
                </a:solidFill>
                <a:latin typeface="Arial" pitchFamily="34" charset="0"/>
                <a:ea typeface="Arial" pitchFamily="34" charset="-122"/>
                <a:cs typeface="Arial" pitchFamily="34" charset="-120"/>
              </a:rPr>
              <a:t>Pizza</a:t>
            </a:r>
            <a:endParaRPr lang="en-US" sz="1050" dirty="0"/>
          </a:p>
        </p:txBody>
      </p:sp>
      <p:graphicFrame>
        <p:nvGraphicFramePr>
          <p:cNvPr id="9" name="Chart 1" descr=""/>
          <p:cNvGraphicFramePr/>
          <p:nvPr/>
        </p:nvGraphicFramePr>
        <p:xfrm>
          <a:off x="6172200" y="1572768"/>
          <a:ext cx="2514600" cy="146304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3657600" y="3063240"/>
            <a:ext cx="2377440" cy="228600"/>
          </a:xfrm>
          <a:prstGeom prst="rect">
            <a:avLst/>
          </a:prstGeom>
          <a:noFill/>
          <a:ln/>
        </p:spPr>
        <p:txBody>
          <a:bodyPr wrap="square" lIns="0" tIns="0" rIns="0" bIns="0" rtlCol="0" anchor="ctr"/>
          <a:lstStyle/>
          <a:p>
            <a:pPr indent="0" marL="0">
              <a:buNone/>
            </a:pPr>
            <a:r>
              <a:rPr lang="en-US" sz="1050" b="1" dirty="0">
                <a:solidFill>
                  <a:srgbClr val="17211B"/>
                </a:solidFill>
                <a:latin typeface="Arial" pitchFamily="34" charset="0"/>
                <a:ea typeface="Arial" pitchFamily="34" charset="-122"/>
                <a:cs typeface="Arial" pitchFamily="34" charset="-120"/>
              </a:rPr>
              <a:t>Hot Foods</a:t>
            </a:r>
            <a:endParaRPr lang="en-US" sz="1050" dirty="0"/>
          </a:p>
        </p:txBody>
      </p:sp>
      <p:graphicFrame>
        <p:nvGraphicFramePr>
          <p:cNvPr id="11" name="Chart 2" descr=""/>
          <p:cNvGraphicFramePr/>
          <p:nvPr/>
        </p:nvGraphicFramePr>
        <p:xfrm>
          <a:off x="3566160" y="3264408"/>
          <a:ext cx="2514600" cy="1463040"/>
        </p:xfrm>
        <a:graphic xmlns:a="http://schemas.openxmlformats.org/drawingml/2006/main">
          <a:graphicData uri="http://schemas.openxmlformats.org/drawingml/2006/chart">
            <c:chart xmlns:c="http://schemas.openxmlformats.org/drawingml/2006/chart" r:id="rId3"/>
          </a:graphicData>
        </a:graphic>
      </p:graphicFrame>
      <p:sp>
        <p:nvSpPr>
          <p:cNvPr id="12" name="Text 7"/>
          <p:cNvSpPr txBox="1"/>
          <p:nvPr/>
        </p:nvSpPr>
        <p:spPr>
          <a:xfrm>
            <a:off x="6263640" y="3063240"/>
            <a:ext cx="2377440" cy="228600"/>
          </a:xfrm>
          <a:prstGeom prst="rect">
            <a:avLst/>
          </a:prstGeom>
          <a:noFill/>
          <a:ln/>
        </p:spPr>
        <p:txBody>
          <a:bodyPr wrap="square" lIns="0" tIns="0" rIns="0" bIns="0" rtlCol="0" anchor="ctr"/>
          <a:lstStyle/>
          <a:p>
            <a:pPr indent="0" marL="0">
              <a:buNone/>
            </a:pPr>
            <a:r>
              <a:rPr lang="en-US" sz="1050" b="1" dirty="0">
                <a:solidFill>
                  <a:srgbClr val="17211B"/>
                </a:solidFill>
                <a:latin typeface="Arial" pitchFamily="34" charset="0"/>
                <a:ea typeface="Arial" pitchFamily="34" charset="-122"/>
                <a:cs typeface="Arial" pitchFamily="34" charset="-120"/>
              </a:rPr>
              <a:t>Fresh Foods</a:t>
            </a:r>
            <a:endParaRPr lang="en-US" sz="1050" dirty="0"/>
          </a:p>
        </p:txBody>
      </p:sp>
      <p:graphicFrame>
        <p:nvGraphicFramePr>
          <p:cNvPr id="13" name="Chart 3" descr=""/>
          <p:cNvGraphicFramePr/>
          <p:nvPr/>
        </p:nvGraphicFramePr>
        <p:xfrm>
          <a:off x="6172200" y="3264408"/>
          <a:ext cx="2514600" cy="1463040"/>
        </p:xfrm>
        <a:graphic xmlns:a="http://schemas.openxmlformats.org/drawingml/2006/main">
          <a:graphicData uri="http://schemas.openxmlformats.org/drawingml/2006/chart">
            <c:chart xmlns:c="http://schemas.openxmlformats.org/drawingml/2006/chart" r:id="rId4"/>
          </a:graphicData>
        </a:graphic>
      </p:graphicFrame>
      <p:sp>
        <p:nvSpPr>
          <p:cNvPr id="15"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WHAT ALREADY EXISTS</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600" b="1" dirty="0">
                <a:solidFill>
                  <a:srgbClr val="17211B"/>
                </a:solidFill>
                <a:latin typeface="Arial" pitchFamily="34" charset="0"/>
                <a:ea typeface="Arial" pitchFamily="34" charset="-122"/>
                <a:cs typeface="Arial" pitchFamily="34" charset="-120"/>
              </a:rPr>
              <a:t>The whole system, end to end</a:t>
            </a:r>
            <a:endParaRPr lang="en-US" sz="2600" dirty="0"/>
          </a:p>
        </p:txBody>
      </p:sp>
      <p:sp>
        <p:nvSpPr>
          <p:cNvPr id="4" name="Shape 2"/>
          <p:cNvSpPr/>
          <p:nvPr/>
        </p:nvSpPr>
        <p:spPr>
          <a:xfrm>
            <a:off x="548640" y="1600200"/>
            <a:ext cx="1554480" cy="1234440"/>
          </a:xfrm>
          <a:prstGeom prst="roundRect">
            <a:avLst>
              <a:gd name="adj" fmla="val 8889"/>
            </a:avLst>
          </a:prstGeom>
          <a:solidFill>
            <a:srgbClr val="FFFFFF"/>
          </a:solidFill>
          <a:ln w="9525">
            <a:solidFill>
              <a:srgbClr val="CFD6D0"/>
            </a:solidFill>
            <a:prstDash val="solid"/>
          </a:ln>
        </p:spPr>
      </p:sp>
      <p:sp>
        <p:nvSpPr>
          <p:cNvPr id="5" name="Text 3"/>
          <p:cNvSpPr txBox="1"/>
          <p:nvPr/>
        </p:nvSpPr>
        <p:spPr>
          <a:xfrm>
            <a:off x="548640" y="1709928"/>
            <a:ext cx="1554480" cy="320040"/>
          </a:xfrm>
          <a:prstGeom prst="rect">
            <a:avLst/>
          </a:prstGeom>
          <a:noFill/>
          <a:ln/>
        </p:spPr>
        <p:txBody>
          <a:bodyPr wrap="square" lIns="0" tIns="0" rIns="0" bIns="0" rtlCol="0" anchor="ctr"/>
          <a:lstStyle/>
          <a:p>
            <a:pPr algn="ctr" indent="0" marL="0">
              <a:buNone/>
            </a:pPr>
            <a:r>
              <a:rPr lang="en-US" sz="1300" b="1" dirty="0">
                <a:solidFill>
                  <a:srgbClr val="17211B"/>
                </a:solidFill>
                <a:latin typeface="Arial" pitchFamily="34" charset="0"/>
                <a:ea typeface="Arial" pitchFamily="34" charset="-122"/>
                <a:cs typeface="Arial" pitchFamily="34" charset="-120"/>
              </a:rPr>
              <a:t>Inputs</a:t>
            </a:r>
            <a:endParaRPr lang="en-US" sz="1300" dirty="0"/>
          </a:p>
        </p:txBody>
      </p:sp>
      <p:sp>
        <p:nvSpPr>
          <p:cNvPr id="6" name="Text 4"/>
          <p:cNvSpPr txBox="1"/>
          <p:nvPr/>
        </p:nvSpPr>
        <p:spPr>
          <a:xfrm>
            <a:off x="621792" y="2057400"/>
            <a:ext cx="1408176" cy="731520"/>
          </a:xfrm>
          <a:prstGeom prst="rect">
            <a:avLst/>
          </a:prstGeom>
          <a:noFill/>
          <a:ln/>
        </p:spPr>
        <p:txBody>
          <a:bodyPr wrap="square" lIns="0" tIns="0" rIns="0" bIns="0" rtlCol="0" anchor="ctr"/>
          <a:lstStyle/>
          <a:p>
            <a:pPr algn="ctr" indent="0" marL="0">
              <a:lnSpc>
                <a:spcPct val="110000"/>
              </a:lnSpc>
              <a:buNone/>
            </a:pPr>
            <a:r>
              <a:rPr lang="en-US" sz="1050" dirty="0">
                <a:solidFill>
                  <a:srgbClr val="4D5A52"/>
                </a:solidFill>
                <a:latin typeface="Calibri" pitchFamily="34" charset="0"/>
                <a:ea typeface="Calibri" pitchFamily="34" charset="-122"/>
                <a:cs typeface="Calibri" pitchFamily="34" charset="-120"/>
              </a:rPr>
              <a:t>Sales history (sellouts flagged)</a:t>
            </a:r>
            <a:endParaRPr lang="en-US" sz="1050" dirty="0"/>
          </a:p>
          <a:p>
            <a:pPr algn="ctr" indent="0" marL="0">
              <a:lnSpc>
                <a:spcPct val="110000"/>
              </a:lnSpc>
              <a:buNone/>
            </a:pPr>
            <a:r>
              <a:rPr lang="en-US" sz="1050" dirty="0">
                <a:solidFill>
                  <a:srgbClr val="4D5A52"/>
                </a:solidFill>
                <a:latin typeface="Calibri" pitchFamily="34" charset="0"/>
                <a:ea typeface="Calibri" pitchFamily="34" charset="-122"/>
                <a:cs typeface="Calibri" pitchFamily="34" charset="-120"/>
              </a:rPr>
              <a:t>Weather forecast</a:t>
            </a:r>
            <a:endParaRPr lang="en-US" sz="1050" dirty="0"/>
          </a:p>
          <a:p>
            <a:pPr algn="ctr" indent="0" marL="0">
              <a:lnSpc>
                <a:spcPct val="110000"/>
              </a:lnSpc>
              <a:buNone/>
            </a:pPr>
            <a:r>
              <a:rPr lang="en-US" sz="1050" dirty="0">
                <a:solidFill>
                  <a:srgbClr val="4D5A52"/>
                </a:solidFill>
                <a:latin typeface="Calibri" pitchFamily="34" charset="0"/>
                <a:ea typeface="Calibri" pitchFamily="34" charset="-122"/>
                <a:cs typeface="Calibri" pitchFamily="34" charset="-120"/>
              </a:rPr>
              <a:t>Calendar &amp; holidays</a:t>
            </a:r>
            <a:endParaRPr lang="en-US" sz="1050" dirty="0"/>
          </a:p>
        </p:txBody>
      </p:sp>
      <p:sp>
        <p:nvSpPr>
          <p:cNvPr id="7" name="Shape 5"/>
          <p:cNvSpPr/>
          <p:nvPr/>
        </p:nvSpPr>
        <p:spPr>
          <a:xfrm>
            <a:off x="2713025" y="1600200"/>
            <a:ext cx="1554480" cy="1234440"/>
          </a:xfrm>
          <a:prstGeom prst="roundRect">
            <a:avLst>
              <a:gd name="adj" fmla="val 8889"/>
            </a:avLst>
          </a:prstGeom>
          <a:solidFill>
            <a:srgbClr val="E7F2EC"/>
          </a:solidFill>
          <a:ln w="9525">
            <a:solidFill>
              <a:srgbClr val="1E7A46"/>
            </a:solidFill>
            <a:prstDash val="solid"/>
          </a:ln>
        </p:spPr>
      </p:sp>
      <p:sp>
        <p:nvSpPr>
          <p:cNvPr id="8" name="Text 6"/>
          <p:cNvSpPr txBox="1"/>
          <p:nvPr/>
        </p:nvSpPr>
        <p:spPr>
          <a:xfrm>
            <a:off x="2713025" y="1709928"/>
            <a:ext cx="1554480" cy="320040"/>
          </a:xfrm>
          <a:prstGeom prst="rect">
            <a:avLst/>
          </a:prstGeom>
          <a:noFill/>
          <a:ln/>
        </p:spPr>
        <p:txBody>
          <a:bodyPr wrap="square" lIns="0" tIns="0" rIns="0" bIns="0" rtlCol="0" anchor="ctr"/>
          <a:lstStyle/>
          <a:p>
            <a:pPr algn="ctr" indent="0" marL="0">
              <a:buNone/>
            </a:pPr>
            <a:r>
              <a:rPr lang="en-US" sz="1300" b="1" dirty="0">
                <a:solidFill>
                  <a:srgbClr val="17211B"/>
                </a:solidFill>
                <a:latin typeface="Arial" pitchFamily="34" charset="0"/>
                <a:ea typeface="Arial" pitchFamily="34" charset="-122"/>
                <a:cs typeface="Arial" pitchFamily="34" charset="-120"/>
              </a:rPr>
              <a:t>Demand model</a:t>
            </a:r>
            <a:endParaRPr lang="en-US" sz="1300" dirty="0"/>
          </a:p>
        </p:txBody>
      </p:sp>
      <p:sp>
        <p:nvSpPr>
          <p:cNvPr id="9" name="Text 7"/>
          <p:cNvSpPr txBox="1"/>
          <p:nvPr/>
        </p:nvSpPr>
        <p:spPr>
          <a:xfrm>
            <a:off x="2786177" y="2057400"/>
            <a:ext cx="1408176" cy="731520"/>
          </a:xfrm>
          <a:prstGeom prst="rect">
            <a:avLst/>
          </a:prstGeom>
          <a:noFill/>
          <a:ln/>
        </p:spPr>
        <p:txBody>
          <a:bodyPr wrap="square" lIns="0" tIns="0" rIns="0" bIns="0" rtlCol="0" anchor="ctr"/>
          <a:lstStyle/>
          <a:p>
            <a:pPr algn="ctr" indent="0" marL="0">
              <a:lnSpc>
                <a:spcPct val="110000"/>
              </a:lnSpc>
              <a:buNone/>
            </a:pPr>
            <a:r>
              <a:rPr lang="en-US" sz="1050" dirty="0">
                <a:solidFill>
                  <a:srgbClr val="4D5A52"/>
                </a:solidFill>
                <a:latin typeface="Calibri" pitchFamily="34" charset="0"/>
                <a:ea typeface="Calibri" pitchFamily="34" charset="-122"/>
                <a:cs typeface="Calibri" pitchFamily="34" charset="-120"/>
              </a:rPr>
              <a:t>one network,</a:t>
            </a:r>
            <a:endParaRPr lang="en-US" sz="1050" dirty="0"/>
          </a:p>
          <a:p>
            <a:pPr algn="ctr" indent="0" marL="0">
              <a:lnSpc>
                <a:spcPct val="110000"/>
              </a:lnSpc>
              <a:buNone/>
            </a:pPr>
            <a:r>
              <a:rPr lang="en-US" sz="1050" dirty="0">
                <a:solidFill>
                  <a:srgbClr val="4D5A52"/>
                </a:solidFill>
                <a:latin typeface="Calibri" pitchFamily="34" charset="0"/>
                <a:ea typeface="Calibri" pitchFamily="34" charset="-122"/>
                <a:cs typeface="Calibri" pitchFamily="34" charset="-120"/>
              </a:rPr>
              <a:t>every item</a:t>
            </a:r>
            <a:endParaRPr lang="en-US" sz="1050" dirty="0"/>
          </a:p>
        </p:txBody>
      </p:sp>
      <p:sp>
        <p:nvSpPr>
          <p:cNvPr id="10" name="Shape 8"/>
          <p:cNvSpPr/>
          <p:nvPr/>
        </p:nvSpPr>
        <p:spPr>
          <a:xfrm>
            <a:off x="4876495" y="1600200"/>
            <a:ext cx="1554480" cy="1234440"/>
          </a:xfrm>
          <a:prstGeom prst="roundRect">
            <a:avLst>
              <a:gd name="adj" fmla="val 8889"/>
            </a:avLst>
          </a:prstGeom>
          <a:solidFill>
            <a:srgbClr val="E7F2EC"/>
          </a:solidFill>
          <a:ln w="9525">
            <a:solidFill>
              <a:srgbClr val="1E7A46"/>
            </a:solidFill>
            <a:prstDash val="solid"/>
          </a:ln>
        </p:spPr>
      </p:sp>
      <p:sp>
        <p:nvSpPr>
          <p:cNvPr id="11" name="Text 9"/>
          <p:cNvSpPr txBox="1"/>
          <p:nvPr/>
        </p:nvSpPr>
        <p:spPr>
          <a:xfrm>
            <a:off x="4876495" y="1709928"/>
            <a:ext cx="1554480" cy="320040"/>
          </a:xfrm>
          <a:prstGeom prst="rect">
            <a:avLst/>
          </a:prstGeom>
          <a:noFill/>
          <a:ln/>
        </p:spPr>
        <p:txBody>
          <a:bodyPr wrap="square" lIns="0" tIns="0" rIns="0" bIns="0" rtlCol="0" anchor="ctr"/>
          <a:lstStyle/>
          <a:p>
            <a:pPr algn="ctr" indent="0" marL="0">
              <a:buNone/>
            </a:pPr>
            <a:r>
              <a:rPr lang="en-US" sz="1300" b="1" dirty="0">
                <a:solidFill>
                  <a:srgbClr val="17211B"/>
                </a:solidFill>
                <a:latin typeface="Arial" pitchFamily="34" charset="0"/>
                <a:ea typeface="Arial" pitchFamily="34" charset="-122"/>
                <a:cs typeface="Arial" pitchFamily="34" charset="-120"/>
              </a:rPr>
              <a:t>Decision rule</a:t>
            </a:r>
            <a:endParaRPr lang="en-US" sz="1300" dirty="0"/>
          </a:p>
        </p:txBody>
      </p:sp>
      <p:sp>
        <p:nvSpPr>
          <p:cNvPr id="12" name="Text 10"/>
          <p:cNvSpPr txBox="1"/>
          <p:nvPr/>
        </p:nvSpPr>
        <p:spPr>
          <a:xfrm>
            <a:off x="4949647" y="2057400"/>
            <a:ext cx="1408176" cy="731520"/>
          </a:xfrm>
          <a:prstGeom prst="rect">
            <a:avLst/>
          </a:prstGeom>
          <a:noFill/>
          <a:ln/>
        </p:spPr>
        <p:txBody>
          <a:bodyPr wrap="square" lIns="0" tIns="0" rIns="0" bIns="0" rtlCol="0" anchor="ctr"/>
          <a:lstStyle/>
          <a:p>
            <a:pPr algn="ctr" indent="0" marL="0">
              <a:lnSpc>
                <a:spcPct val="110000"/>
              </a:lnSpc>
              <a:buNone/>
            </a:pPr>
            <a:r>
              <a:rPr lang="en-US" sz="1050" dirty="0">
                <a:solidFill>
                  <a:srgbClr val="4D5A52"/>
                </a:solidFill>
                <a:latin typeface="Calibri" pitchFamily="34" charset="0"/>
                <a:ea typeface="Calibri" pitchFamily="34" charset="-122"/>
                <a:cs typeface="Calibri" pitchFamily="34" charset="-120"/>
              </a:rPr>
              <a:t>cost of one-too-many</a:t>
            </a:r>
            <a:endParaRPr lang="en-US" sz="1050" dirty="0"/>
          </a:p>
          <a:p>
            <a:pPr algn="ctr" indent="0" marL="0">
              <a:lnSpc>
                <a:spcPct val="110000"/>
              </a:lnSpc>
              <a:buNone/>
            </a:pPr>
            <a:r>
              <a:rPr lang="en-US" sz="1050" dirty="0">
                <a:solidFill>
                  <a:srgbClr val="4D5A52"/>
                </a:solidFill>
                <a:latin typeface="Calibri" pitchFamily="34" charset="0"/>
                <a:ea typeface="Calibri" pitchFamily="34" charset="-122"/>
                <a:cs typeface="Calibri" pitchFamily="34" charset="-120"/>
              </a:rPr>
              <a:t>vs one-too-few</a:t>
            </a:r>
            <a:endParaRPr lang="en-US" sz="1050" dirty="0"/>
          </a:p>
        </p:txBody>
      </p:sp>
      <p:sp>
        <p:nvSpPr>
          <p:cNvPr id="13" name="Shape 11"/>
          <p:cNvSpPr/>
          <p:nvPr/>
        </p:nvSpPr>
        <p:spPr>
          <a:xfrm>
            <a:off x="7040880" y="1600200"/>
            <a:ext cx="1554480" cy="1234440"/>
          </a:xfrm>
          <a:prstGeom prst="roundRect">
            <a:avLst>
              <a:gd name="adj" fmla="val 8889"/>
            </a:avLst>
          </a:prstGeom>
          <a:solidFill>
            <a:srgbClr val="FFFFFF"/>
          </a:solidFill>
          <a:ln w="9525">
            <a:solidFill>
              <a:srgbClr val="CFD6D0"/>
            </a:solidFill>
            <a:prstDash val="solid"/>
          </a:ln>
        </p:spPr>
      </p:sp>
      <p:sp>
        <p:nvSpPr>
          <p:cNvPr id="14" name="Text 12"/>
          <p:cNvSpPr txBox="1"/>
          <p:nvPr/>
        </p:nvSpPr>
        <p:spPr>
          <a:xfrm>
            <a:off x="7040880" y="1709928"/>
            <a:ext cx="1554480" cy="320040"/>
          </a:xfrm>
          <a:prstGeom prst="rect">
            <a:avLst/>
          </a:prstGeom>
          <a:noFill/>
          <a:ln/>
        </p:spPr>
        <p:txBody>
          <a:bodyPr wrap="square" lIns="0" tIns="0" rIns="0" bIns="0" rtlCol="0" anchor="ctr"/>
          <a:lstStyle/>
          <a:p>
            <a:pPr algn="ctr" indent="0" marL="0">
              <a:buNone/>
            </a:pPr>
            <a:r>
              <a:rPr lang="en-US" sz="1300" b="1" dirty="0">
                <a:solidFill>
                  <a:srgbClr val="17211B"/>
                </a:solidFill>
                <a:latin typeface="Arial" pitchFamily="34" charset="0"/>
                <a:ea typeface="Arial" pitchFamily="34" charset="-122"/>
                <a:cs typeface="Arial" pitchFamily="34" charset="-120"/>
              </a:rPr>
              <a:t>Morning sheet</a:t>
            </a:r>
            <a:endParaRPr lang="en-US" sz="1300" dirty="0"/>
          </a:p>
        </p:txBody>
      </p:sp>
      <p:sp>
        <p:nvSpPr>
          <p:cNvPr id="15" name="Text 13"/>
          <p:cNvSpPr txBox="1"/>
          <p:nvPr/>
        </p:nvSpPr>
        <p:spPr>
          <a:xfrm>
            <a:off x="7114032" y="2057400"/>
            <a:ext cx="1408176" cy="731520"/>
          </a:xfrm>
          <a:prstGeom prst="rect">
            <a:avLst/>
          </a:prstGeom>
          <a:noFill/>
          <a:ln/>
        </p:spPr>
        <p:txBody>
          <a:bodyPr wrap="square" lIns="0" tIns="0" rIns="0" bIns="0" rtlCol="0" anchor="ctr"/>
          <a:lstStyle/>
          <a:p>
            <a:pPr algn="ctr" indent="0" marL="0">
              <a:lnSpc>
                <a:spcPct val="110000"/>
              </a:lnSpc>
              <a:buNone/>
            </a:pPr>
            <a:r>
              <a:rPr lang="en-US" sz="1050" dirty="0">
                <a:solidFill>
                  <a:srgbClr val="4D5A52"/>
                </a:solidFill>
                <a:latin typeface="Calibri" pitchFamily="34" charset="0"/>
                <a:ea typeface="Calibri" pitchFamily="34" charset="-122"/>
                <a:cs typeface="Calibri" pitchFamily="34" charset="-120"/>
              </a:rPr>
              <a:t>printed in the kitchen</a:t>
            </a:r>
            <a:endParaRPr lang="en-US" sz="1050" dirty="0"/>
          </a:p>
          <a:p>
            <a:pPr algn="ctr" indent="0" marL="0">
              <a:lnSpc>
                <a:spcPct val="110000"/>
              </a:lnSpc>
              <a:buNone/>
            </a:pPr>
            <a:r>
              <a:rPr lang="en-US" sz="1050" dirty="0">
                <a:solidFill>
                  <a:srgbClr val="4D5A52"/>
                </a:solidFill>
                <a:latin typeface="Calibri" pitchFamily="34" charset="0"/>
                <a:ea typeface="Calibri" pitchFamily="34" charset="-122"/>
                <a:cs typeface="Calibri" pitchFamily="34" charset="-120"/>
              </a:rPr>
              <a:t>make 14 · thaw 2 cases</a:t>
            </a:r>
            <a:endParaRPr lang="en-US" sz="1050" dirty="0"/>
          </a:p>
        </p:txBody>
      </p:sp>
      <p:sp>
        <p:nvSpPr>
          <p:cNvPr id="16" name="Shape 14"/>
          <p:cNvSpPr/>
          <p:nvPr/>
        </p:nvSpPr>
        <p:spPr>
          <a:xfrm>
            <a:off x="2148840" y="2217420"/>
            <a:ext cx="518465" cy="0"/>
          </a:xfrm>
          <a:prstGeom prst="line">
            <a:avLst/>
          </a:prstGeom>
          <a:noFill/>
          <a:ln w="19050">
            <a:solidFill>
              <a:srgbClr val="4D5A52"/>
            </a:solidFill>
            <a:prstDash val="solid"/>
            <a:tailEnd type="triangle"/>
          </a:ln>
        </p:spPr>
      </p:sp>
      <p:sp>
        <p:nvSpPr>
          <p:cNvPr id="17" name="Shape 15"/>
          <p:cNvSpPr/>
          <p:nvPr/>
        </p:nvSpPr>
        <p:spPr>
          <a:xfrm>
            <a:off x="4313225" y="2217420"/>
            <a:ext cx="517550" cy="0"/>
          </a:xfrm>
          <a:prstGeom prst="line">
            <a:avLst/>
          </a:prstGeom>
          <a:noFill/>
          <a:ln w="19050">
            <a:solidFill>
              <a:srgbClr val="4D5A52"/>
            </a:solidFill>
            <a:prstDash val="solid"/>
            <a:tailEnd type="triangle"/>
          </a:ln>
        </p:spPr>
      </p:sp>
      <p:sp>
        <p:nvSpPr>
          <p:cNvPr id="18" name="Text 16"/>
          <p:cNvSpPr txBox="1"/>
          <p:nvPr/>
        </p:nvSpPr>
        <p:spPr>
          <a:xfrm>
            <a:off x="4267505" y="2272284"/>
            <a:ext cx="608990" cy="320040"/>
          </a:xfrm>
          <a:prstGeom prst="rect">
            <a:avLst/>
          </a:prstGeom>
          <a:noFill/>
          <a:ln/>
        </p:spPr>
        <p:txBody>
          <a:bodyPr wrap="square" lIns="0" tIns="0" rIns="0" bIns="0" rtlCol="0" anchor="ctr"/>
          <a:lstStyle/>
          <a:p>
            <a:pPr algn="ctr" indent="0" marL="0">
              <a:buNone/>
            </a:pPr>
            <a:r>
              <a:rPr lang="en-US" sz="700" dirty="0">
                <a:solidFill>
                  <a:srgbClr val="7D8A81"/>
                </a:solidFill>
                <a:latin typeface="Arial" pitchFamily="34" charset="0"/>
                <a:ea typeface="Arial" pitchFamily="34" charset="-122"/>
                <a:cs typeface="Arial" pitchFamily="34" charset="-120"/>
              </a:rPr>
              <a:t>demand as</a:t>
            </a:r>
            <a:endParaRPr lang="en-US" sz="700" dirty="0"/>
          </a:p>
          <a:p>
            <a:pPr algn="ctr" indent="0" marL="0">
              <a:buNone/>
            </a:pPr>
            <a:r>
              <a:rPr lang="en-US" sz="700" dirty="0">
                <a:solidFill>
                  <a:srgbClr val="7D8A81"/>
                </a:solidFill>
                <a:latin typeface="Arial" pitchFamily="34" charset="0"/>
                <a:ea typeface="Arial" pitchFamily="34" charset="-122"/>
                <a:cs typeface="Arial" pitchFamily="34" charset="-120"/>
              </a:rPr>
              <a:t>a range</a:t>
            </a:r>
            <a:endParaRPr lang="en-US" sz="700" dirty="0"/>
          </a:p>
        </p:txBody>
      </p:sp>
      <p:sp>
        <p:nvSpPr>
          <p:cNvPr id="19" name="Shape 17"/>
          <p:cNvSpPr/>
          <p:nvPr/>
        </p:nvSpPr>
        <p:spPr>
          <a:xfrm>
            <a:off x="6476695" y="2217420"/>
            <a:ext cx="518465" cy="0"/>
          </a:xfrm>
          <a:prstGeom prst="line">
            <a:avLst/>
          </a:prstGeom>
          <a:noFill/>
          <a:ln w="19050">
            <a:solidFill>
              <a:srgbClr val="4D5A52"/>
            </a:solidFill>
            <a:prstDash val="solid"/>
            <a:tailEnd type="triangle"/>
          </a:ln>
        </p:spPr>
      </p:sp>
      <p:sp>
        <p:nvSpPr>
          <p:cNvPr id="20" name="Text 18"/>
          <p:cNvSpPr txBox="1"/>
          <p:nvPr/>
        </p:nvSpPr>
        <p:spPr>
          <a:xfrm>
            <a:off x="6430975" y="2272284"/>
            <a:ext cx="609905" cy="320040"/>
          </a:xfrm>
          <a:prstGeom prst="rect">
            <a:avLst/>
          </a:prstGeom>
          <a:noFill/>
          <a:ln/>
        </p:spPr>
        <p:txBody>
          <a:bodyPr wrap="square" lIns="0" tIns="0" rIns="0" bIns="0" rtlCol="0" anchor="ctr"/>
          <a:lstStyle/>
          <a:p>
            <a:pPr algn="ctr" indent="0" marL="0">
              <a:buNone/>
            </a:pPr>
            <a:r>
              <a:rPr lang="en-US" sz="700" dirty="0">
                <a:solidFill>
                  <a:srgbClr val="7D8A81"/>
                </a:solidFill>
                <a:latin typeface="Arial" pitchFamily="34" charset="0"/>
                <a:ea typeface="Arial" pitchFamily="34" charset="-122"/>
                <a:cs typeface="Arial" pitchFamily="34" charset="-120"/>
              </a:rPr>
              <a:t>quantity</a:t>
            </a:r>
            <a:endParaRPr lang="en-US" sz="700" dirty="0"/>
          </a:p>
        </p:txBody>
      </p:sp>
      <p:sp>
        <p:nvSpPr>
          <p:cNvPr id="21" name="Shape 19"/>
          <p:cNvSpPr/>
          <p:nvPr/>
        </p:nvSpPr>
        <p:spPr>
          <a:xfrm>
            <a:off x="7818120" y="2834640"/>
            <a:ext cx="0" cy="320040"/>
          </a:xfrm>
          <a:prstGeom prst="line">
            <a:avLst/>
          </a:prstGeom>
          <a:noFill/>
          <a:ln w="15875">
            <a:solidFill>
              <a:srgbClr val="4D5A52"/>
            </a:solidFill>
            <a:prstDash val="dash"/>
          </a:ln>
        </p:spPr>
      </p:sp>
      <p:sp>
        <p:nvSpPr>
          <p:cNvPr id="22" name="Shape 20"/>
          <p:cNvSpPr/>
          <p:nvPr/>
        </p:nvSpPr>
        <p:spPr>
          <a:xfrm>
            <a:off x="1325880" y="3154680"/>
            <a:ext cx="6492240" cy="0"/>
          </a:xfrm>
          <a:prstGeom prst="line">
            <a:avLst/>
          </a:prstGeom>
          <a:noFill/>
          <a:ln w="15875">
            <a:solidFill>
              <a:srgbClr val="4D5A52"/>
            </a:solidFill>
            <a:prstDash val="dash"/>
          </a:ln>
        </p:spPr>
      </p:sp>
      <p:sp>
        <p:nvSpPr>
          <p:cNvPr id="23" name="Shape 21"/>
          <p:cNvSpPr/>
          <p:nvPr/>
        </p:nvSpPr>
        <p:spPr>
          <a:xfrm>
            <a:off x="1325880" y="3154680"/>
            <a:ext cx="0" cy="-320040"/>
          </a:xfrm>
          <a:prstGeom prst="line">
            <a:avLst/>
          </a:prstGeom>
          <a:noFill/>
          <a:ln w="15875">
            <a:solidFill>
              <a:srgbClr val="4D5A52"/>
            </a:solidFill>
            <a:prstDash val="dash"/>
            <a:tailEnd type="triangle"/>
          </a:ln>
        </p:spPr>
      </p:sp>
      <p:sp>
        <p:nvSpPr>
          <p:cNvPr id="24" name="Text 22"/>
          <p:cNvSpPr txBox="1"/>
          <p:nvPr/>
        </p:nvSpPr>
        <p:spPr>
          <a:xfrm>
            <a:off x="2286000" y="3182112"/>
            <a:ext cx="4572000" cy="228600"/>
          </a:xfrm>
          <a:prstGeom prst="rect">
            <a:avLst/>
          </a:prstGeom>
          <a:noFill/>
          <a:ln/>
        </p:spPr>
        <p:txBody>
          <a:bodyPr wrap="square" lIns="0" tIns="0" rIns="0" bIns="0" rtlCol="0" anchor="ctr"/>
          <a:lstStyle/>
          <a:p>
            <a:pPr algn="ctr" indent="0" marL="0">
              <a:buNone/>
            </a:pPr>
            <a:r>
              <a:rPr lang="en-US" sz="850" dirty="0">
                <a:solidFill>
                  <a:srgbClr val="7D8A81"/>
                </a:solidFill>
                <a:latin typeface="Arial" pitchFamily="34" charset="0"/>
                <a:ea typeface="Arial" pitchFamily="34" charset="-122"/>
                <a:cs typeface="Arial" pitchFamily="34" charset="-120"/>
              </a:rPr>
              <a:t>each day's sales and waste feed back into the history</a:t>
            </a:r>
            <a:endParaRPr lang="en-US" sz="850" dirty="0"/>
          </a:p>
        </p:txBody>
      </p:sp>
      <p:sp>
        <p:nvSpPr>
          <p:cNvPr id="25" name="Text 23"/>
          <p:cNvSpPr txBox="1"/>
          <p:nvPr/>
        </p:nvSpPr>
        <p:spPr>
          <a:xfrm>
            <a:off x="548640" y="3520440"/>
            <a:ext cx="2514600" cy="1097280"/>
          </a:xfrm>
          <a:prstGeom prst="rect">
            <a:avLst/>
          </a:prstGeom>
          <a:noFill/>
          <a:ln/>
        </p:spPr>
        <p:txBody>
          <a:bodyPr wrap="square" lIns="0" tIns="0" rIns="0" bIns="0" rtlCol="0" anchor="t"/>
          <a:lstStyle/>
          <a:p>
            <a:pPr indent="0" marL="0">
              <a:lnSpc>
                <a:spcPct val="110000"/>
              </a:lnSpc>
              <a:buNone/>
            </a:pPr>
            <a:r>
              <a:rPr lang="en-US" sz="1050" b="1" dirty="0">
                <a:solidFill>
                  <a:srgbClr val="17211B"/>
                </a:solidFill>
                <a:latin typeface="Arial" pitchFamily="34" charset="0"/>
                <a:ea typeface="Arial" pitchFamily="34" charset="-122"/>
                <a:cs typeface="Arial" pitchFamily="34" charset="-120"/>
              </a:rPr>
              <a:t>No integration needed for a pilot. </a:t>
            </a:r>
            <a:pPr indent="0" marL="0">
              <a:lnSpc>
                <a:spcPct val="110000"/>
              </a:lnSpc>
              <a:buNone/>
            </a:pPr>
            <a:r>
              <a:rPr lang="en-US" sz="1050" dirty="0">
                <a:solidFill>
                  <a:srgbClr val="4D5A52"/>
                </a:solidFill>
                <a:latin typeface="Calibri" pitchFamily="34" charset="0"/>
                <a:ea typeface="Calibri" pitchFamily="34" charset="-122"/>
                <a:cs typeface="Calibri" pitchFamily="34" charset="-120"/>
              </a:rPr>
              <a:t>The inputs are a sales export, a public weather forecast and a calendar. The output is a printed sheet in the kitchen each morning.</a:t>
            </a:r>
            <a:endParaRPr lang="en-US" sz="1050" dirty="0"/>
          </a:p>
        </p:txBody>
      </p:sp>
      <p:sp>
        <p:nvSpPr>
          <p:cNvPr id="26" name="Text 24"/>
          <p:cNvSpPr txBox="1"/>
          <p:nvPr/>
        </p:nvSpPr>
        <p:spPr>
          <a:xfrm>
            <a:off x="3246120" y="3520440"/>
            <a:ext cx="2514600" cy="1097280"/>
          </a:xfrm>
          <a:prstGeom prst="rect">
            <a:avLst/>
          </a:prstGeom>
          <a:noFill/>
          <a:ln/>
        </p:spPr>
        <p:txBody>
          <a:bodyPr wrap="square" lIns="0" tIns="0" rIns="0" bIns="0" rtlCol="0" anchor="t"/>
          <a:lstStyle/>
          <a:p>
            <a:pPr indent="0" marL="0">
              <a:lnSpc>
                <a:spcPct val="110000"/>
              </a:lnSpc>
              <a:buNone/>
            </a:pPr>
            <a:r>
              <a:rPr lang="en-US" sz="1050" b="1" dirty="0">
                <a:solidFill>
                  <a:srgbClr val="17211B"/>
                </a:solidFill>
                <a:latin typeface="Arial" pitchFamily="34" charset="0"/>
                <a:ea typeface="Arial" pitchFamily="34" charset="-122"/>
                <a:cs typeface="Arial" pitchFamily="34" charset="-120"/>
              </a:rPr>
              <a:t>One model, every item. </a:t>
            </a:r>
            <a:pPr indent="0" marL="0">
              <a:lnSpc>
                <a:spcPct val="110000"/>
              </a:lnSpc>
              <a:buNone/>
            </a:pPr>
            <a:r>
              <a:rPr lang="en-US" sz="1050" dirty="0">
                <a:solidFill>
                  <a:srgbClr val="4D5A52"/>
                </a:solidFill>
                <a:latin typeface="Calibri" pitchFamily="34" charset="0"/>
                <a:ea typeface="Calibri" pitchFamily="34" charset="-122"/>
                <a:cs typeface="Calibri" pitchFamily="34" charset="-120"/>
              </a:rPr>
              <a:t>A compact neural network of the family used industrially for retail demand forecasting, forecasting a demand range rather than a point.</a:t>
            </a:r>
            <a:endParaRPr lang="en-US" sz="1050" dirty="0"/>
          </a:p>
        </p:txBody>
      </p:sp>
      <p:sp>
        <p:nvSpPr>
          <p:cNvPr id="27" name="Text 25"/>
          <p:cNvSpPr txBox="1"/>
          <p:nvPr/>
        </p:nvSpPr>
        <p:spPr>
          <a:xfrm>
            <a:off x="5943600" y="3520440"/>
            <a:ext cx="2514600" cy="1097280"/>
          </a:xfrm>
          <a:prstGeom prst="rect">
            <a:avLst/>
          </a:prstGeom>
          <a:noFill/>
          <a:ln/>
        </p:spPr>
        <p:txBody>
          <a:bodyPr wrap="square" lIns="0" tIns="0" rIns="0" bIns="0" rtlCol="0" anchor="t"/>
          <a:lstStyle/>
          <a:p>
            <a:pPr indent="0" marL="0">
              <a:lnSpc>
                <a:spcPct val="110000"/>
              </a:lnSpc>
              <a:buNone/>
            </a:pPr>
            <a:r>
              <a:rPr lang="en-US" sz="1050" b="1" dirty="0">
                <a:solidFill>
                  <a:srgbClr val="17211B"/>
                </a:solidFill>
                <a:latin typeface="Arial" pitchFamily="34" charset="0"/>
                <a:ea typeface="Arial" pitchFamily="34" charset="-122"/>
                <a:cs typeface="Arial" pitchFamily="34" charset="-120"/>
              </a:rPr>
              <a:t>A decision rule, not a guess. </a:t>
            </a:r>
            <a:pPr indent="0" marL="0">
              <a:lnSpc>
                <a:spcPct val="110000"/>
              </a:lnSpc>
              <a:buNone/>
            </a:pPr>
            <a:r>
              <a:rPr lang="en-US" sz="1050" dirty="0">
                <a:solidFill>
                  <a:srgbClr val="4D5A52"/>
                </a:solidFill>
                <a:latin typeface="Calibri" pitchFamily="34" charset="0"/>
                <a:ea typeface="Calibri" pitchFamily="34" charset="-122"/>
                <a:cs typeface="Calibri" pitchFamily="34" charset="-120"/>
              </a:rPr>
              <a:t>Produce where the cost of one wasted unit equals the cost of one missed sale. Cheap, high-margin items pad; expensive, low-margin items run lean.</a:t>
            </a:r>
            <a:endParaRPr lang="en-US" sz="1050" dirty="0"/>
          </a:p>
        </p:txBody>
      </p:sp>
      <p:sp>
        <p:nvSpPr>
          <p:cNvPr id="29" name="Text 26"/>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PROOF OF CONCEPT</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200" b="1" dirty="0">
                <a:solidFill>
                  <a:srgbClr val="17211B"/>
                </a:solidFill>
                <a:latin typeface="Arial" pitchFamily="34" charset="0"/>
                <a:ea typeface="Arial" pitchFamily="34" charset="-122"/>
                <a:cs typeface="Arial" pitchFamily="34" charset="-120"/>
              </a:rPr>
              <a:t>A year replayed: the forecast closes 81% of the gap to perfect knowledge</a:t>
            </a:r>
            <a:endParaRPr lang="en-US" sz="2200" dirty="0"/>
          </a:p>
        </p:txBody>
      </p:sp>
      <p:sp>
        <p:nvSpPr>
          <p:cNvPr id="4" name="Text 2"/>
          <p:cNvSpPr txBox="1"/>
          <p:nvPr/>
        </p:nvSpPr>
        <p:spPr>
          <a:xfrm>
            <a:off x="548640" y="1463040"/>
            <a:ext cx="3108960" cy="1600200"/>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7211B"/>
                </a:solidFill>
                <a:latin typeface="Calibri" pitchFamily="34" charset="0"/>
                <a:ea typeface="Calibri" pitchFamily="34" charset="-122"/>
                <a:cs typeface="Calibri" pitchFamily="34" charset="-120"/>
              </a:rPr>
              <a:t>The model trained on two simulated years, seeing only what a real store sees, then ran in shadow against the untouched third year. For every day and item it recommended a quantity; the simulation's true demand settled what sold, what was wasted and what was missed.</a:t>
            </a:r>
            <a:endParaRPr lang="en-US" sz="1150" dirty="0"/>
          </a:p>
        </p:txBody>
      </p:sp>
      <p:sp>
        <p:nvSpPr>
          <p:cNvPr id="5" name="Text 3"/>
          <p:cNvSpPr txBox="1"/>
          <p:nvPr/>
        </p:nvSpPr>
        <p:spPr>
          <a:xfrm>
            <a:off x="548640" y="3108960"/>
            <a:ext cx="3108960" cy="548640"/>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7211B"/>
                </a:solidFill>
                <a:latin typeface="Calibri" pitchFamily="34" charset="0"/>
                <a:ea typeface="Calibri" pitchFamily="34" charset="-122"/>
                <a:cs typeface="Calibri" pitchFamily="34" charset="-120"/>
              </a:rPr>
              <a:t>Two benchmark forecasters ran alongside so the network had to earn its seat.</a:t>
            </a:r>
            <a:endParaRPr lang="en-US" sz="1150" dirty="0"/>
          </a:p>
        </p:txBody>
      </p:sp>
      <p:sp>
        <p:nvSpPr>
          <p:cNvPr id="6" name="Text 4"/>
          <p:cNvSpPr txBox="1"/>
          <p:nvPr/>
        </p:nvSpPr>
        <p:spPr>
          <a:xfrm>
            <a:off x="548640" y="3703320"/>
            <a:ext cx="3108960" cy="731520"/>
          </a:xfrm>
          <a:prstGeom prst="rect">
            <a:avLst/>
          </a:prstGeom>
          <a:noFill/>
          <a:ln/>
        </p:spPr>
        <p:txBody>
          <a:bodyPr wrap="square" lIns="0" tIns="0" rIns="0" bIns="0" rtlCol="0" anchor="t"/>
          <a:lstStyle/>
          <a:p>
            <a:pPr indent="0" marL="0">
              <a:lnSpc>
                <a:spcPct val="112000"/>
              </a:lnSpc>
              <a:spcAft>
                <a:spcPts val="600"/>
              </a:spcAft>
              <a:buNone/>
            </a:pPr>
            <a:r>
              <a:rPr lang="en-US" sz="900" dirty="0">
                <a:solidFill>
                  <a:srgbClr val="7D8A81"/>
                </a:solidFill>
                <a:latin typeface="Calibri" pitchFamily="34" charset="0"/>
                <a:ea typeface="Calibri" pitchFamily="34" charset="-122"/>
                <a:cs typeface="Calibri" pitchFamily="34" charset="-120"/>
              </a:rPr>
              <a:t>Total cost of being wrong per simulated store-year: wasted units at cost of goods plus missed sales at lost margin. 364 days.</a:t>
            </a:r>
            <a:endParaRPr lang="en-US" sz="900" dirty="0"/>
          </a:p>
        </p:txBody>
      </p:sp>
      <p:sp>
        <p:nvSpPr>
          <p:cNvPr id="7" name="Text 5"/>
          <p:cNvSpPr txBox="1"/>
          <p:nvPr/>
        </p:nvSpPr>
        <p:spPr>
          <a:xfrm>
            <a:off x="3611880" y="1508760"/>
            <a:ext cx="2103120" cy="329184"/>
          </a:xfrm>
          <a:prstGeom prst="rect">
            <a:avLst/>
          </a:prstGeom>
          <a:noFill/>
          <a:ln/>
        </p:spPr>
        <p:txBody>
          <a:bodyPr wrap="square" lIns="0" tIns="0" rIns="0" bIns="0" rtlCol="0" anchor="ctr"/>
          <a:lstStyle/>
          <a:p>
            <a:pPr algn="r" indent="0" marL="0">
              <a:buNone/>
            </a:pPr>
            <a:r>
              <a:rPr lang="en-US" sz="1000" b="1" dirty="0">
                <a:solidFill>
                  <a:srgbClr val="17211B"/>
                </a:solidFill>
                <a:latin typeface="Arial" pitchFamily="34" charset="0"/>
                <a:ea typeface="Arial" pitchFamily="34" charset="-122"/>
                <a:cs typeface="Arial" pitchFamily="34" charset="-120"/>
              </a:rPr>
              <a:t>Status quo (par sheet)</a:t>
            </a:r>
            <a:endParaRPr lang="en-US" sz="1000" dirty="0"/>
          </a:p>
        </p:txBody>
      </p:sp>
      <p:sp>
        <p:nvSpPr>
          <p:cNvPr id="8" name="Shape 6"/>
          <p:cNvSpPr/>
          <p:nvPr/>
        </p:nvSpPr>
        <p:spPr>
          <a:xfrm>
            <a:off x="5806440" y="1563624"/>
            <a:ext cx="2159000" cy="219456"/>
          </a:xfrm>
          <a:prstGeom prst="roundRect">
            <a:avLst>
              <a:gd name="adj" fmla="val 16667"/>
            </a:avLst>
          </a:prstGeom>
          <a:solidFill>
            <a:srgbClr val="EB6834"/>
          </a:solidFill>
          <a:ln w="12700">
            <a:solidFill>
              <a:srgbClr val="EB6834"/>
            </a:solidFill>
            <a:prstDash val="solid"/>
          </a:ln>
        </p:spPr>
      </p:sp>
      <p:sp>
        <p:nvSpPr>
          <p:cNvPr id="9" name="Text 7"/>
          <p:cNvSpPr txBox="1"/>
          <p:nvPr/>
        </p:nvSpPr>
        <p:spPr>
          <a:xfrm>
            <a:off x="8020304" y="1508760"/>
            <a:ext cx="640080" cy="329184"/>
          </a:xfrm>
          <a:prstGeom prst="rect">
            <a:avLst/>
          </a:prstGeom>
          <a:noFill/>
          <a:ln/>
        </p:spPr>
        <p:txBody>
          <a:bodyPr wrap="square" lIns="0" tIns="0" rIns="0" bIns="0" rtlCol="0" anchor="ctr"/>
          <a:lstStyle/>
          <a:p>
            <a:pPr indent="0" marL="0">
              <a:buNone/>
            </a:pPr>
            <a:r>
              <a:rPr lang="en-US" sz="1000" b="1" dirty="0">
                <a:solidFill>
                  <a:srgbClr val="17211B"/>
                </a:solidFill>
                <a:latin typeface="Arial" pitchFamily="34" charset="0"/>
                <a:ea typeface="Arial" pitchFamily="34" charset="-122"/>
                <a:cs typeface="Arial" pitchFamily="34" charset="-120"/>
              </a:rPr>
              <a:t>$56K</a:t>
            </a:r>
            <a:endParaRPr lang="en-US" sz="1000" dirty="0"/>
          </a:p>
        </p:txBody>
      </p:sp>
      <p:sp>
        <p:nvSpPr>
          <p:cNvPr id="10" name="Text 8"/>
          <p:cNvSpPr txBox="1"/>
          <p:nvPr/>
        </p:nvSpPr>
        <p:spPr>
          <a:xfrm>
            <a:off x="3611880" y="1984248"/>
            <a:ext cx="2103120" cy="329184"/>
          </a:xfrm>
          <a:prstGeom prst="rect">
            <a:avLst/>
          </a:prstGeom>
          <a:noFill/>
          <a:ln/>
        </p:spPr>
        <p:txBody>
          <a:bodyPr wrap="square" lIns="0" tIns="0" rIns="0" bIns="0" rtlCol="0" anchor="ctr"/>
          <a:lstStyle/>
          <a:p>
            <a:pPr algn="r" indent="0" marL="0">
              <a:buNone/>
            </a:pPr>
            <a:r>
              <a:rPr lang="en-US" sz="1000" b="1" dirty="0">
                <a:solidFill>
                  <a:srgbClr val="17211B"/>
                </a:solidFill>
                <a:latin typeface="Arial" pitchFamily="34" charset="0"/>
                <a:ea typeface="Arial" pitchFamily="34" charset="-122"/>
                <a:cs typeface="Arial" pitchFamily="34" charset="-120"/>
              </a:rPr>
              <a:t>Naive trailing average</a:t>
            </a:r>
            <a:endParaRPr lang="en-US" sz="1000" dirty="0"/>
          </a:p>
        </p:txBody>
      </p:sp>
      <p:sp>
        <p:nvSpPr>
          <p:cNvPr id="11" name="Shape 9"/>
          <p:cNvSpPr/>
          <p:nvPr/>
        </p:nvSpPr>
        <p:spPr>
          <a:xfrm>
            <a:off x="5806440" y="2039112"/>
            <a:ext cx="1851181" cy="219456"/>
          </a:xfrm>
          <a:prstGeom prst="roundRect">
            <a:avLst>
              <a:gd name="adj" fmla="val 16667"/>
            </a:avLst>
          </a:prstGeom>
          <a:solidFill>
            <a:srgbClr val="9AA39C"/>
          </a:solidFill>
          <a:ln w="12700">
            <a:solidFill>
              <a:srgbClr val="9AA39C"/>
            </a:solidFill>
            <a:prstDash val="solid"/>
          </a:ln>
        </p:spPr>
      </p:sp>
      <p:sp>
        <p:nvSpPr>
          <p:cNvPr id="12" name="Text 10"/>
          <p:cNvSpPr txBox="1"/>
          <p:nvPr/>
        </p:nvSpPr>
        <p:spPr>
          <a:xfrm>
            <a:off x="7712485" y="1984248"/>
            <a:ext cx="640080" cy="329184"/>
          </a:xfrm>
          <a:prstGeom prst="rect">
            <a:avLst/>
          </a:prstGeom>
          <a:noFill/>
          <a:ln/>
        </p:spPr>
        <p:txBody>
          <a:bodyPr wrap="square" lIns="0" tIns="0" rIns="0" bIns="0" rtlCol="0" anchor="ctr"/>
          <a:lstStyle/>
          <a:p>
            <a:pPr indent="0" marL="0">
              <a:buNone/>
            </a:pPr>
            <a:r>
              <a:rPr lang="en-US" sz="1000" b="1" dirty="0">
                <a:solidFill>
                  <a:srgbClr val="17211B"/>
                </a:solidFill>
                <a:latin typeface="Arial" pitchFamily="34" charset="0"/>
                <a:ea typeface="Arial" pitchFamily="34" charset="-122"/>
                <a:cs typeface="Arial" pitchFamily="34" charset="-120"/>
              </a:rPr>
              <a:t>$48K</a:t>
            </a:r>
            <a:endParaRPr lang="en-US" sz="1000" dirty="0"/>
          </a:p>
        </p:txBody>
      </p:sp>
      <p:sp>
        <p:nvSpPr>
          <p:cNvPr id="13" name="Text 11"/>
          <p:cNvSpPr txBox="1"/>
          <p:nvPr/>
        </p:nvSpPr>
        <p:spPr>
          <a:xfrm>
            <a:off x="3611880" y="2459736"/>
            <a:ext cx="2103120" cy="329184"/>
          </a:xfrm>
          <a:prstGeom prst="rect">
            <a:avLst/>
          </a:prstGeom>
          <a:noFill/>
          <a:ln/>
        </p:spPr>
        <p:txBody>
          <a:bodyPr wrap="square" lIns="0" tIns="0" rIns="0" bIns="0" rtlCol="0" anchor="ctr"/>
          <a:lstStyle/>
          <a:p>
            <a:pPr algn="r" indent="0" marL="0">
              <a:buNone/>
            </a:pPr>
            <a:r>
              <a:rPr lang="en-US" sz="1000" b="1" dirty="0">
                <a:solidFill>
                  <a:srgbClr val="17211B"/>
                </a:solidFill>
                <a:latin typeface="Arial" pitchFamily="34" charset="0"/>
                <a:ea typeface="Arial" pitchFamily="34" charset="-122"/>
                <a:cs typeface="Arial" pitchFamily="34" charset="-120"/>
              </a:rPr>
              <a:t>Linear model</a:t>
            </a:r>
            <a:endParaRPr lang="en-US" sz="1000" dirty="0"/>
          </a:p>
        </p:txBody>
      </p:sp>
      <p:sp>
        <p:nvSpPr>
          <p:cNvPr id="14" name="Shape 12"/>
          <p:cNvSpPr/>
          <p:nvPr/>
        </p:nvSpPr>
        <p:spPr>
          <a:xfrm>
            <a:off x="5806440" y="2514600"/>
            <a:ext cx="1835424" cy="219456"/>
          </a:xfrm>
          <a:prstGeom prst="roundRect">
            <a:avLst>
              <a:gd name="adj" fmla="val 16667"/>
            </a:avLst>
          </a:prstGeom>
          <a:solidFill>
            <a:srgbClr val="9AA39C"/>
          </a:solidFill>
          <a:ln w="12700">
            <a:solidFill>
              <a:srgbClr val="9AA39C"/>
            </a:solidFill>
            <a:prstDash val="solid"/>
          </a:ln>
        </p:spPr>
      </p:sp>
      <p:sp>
        <p:nvSpPr>
          <p:cNvPr id="15" name="Text 13"/>
          <p:cNvSpPr txBox="1"/>
          <p:nvPr/>
        </p:nvSpPr>
        <p:spPr>
          <a:xfrm>
            <a:off x="7696728" y="2459736"/>
            <a:ext cx="640080" cy="329184"/>
          </a:xfrm>
          <a:prstGeom prst="rect">
            <a:avLst/>
          </a:prstGeom>
          <a:noFill/>
          <a:ln/>
        </p:spPr>
        <p:txBody>
          <a:bodyPr wrap="square" lIns="0" tIns="0" rIns="0" bIns="0" rtlCol="0" anchor="ctr"/>
          <a:lstStyle/>
          <a:p>
            <a:pPr indent="0" marL="0">
              <a:buNone/>
            </a:pPr>
            <a:r>
              <a:rPr lang="en-US" sz="1000" b="1" dirty="0">
                <a:solidFill>
                  <a:srgbClr val="17211B"/>
                </a:solidFill>
                <a:latin typeface="Arial" pitchFamily="34" charset="0"/>
                <a:ea typeface="Arial" pitchFamily="34" charset="-122"/>
                <a:cs typeface="Arial" pitchFamily="34" charset="-120"/>
              </a:rPr>
              <a:t>$48K</a:t>
            </a:r>
            <a:endParaRPr lang="en-US" sz="1000" dirty="0"/>
          </a:p>
        </p:txBody>
      </p:sp>
      <p:sp>
        <p:nvSpPr>
          <p:cNvPr id="16" name="Text 14"/>
          <p:cNvSpPr txBox="1"/>
          <p:nvPr/>
        </p:nvSpPr>
        <p:spPr>
          <a:xfrm>
            <a:off x="3611880" y="2935224"/>
            <a:ext cx="2103120" cy="329184"/>
          </a:xfrm>
          <a:prstGeom prst="rect">
            <a:avLst/>
          </a:prstGeom>
          <a:noFill/>
          <a:ln/>
        </p:spPr>
        <p:txBody>
          <a:bodyPr wrap="square" lIns="0" tIns="0" rIns="0" bIns="0" rtlCol="0" anchor="ctr"/>
          <a:lstStyle/>
          <a:p>
            <a:pPr algn="r" indent="0" marL="0">
              <a:buNone/>
            </a:pPr>
            <a:r>
              <a:rPr lang="en-US" sz="1000" b="1" dirty="0">
                <a:solidFill>
                  <a:srgbClr val="17211B"/>
                </a:solidFill>
                <a:latin typeface="Arial" pitchFamily="34" charset="0"/>
                <a:ea typeface="Arial" pitchFamily="34" charset="-122"/>
                <a:cs typeface="Arial" pitchFamily="34" charset="-120"/>
              </a:rPr>
              <a:t>Forecast · availability held</a:t>
            </a:r>
            <a:endParaRPr lang="en-US" sz="1000" dirty="0"/>
          </a:p>
        </p:txBody>
      </p:sp>
      <p:sp>
        <p:nvSpPr>
          <p:cNvPr id="17" name="Shape 15"/>
          <p:cNvSpPr/>
          <p:nvPr/>
        </p:nvSpPr>
        <p:spPr>
          <a:xfrm>
            <a:off x="5806440" y="2990088"/>
            <a:ext cx="1583390" cy="219456"/>
          </a:xfrm>
          <a:prstGeom prst="roundRect">
            <a:avLst>
              <a:gd name="adj" fmla="val 16667"/>
            </a:avLst>
          </a:prstGeom>
          <a:solidFill>
            <a:srgbClr val="1E7A46"/>
          </a:solidFill>
          <a:ln w="12700">
            <a:solidFill>
              <a:srgbClr val="1E7A46"/>
            </a:solidFill>
            <a:prstDash val="solid"/>
          </a:ln>
        </p:spPr>
      </p:sp>
      <p:sp>
        <p:nvSpPr>
          <p:cNvPr id="18" name="Text 16"/>
          <p:cNvSpPr txBox="1"/>
          <p:nvPr/>
        </p:nvSpPr>
        <p:spPr>
          <a:xfrm>
            <a:off x="7444694" y="2935224"/>
            <a:ext cx="640080" cy="329184"/>
          </a:xfrm>
          <a:prstGeom prst="rect">
            <a:avLst/>
          </a:prstGeom>
          <a:noFill/>
          <a:ln/>
        </p:spPr>
        <p:txBody>
          <a:bodyPr wrap="square" lIns="0" tIns="0" rIns="0" bIns="0" rtlCol="0" anchor="ctr"/>
          <a:lstStyle/>
          <a:p>
            <a:pPr indent="0" marL="0">
              <a:buNone/>
            </a:pPr>
            <a:r>
              <a:rPr lang="en-US" sz="1000" b="1" dirty="0">
                <a:solidFill>
                  <a:srgbClr val="17211B"/>
                </a:solidFill>
                <a:latin typeface="Arial" pitchFamily="34" charset="0"/>
                <a:ea typeface="Arial" pitchFamily="34" charset="-122"/>
                <a:cs typeface="Arial" pitchFamily="34" charset="-120"/>
              </a:rPr>
              <a:t>$41K</a:t>
            </a:r>
            <a:endParaRPr lang="en-US" sz="1000" dirty="0"/>
          </a:p>
        </p:txBody>
      </p:sp>
      <p:sp>
        <p:nvSpPr>
          <p:cNvPr id="19" name="Text 17"/>
          <p:cNvSpPr txBox="1"/>
          <p:nvPr/>
        </p:nvSpPr>
        <p:spPr>
          <a:xfrm>
            <a:off x="3611880" y="3410712"/>
            <a:ext cx="2103120" cy="329184"/>
          </a:xfrm>
          <a:prstGeom prst="rect">
            <a:avLst/>
          </a:prstGeom>
          <a:noFill/>
          <a:ln/>
        </p:spPr>
        <p:txBody>
          <a:bodyPr wrap="square" lIns="0" tIns="0" rIns="0" bIns="0" rtlCol="0" anchor="ctr"/>
          <a:lstStyle/>
          <a:p>
            <a:pPr algn="r" indent="0" marL="0">
              <a:buNone/>
            </a:pPr>
            <a:r>
              <a:rPr lang="en-US" sz="1000" b="1" dirty="0">
                <a:solidFill>
                  <a:srgbClr val="17211B"/>
                </a:solidFill>
                <a:latin typeface="Arial" pitchFamily="34" charset="0"/>
                <a:ea typeface="Arial" pitchFamily="34" charset="-122"/>
                <a:cs typeface="Arial" pitchFamily="34" charset="-120"/>
              </a:rPr>
              <a:t>Forecast · profit-optimal</a:t>
            </a:r>
            <a:endParaRPr lang="en-US" sz="1000" dirty="0"/>
          </a:p>
        </p:txBody>
      </p:sp>
      <p:sp>
        <p:nvSpPr>
          <p:cNvPr id="20" name="Shape 18"/>
          <p:cNvSpPr/>
          <p:nvPr/>
        </p:nvSpPr>
        <p:spPr>
          <a:xfrm>
            <a:off x="5806440" y="3465576"/>
            <a:ext cx="1531161" cy="219456"/>
          </a:xfrm>
          <a:prstGeom prst="roundRect">
            <a:avLst>
              <a:gd name="adj" fmla="val 16667"/>
            </a:avLst>
          </a:prstGeom>
          <a:solidFill>
            <a:srgbClr val="1E7A46"/>
          </a:solidFill>
          <a:ln w="12700">
            <a:solidFill>
              <a:srgbClr val="1E7A46"/>
            </a:solidFill>
            <a:prstDash val="solid"/>
          </a:ln>
        </p:spPr>
      </p:sp>
      <p:sp>
        <p:nvSpPr>
          <p:cNvPr id="21" name="Text 19"/>
          <p:cNvSpPr txBox="1"/>
          <p:nvPr/>
        </p:nvSpPr>
        <p:spPr>
          <a:xfrm>
            <a:off x="7392465" y="3410712"/>
            <a:ext cx="640080" cy="329184"/>
          </a:xfrm>
          <a:prstGeom prst="rect">
            <a:avLst/>
          </a:prstGeom>
          <a:noFill/>
          <a:ln/>
        </p:spPr>
        <p:txBody>
          <a:bodyPr wrap="square" lIns="0" tIns="0" rIns="0" bIns="0" rtlCol="0" anchor="ctr"/>
          <a:lstStyle/>
          <a:p>
            <a:pPr indent="0" marL="0">
              <a:buNone/>
            </a:pPr>
            <a:r>
              <a:rPr lang="en-US" sz="1000" b="1" dirty="0">
                <a:solidFill>
                  <a:srgbClr val="17211B"/>
                </a:solidFill>
                <a:latin typeface="Arial" pitchFamily="34" charset="0"/>
                <a:ea typeface="Arial" pitchFamily="34" charset="-122"/>
                <a:cs typeface="Arial" pitchFamily="34" charset="-120"/>
              </a:rPr>
              <a:t>$40K</a:t>
            </a:r>
            <a:endParaRPr lang="en-US" sz="1000" dirty="0"/>
          </a:p>
        </p:txBody>
      </p:sp>
      <p:sp>
        <p:nvSpPr>
          <p:cNvPr id="22" name="Text 20"/>
          <p:cNvSpPr txBox="1"/>
          <p:nvPr/>
        </p:nvSpPr>
        <p:spPr>
          <a:xfrm>
            <a:off x="3611880" y="3886200"/>
            <a:ext cx="2103120" cy="329184"/>
          </a:xfrm>
          <a:prstGeom prst="rect">
            <a:avLst/>
          </a:prstGeom>
          <a:noFill/>
          <a:ln/>
        </p:spPr>
        <p:txBody>
          <a:bodyPr wrap="square" lIns="0" tIns="0" rIns="0" bIns="0" rtlCol="0" anchor="ctr"/>
          <a:lstStyle/>
          <a:p>
            <a:pPr algn="r" indent="0" marL="0">
              <a:buNone/>
            </a:pPr>
            <a:r>
              <a:rPr lang="en-US" sz="1000" b="1" dirty="0">
                <a:solidFill>
                  <a:srgbClr val="17211B"/>
                </a:solidFill>
                <a:latin typeface="Arial" pitchFamily="34" charset="0"/>
                <a:ea typeface="Arial" pitchFamily="34" charset="-122"/>
                <a:cs typeface="Arial" pitchFamily="34" charset="-120"/>
              </a:rPr>
              <a:t>Oracle (perfect knowledge)</a:t>
            </a:r>
            <a:endParaRPr lang="en-US" sz="1000" dirty="0"/>
          </a:p>
        </p:txBody>
      </p:sp>
      <p:sp>
        <p:nvSpPr>
          <p:cNvPr id="23" name="Shape 21"/>
          <p:cNvSpPr/>
          <p:nvPr/>
        </p:nvSpPr>
        <p:spPr>
          <a:xfrm>
            <a:off x="5806440" y="3941064"/>
            <a:ext cx="1379479" cy="219456"/>
          </a:xfrm>
          <a:prstGeom prst="roundRect">
            <a:avLst>
              <a:gd name="adj" fmla="val 16667"/>
            </a:avLst>
          </a:prstGeom>
          <a:solidFill>
            <a:srgbClr val="2A78D6"/>
          </a:solidFill>
          <a:ln w="12700">
            <a:solidFill>
              <a:srgbClr val="2A78D6"/>
            </a:solidFill>
            <a:prstDash val="solid"/>
          </a:ln>
        </p:spPr>
      </p:sp>
      <p:sp>
        <p:nvSpPr>
          <p:cNvPr id="24" name="Text 22"/>
          <p:cNvSpPr txBox="1"/>
          <p:nvPr/>
        </p:nvSpPr>
        <p:spPr>
          <a:xfrm>
            <a:off x="7240783" y="3886200"/>
            <a:ext cx="640080" cy="329184"/>
          </a:xfrm>
          <a:prstGeom prst="rect">
            <a:avLst/>
          </a:prstGeom>
          <a:noFill/>
          <a:ln/>
        </p:spPr>
        <p:txBody>
          <a:bodyPr wrap="square" lIns="0" tIns="0" rIns="0" bIns="0" rtlCol="0" anchor="ctr"/>
          <a:lstStyle/>
          <a:p>
            <a:pPr indent="0" marL="0">
              <a:buNone/>
            </a:pPr>
            <a:r>
              <a:rPr lang="en-US" sz="1000" b="1" dirty="0">
                <a:solidFill>
                  <a:srgbClr val="17211B"/>
                </a:solidFill>
                <a:latin typeface="Arial" pitchFamily="34" charset="0"/>
                <a:ea typeface="Arial" pitchFamily="34" charset="-122"/>
                <a:cs typeface="Arial" pitchFamily="34" charset="-120"/>
              </a:rPr>
              <a:t>$36K</a:t>
            </a:r>
            <a:endParaRPr lang="en-US" sz="1000" dirty="0"/>
          </a:p>
        </p:txBody>
      </p:sp>
      <p:sp>
        <p:nvSpPr>
          <p:cNvPr id="26" name="Text 2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PROOF OF CONCEPT</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200" b="1" dirty="0">
                <a:solidFill>
                  <a:srgbClr val="17211B"/>
                </a:solidFill>
                <a:latin typeface="Arial" pitchFamily="34" charset="0"/>
                <a:ea typeface="Arial" pitchFamily="34" charset="-122"/>
                <a:cs typeface="Arial" pitchFamily="34" charset="-120"/>
              </a:rPr>
              <a:t>Less waste at the same availability, or much less waste at slightly lower availability</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8046720" cy="914400"/>
        </p:xfrm>
        <a:graphic>
          <a:graphicData uri="http://schemas.openxmlformats.org/drawingml/2006/table">
            <a:tbl>
              <a:tblPr/>
              <a:tblGrid>
                <a:gridCol w="2194560"/>
                <a:gridCol w="1737360"/>
                <a:gridCol w="1463040"/>
                <a:gridCol w="1371600"/>
                <a:gridCol w="1280160"/>
              </a:tblGrid>
              <a:tr h="329184">
                <a:tc>
                  <a:txBody>
                    <a:bodyPr/>
                    <a:lstStyle/>
                    <a:p>
                      <a:pPr algn="l" indent="0" marL="0">
                        <a:buNone/>
                      </a:pPr>
                      <a:r>
                        <a:rPr lang="en-US" sz="850" b="1" dirty="0">
                          <a:solidFill>
                            <a:srgbClr val="4D5A52"/>
                          </a:solidFill>
                          <a:latin typeface="Arial" pitchFamily="34" charset="0"/>
                          <a:ea typeface="Arial" pitchFamily="34" charset="-122"/>
                          <a:cs typeface="Arial" pitchFamily="34" charset="-120"/>
                        </a:rPr>
                        <a:t>HELD-OUT YEAR, ONE STORE</a:t>
                      </a:r>
                      <a:endParaRPr lang="en-US" sz="850" dirty="0">
                        <a:latin typeface="Arial" charset="0"/>
                        <a:ea typeface="Arial" charset="0"/>
                        <a:cs typeface="Arial"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850" b="1" dirty="0">
                          <a:solidFill>
                            <a:srgbClr val="4D5A52"/>
                          </a:solidFill>
                          <a:latin typeface="Arial" pitchFamily="34" charset="0"/>
                          <a:ea typeface="Arial" pitchFamily="34" charset="-122"/>
                          <a:cs typeface="Arial" pitchFamily="34" charset="-120"/>
                        </a:rPr>
                        <a:t>WASTE (RETAIL VALUE)</a:t>
                      </a:r>
                      <a:endParaRPr lang="en-US" sz="850" dirty="0">
                        <a:latin typeface="Arial" charset="0"/>
                        <a:ea typeface="Arial" charset="0"/>
                        <a:cs typeface="Arial"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850" b="1" dirty="0">
                          <a:solidFill>
                            <a:srgbClr val="4D5A52"/>
                          </a:solidFill>
                          <a:latin typeface="Arial" pitchFamily="34" charset="0"/>
                          <a:ea typeface="Arial" pitchFamily="34" charset="-122"/>
                          <a:cs typeface="Arial" pitchFamily="34" charset="-120"/>
                        </a:rPr>
                        <a:t>WASTE, % OF PRODUCTION</a:t>
                      </a:r>
                      <a:endParaRPr lang="en-US" sz="850" dirty="0">
                        <a:latin typeface="Arial" charset="0"/>
                        <a:ea typeface="Arial" charset="0"/>
                        <a:cs typeface="Arial"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850" b="1" dirty="0">
                          <a:solidFill>
                            <a:srgbClr val="4D5A52"/>
                          </a:solidFill>
                          <a:latin typeface="Arial" pitchFamily="34" charset="0"/>
                          <a:ea typeface="Arial" pitchFamily="34" charset="-122"/>
                          <a:cs typeface="Arial" pitchFamily="34" charset="-120"/>
                        </a:rPr>
                        <a:t>AVAILABILITY (FILL RATE)</a:t>
                      </a:r>
                      <a:endParaRPr lang="en-US" sz="850" dirty="0">
                        <a:latin typeface="Arial" charset="0"/>
                        <a:ea typeface="Arial" charset="0"/>
                        <a:cs typeface="Arial"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850" b="1" dirty="0">
                          <a:solidFill>
                            <a:srgbClr val="4D5A52"/>
                          </a:solidFill>
                          <a:latin typeface="Arial" pitchFamily="34" charset="0"/>
                          <a:ea typeface="Arial" pitchFamily="34" charset="-122"/>
                          <a:cs typeface="Arial" pitchFamily="34" charset="-120"/>
                        </a:rPr>
                        <a:t>TOTAL ECONOMIC COST</a:t>
                      </a:r>
                      <a:endParaRPr lang="en-US" sz="850" dirty="0">
                        <a:latin typeface="Arial" charset="0"/>
                        <a:ea typeface="Arial" charset="0"/>
                        <a:cs typeface="Arial"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329184">
                <a:tc>
                  <a:txBody>
                    <a:bodyPr/>
                    <a:lstStyle/>
                    <a:p>
                      <a:pPr algn="l" indent="0" marL="0">
                        <a:buNone/>
                      </a:pPr>
                      <a:r>
                        <a:rPr lang="en-US" sz="1150" b="1" dirty="0">
                          <a:solidFill>
                            <a:srgbClr val="17211B"/>
                          </a:solidFill>
                          <a:latin typeface="Calibri" pitchFamily="34" charset="0"/>
                          <a:ea typeface="Calibri" pitchFamily="34" charset="-122"/>
                          <a:cs typeface="Calibri" pitchFamily="34" charset="-120"/>
                        </a:rPr>
                        <a:t>Status quo (par sheet)</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$138,462</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18.8%</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98.1%</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$56,011</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329184">
                <a:tc>
                  <a:txBody>
                    <a:bodyPr/>
                    <a:lstStyle/>
                    <a:p>
                      <a:pPr algn="l" indent="0" marL="0">
                        <a:buNone/>
                      </a:pPr>
                      <a:r>
                        <a:rPr lang="en-US" sz="1150" b="1" dirty="0">
                          <a:solidFill>
                            <a:srgbClr val="17211B"/>
                          </a:solidFill>
                          <a:latin typeface="Calibri" pitchFamily="34" charset="0"/>
                          <a:ea typeface="Calibri" pitchFamily="34" charset="-122"/>
                          <a:cs typeface="Calibri" pitchFamily="34" charset="-120"/>
                        </a:rPr>
                        <a:t>Forecast, availability held</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$87,351  </a:t>
                      </a:r>
                      <a:pPr algn="r" indent="0" marL="0">
                        <a:buNone/>
                      </a:pPr>
                      <a:r>
                        <a:rPr lang="en-US" sz="1100" b="1" dirty="0">
                          <a:solidFill>
                            <a:srgbClr val="1E7A46"/>
                          </a:solidFill>
                          <a:latin typeface="Arial" pitchFamily="34" charset="0"/>
                          <a:ea typeface="Arial" pitchFamily="34" charset="-122"/>
                          <a:cs typeface="Arial" pitchFamily="34" charset="-120"/>
                        </a:rPr>
                        <a:t>(−37%)</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12.8%</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97.6%</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$41,078</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r>
              <a:tr h="329184">
                <a:tc>
                  <a:txBody>
                    <a:bodyPr/>
                    <a:lstStyle/>
                    <a:p>
                      <a:pPr algn="l" indent="0" marL="0">
                        <a:buNone/>
                      </a:pPr>
                      <a:r>
                        <a:rPr lang="en-US" sz="1150" b="1" dirty="0">
                          <a:solidFill>
                            <a:srgbClr val="17211B"/>
                          </a:solidFill>
                          <a:latin typeface="Calibri" pitchFamily="34" charset="0"/>
                          <a:ea typeface="Calibri" pitchFamily="34" charset="-122"/>
                          <a:cs typeface="Calibri" pitchFamily="34" charset="-120"/>
                        </a:rPr>
                        <a:t>Forecast, profit-optimal</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$55,883  </a:t>
                      </a:r>
                      <a:pPr algn="r" indent="0" marL="0">
                        <a:buNone/>
                      </a:pPr>
                      <a:r>
                        <a:rPr lang="en-US" sz="1100" b="1" dirty="0">
                          <a:solidFill>
                            <a:srgbClr val="1E7A46"/>
                          </a:solidFill>
                          <a:latin typeface="Arial" pitchFamily="34" charset="0"/>
                          <a:ea typeface="Arial" pitchFamily="34" charset="-122"/>
                          <a:cs typeface="Arial" pitchFamily="34" charset="-120"/>
                        </a:rPr>
                        <a:t>(−60%)</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8.8%</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95.5%</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$39,723</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E7F2EC"/>
                    </a:solidFill>
                  </a:tcPr>
                </a:tc>
              </a:tr>
              <a:tr h="329184">
                <a:tc>
                  <a:txBody>
                    <a:bodyPr/>
                    <a:lstStyle/>
                    <a:p>
                      <a:pPr algn="l" indent="0" marL="0">
                        <a:buNone/>
                      </a:pPr>
                      <a:r>
                        <a:rPr lang="en-US" sz="1150" b="1" dirty="0">
                          <a:solidFill>
                            <a:srgbClr val="17211B"/>
                          </a:solidFill>
                          <a:latin typeface="Calibri" pitchFamily="34" charset="0"/>
                          <a:ea typeface="Calibri" pitchFamily="34" charset="-122"/>
                          <a:cs typeface="Calibri" pitchFamily="34" charset="-120"/>
                        </a:rPr>
                        <a:t>Oracle (perfect knowledge)</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$57,435</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8.9%</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96.6%</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150" dirty="0">
                          <a:solidFill>
                            <a:srgbClr val="17211B"/>
                          </a:solidFill>
                          <a:latin typeface="Calibri" pitchFamily="34" charset="0"/>
                          <a:ea typeface="Calibri" pitchFamily="34" charset="-122"/>
                          <a:cs typeface="Calibri" pitchFamily="34" charset="-120"/>
                        </a:rPr>
                        <a:t>$35,788</a:t>
                      </a:r>
                      <a:endParaRPr lang="en-US" sz="1150" dirty="0">
                        <a:latin typeface="Calibri" charset="0"/>
                        <a:ea typeface="Calibri" charset="0"/>
                        <a:cs typeface="Calibri" charset="0"/>
                      </a:endParaRPr>
                    </a:p>
                  </a:txBody>
                  <a:tcPr marL="54864" marR="54864" marT="54864" marB="54864">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bl>
          </a:graphicData>
        </a:graphic>
      </p:graphicFrame>
      <p:sp>
        <p:nvSpPr>
          <p:cNvPr id="5" name="Text 2"/>
          <p:cNvSpPr txBox="1"/>
          <p:nvPr/>
        </p:nvSpPr>
        <p:spPr>
          <a:xfrm>
            <a:off x="548640" y="3429000"/>
            <a:ext cx="2514600" cy="1188720"/>
          </a:xfrm>
          <a:prstGeom prst="rect">
            <a:avLst/>
          </a:prstGeom>
          <a:noFill/>
          <a:ln/>
        </p:spPr>
        <p:txBody>
          <a:bodyPr wrap="square" lIns="0" tIns="0" rIns="0" bIns="0" rtlCol="0" anchor="t"/>
          <a:lstStyle/>
          <a:p>
            <a:pPr indent="0" marL="0">
              <a:lnSpc>
                <a:spcPct val="110000"/>
              </a:lnSpc>
              <a:buNone/>
            </a:pPr>
            <a:r>
              <a:rPr lang="en-US" sz="1000" b="1" dirty="0">
                <a:solidFill>
                  <a:srgbClr val="17211B"/>
                </a:solidFill>
                <a:latin typeface="Arial" pitchFamily="34" charset="0"/>
                <a:ea typeface="Arial" pitchFamily="34" charset="-122"/>
                <a:cs typeface="Arial" pitchFamily="34" charset="-120"/>
              </a:rPr>
              <a:t>Availability held </a:t>
            </a:r>
            <a:pPr indent="0" marL="0">
              <a:lnSpc>
                <a:spcPct val="110000"/>
              </a:lnSpc>
              <a:buNone/>
            </a:pPr>
            <a:r>
              <a:rPr lang="en-US" sz="1000" dirty="0">
                <a:solidFill>
                  <a:srgbClr val="4D5A52"/>
                </a:solidFill>
                <a:latin typeface="Calibri" pitchFamily="34" charset="0"/>
                <a:ea typeface="Calibri" pitchFamily="34" charset="-122"/>
                <a:cs typeface="Calibri" pitchFamily="34" charset="-120"/>
              </a:rPr>
              <a:t>is the pilot setting: $51,111 less food thrown away per year at retail value, with customers seeing an empty case about as often as they do today.</a:t>
            </a:r>
            <a:endParaRPr lang="en-US" sz="1000" dirty="0"/>
          </a:p>
        </p:txBody>
      </p:sp>
      <p:sp>
        <p:nvSpPr>
          <p:cNvPr id="6" name="Text 3"/>
          <p:cNvSpPr txBox="1"/>
          <p:nvPr/>
        </p:nvSpPr>
        <p:spPr>
          <a:xfrm>
            <a:off x="3246120" y="3429000"/>
            <a:ext cx="2514600" cy="1188720"/>
          </a:xfrm>
          <a:prstGeom prst="rect">
            <a:avLst/>
          </a:prstGeom>
          <a:noFill/>
          <a:ln/>
        </p:spPr>
        <p:txBody>
          <a:bodyPr wrap="square" lIns="0" tIns="0" rIns="0" bIns="0" rtlCol="0" anchor="t"/>
          <a:lstStyle/>
          <a:p>
            <a:pPr indent="0" marL="0">
              <a:lnSpc>
                <a:spcPct val="110000"/>
              </a:lnSpc>
              <a:buNone/>
            </a:pPr>
            <a:r>
              <a:rPr lang="en-US" sz="1000" b="1" dirty="0">
                <a:solidFill>
                  <a:srgbClr val="17211B"/>
                </a:solidFill>
                <a:latin typeface="Arial" pitchFamily="34" charset="0"/>
                <a:ea typeface="Arial" pitchFamily="34" charset="-122"/>
                <a:cs typeface="Arial" pitchFamily="34" charset="-120"/>
              </a:rPr>
              <a:t>Profit-optimal </a:t>
            </a:r>
            <a:pPr indent="0" marL="0">
              <a:lnSpc>
                <a:spcPct val="110000"/>
              </a:lnSpc>
              <a:buNone/>
            </a:pPr>
            <a:r>
              <a:rPr lang="en-US" sz="1000" dirty="0">
                <a:solidFill>
                  <a:srgbClr val="4D5A52"/>
                </a:solidFill>
                <a:latin typeface="Calibri" pitchFamily="34" charset="0"/>
                <a:ea typeface="Calibri" pitchFamily="34" charset="-122"/>
                <a:cs typeface="Calibri" pitchFamily="34" charset="-120"/>
              </a:rPr>
              <a:t>is where the decision rule would go on its own: waste falls by 60%, and availability slips from 98.1% to 95.5%. That is a business choice, item by item, not a model setting.</a:t>
            </a:r>
            <a:endParaRPr lang="en-US" sz="1000" dirty="0"/>
          </a:p>
        </p:txBody>
      </p:sp>
      <p:sp>
        <p:nvSpPr>
          <p:cNvPr id="7" name="Text 4"/>
          <p:cNvSpPr txBox="1"/>
          <p:nvPr/>
        </p:nvSpPr>
        <p:spPr>
          <a:xfrm>
            <a:off x="5943600" y="3429000"/>
            <a:ext cx="2514600" cy="1188720"/>
          </a:xfrm>
          <a:prstGeom prst="rect">
            <a:avLst/>
          </a:prstGeom>
          <a:noFill/>
          <a:ln/>
        </p:spPr>
        <p:txBody>
          <a:bodyPr wrap="square" lIns="0" tIns="0" rIns="0" bIns="0" rtlCol="0" anchor="t"/>
          <a:lstStyle/>
          <a:p>
            <a:pPr indent="0" marL="0">
              <a:lnSpc>
                <a:spcPct val="110000"/>
              </a:lnSpc>
              <a:buNone/>
            </a:pPr>
            <a:r>
              <a:rPr lang="en-US" sz="1000" b="1" dirty="0">
                <a:solidFill>
                  <a:srgbClr val="17211B"/>
                </a:solidFill>
                <a:latin typeface="Arial" pitchFamily="34" charset="0"/>
                <a:ea typeface="Arial" pitchFamily="34" charset="-122"/>
                <a:cs typeface="Arial" pitchFamily="34" charset="-120"/>
              </a:rPr>
              <a:t>Forecast accuracy </a:t>
            </a:r>
            <a:pPr indent="0" marL="0">
              <a:lnSpc>
                <a:spcPct val="110000"/>
              </a:lnSpc>
              <a:buNone/>
            </a:pPr>
            <a:r>
              <a:rPr lang="en-US" sz="1000" dirty="0">
                <a:solidFill>
                  <a:srgbClr val="4D5A52"/>
                </a:solidFill>
                <a:latin typeface="Calibri" pitchFamily="34" charset="0"/>
                <a:ea typeface="Calibri" pitchFamily="34" charset="-122"/>
                <a:cs typeface="Calibri" pitchFamily="34" charset="-120"/>
              </a:rPr>
              <a:t>13.0% weighted error, against 15.5% for a trailing average and 15.1% for a linear model.</a:t>
            </a:r>
            <a:endParaRPr lang="en-US" sz="1000" dirty="0"/>
          </a:p>
        </p:txBody>
      </p:sp>
      <p:sp>
        <p:nvSpPr>
          <p:cNvPr id="9" name="Text 5"/>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WHAT IT LOOKS LIKE DAY TO DAY</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200" b="1" dirty="0">
                <a:solidFill>
                  <a:srgbClr val="17211B"/>
                </a:solidFill>
                <a:latin typeface="Arial" pitchFamily="34" charset="0"/>
                <a:ea typeface="Arial" pitchFamily="34" charset="-122"/>
                <a:cs typeface="Arial" pitchFamily="34" charset="-120"/>
              </a:rPr>
              <a:t>Whole pizza, eight simulated weeks: the forecast hugs demand, the par sheet pads it</a:t>
            </a:r>
            <a:endParaRPr lang="en-US" sz="2200" dirty="0"/>
          </a:p>
        </p:txBody>
      </p:sp>
      <p:graphicFrame>
        <p:nvGraphicFramePr>
          <p:cNvPr id="4" name="Chart 0" descr=""/>
          <p:cNvGraphicFramePr/>
          <p:nvPr/>
        </p:nvGraphicFramePr>
        <p:xfrm>
          <a:off x="548640" y="1463040"/>
          <a:ext cx="8046720" cy="2971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526280"/>
            <a:ext cx="7223760" cy="411480"/>
          </a:xfrm>
          <a:prstGeom prst="rect">
            <a:avLst/>
          </a:prstGeom>
          <a:noFill/>
          <a:ln/>
        </p:spPr>
        <p:txBody>
          <a:bodyPr wrap="square" lIns="0" tIns="0" rIns="0" bIns="0" rtlCol="0" anchor="b"/>
          <a:lstStyle/>
          <a:p>
            <a:pPr indent="0" marL="0">
              <a:buNone/>
            </a:pPr>
            <a:r>
              <a:rPr lang="en-US" sz="950" dirty="0">
                <a:solidFill>
                  <a:srgbClr val="7D8A81"/>
                </a:solidFill>
                <a:latin typeface="Calibri" pitchFamily="34" charset="0"/>
                <a:ea typeface="Calibri" pitchFamily="34" charset="-122"/>
                <a:cs typeface="Calibri" pitchFamily="34" charset="-120"/>
              </a:rPr>
              <a:t>Units per day. Actual demand is what no method ever sees; both policies only see sales. Super Bowl Sunday falls on 02-09 and Valentine's Day on 02-14, both known to the forecast a day ahead.</a:t>
            </a:r>
            <a:endParaRPr lang="en-US" sz="950" dirty="0"/>
          </a:p>
        </p:txBody>
      </p:sp>
      <p:sp>
        <p:nvSpPr>
          <p:cNvPr id="7"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PROOF OF CONCEPT</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200" b="1" dirty="0">
                <a:solidFill>
                  <a:srgbClr val="17211B"/>
                </a:solidFill>
                <a:latin typeface="Arial" pitchFamily="34" charset="0"/>
                <a:ea typeface="Arial" pitchFamily="34" charset="-122"/>
                <a:cs typeface="Arial" pitchFamily="34" charset="-120"/>
              </a:rPr>
              <a:t>Savings accrue every week, not at the end of a project</a:t>
            </a:r>
            <a:endParaRPr lang="en-US" sz="2200" dirty="0"/>
          </a:p>
        </p:txBody>
      </p:sp>
      <p:sp>
        <p:nvSpPr>
          <p:cNvPr id="4" name="Text 2"/>
          <p:cNvSpPr txBox="1"/>
          <p:nvPr/>
        </p:nvSpPr>
        <p:spPr>
          <a:xfrm>
            <a:off x="548640" y="1417320"/>
            <a:ext cx="3017520" cy="137160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7211B"/>
                </a:solidFill>
                <a:latin typeface="Calibri" pitchFamily="34" charset="0"/>
                <a:ea typeface="Calibri" pitchFamily="34" charset="-122"/>
                <a:cs typeface="Calibri" pitchFamily="34" charset="-120"/>
              </a:rPr>
              <a:t>Cumulative economic cost avoided by the profit-optimal forecast versus the par sheet across the simulated year: $16,288 per store, or about $313 a week from the first week of live operation.</a:t>
            </a:r>
            <a:endParaRPr lang="en-US" sz="1200" dirty="0"/>
          </a:p>
        </p:txBody>
      </p:sp>
      <p:sp>
        <p:nvSpPr>
          <p:cNvPr id="5" name="Text 3"/>
          <p:cNvSpPr txBox="1"/>
          <p:nvPr/>
        </p:nvSpPr>
        <p:spPr>
          <a:xfrm>
            <a:off x="548640" y="2743200"/>
            <a:ext cx="3017520" cy="100584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7211B"/>
                </a:solidFill>
                <a:latin typeface="Calibri" pitchFamily="34" charset="0"/>
                <a:ea typeface="Calibri" pitchFamily="34" charset="-122"/>
                <a:cs typeface="Calibri" pitchFamily="34" charset="-120"/>
              </a:rPr>
              <a:t>At the availability-held setting it is $14,933 per store-year in economic cost, and $51,111 of food, at retail, not thrown away.</a:t>
            </a:r>
            <a:endParaRPr lang="en-US" sz="1200" dirty="0"/>
          </a:p>
        </p:txBody>
      </p:sp>
      <p:sp>
        <p:nvSpPr>
          <p:cNvPr id="6" name="Text 4"/>
          <p:cNvSpPr txBox="1"/>
          <p:nvPr/>
        </p:nvSpPr>
        <p:spPr>
          <a:xfrm>
            <a:off x="548640" y="3703320"/>
            <a:ext cx="3017520" cy="822960"/>
          </a:xfrm>
          <a:prstGeom prst="rect">
            <a:avLst/>
          </a:prstGeom>
          <a:noFill/>
          <a:ln/>
        </p:spPr>
        <p:txBody>
          <a:bodyPr wrap="square" lIns="0" tIns="0" rIns="0" bIns="0" rtlCol="0" anchor="t"/>
          <a:lstStyle/>
          <a:p>
            <a:pPr indent="0" marL="0">
              <a:lnSpc>
                <a:spcPct val="112000"/>
              </a:lnSpc>
              <a:spcAft>
                <a:spcPts val="600"/>
              </a:spcAft>
              <a:buNone/>
            </a:pPr>
            <a:r>
              <a:rPr lang="en-US" sz="950" dirty="0">
                <a:solidFill>
                  <a:srgbClr val="7D8A81"/>
                </a:solidFill>
                <a:latin typeface="Calibri" pitchFamily="34" charset="0"/>
                <a:ea typeface="Calibri" pitchFamily="34" charset="-122"/>
                <a:cs typeface="Calibri" pitchFamily="34" charset="-120"/>
              </a:rPr>
              <a:t>Economic cost counts waste at cost of goods and missed sales at lost margin. Retail value of waste is the number a shrink report shows.</a:t>
            </a:r>
            <a:endParaRPr lang="en-US" sz="950" dirty="0"/>
          </a:p>
        </p:txBody>
      </p:sp>
      <p:graphicFrame>
        <p:nvGraphicFramePr>
          <p:cNvPr id="7" name="Chart 0" descr=""/>
          <p:cNvGraphicFramePr/>
          <p:nvPr/>
        </p:nvGraphicFramePr>
        <p:xfrm>
          <a:off x="3749040" y="1371600"/>
          <a:ext cx="4846320" cy="31089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READ THIS SLIDE CAREFULLY</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200" b="1" dirty="0">
                <a:solidFill>
                  <a:srgbClr val="17211B"/>
                </a:solidFill>
                <a:latin typeface="Arial" pitchFamily="34" charset="0"/>
                <a:ea typeface="Arial" pitchFamily="34" charset="-122"/>
                <a:cs typeface="Arial" pitchFamily="34" charset="-120"/>
              </a:rPr>
              <a:t>What the simulation proves, and what it does not</a:t>
            </a:r>
            <a:endParaRPr lang="en-US" sz="2200" dirty="0"/>
          </a:p>
        </p:txBody>
      </p:sp>
      <p:sp>
        <p:nvSpPr>
          <p:cNvPr id="4" name="Shape 2"/>
          <p:cNvSpPr/>
          <p:nvPr/>
        </p:nvSpPr>
        <p:spPr>
          <a:xfrm>
            <a:off x="548640" y="1463040"/>
            <a:ext cx="3886200" cy="3017520"/>
          </a:xfrm>
          <a:prstGeom prst="roundRect">
            <a:avLst>
              <a:gd name="adj" fmla="val 3636"/>
            </a:avLst>
          </a:prstGeom>
          <a:solidFill>
            <a:srgbClr val="E7F2EC"/>
          </a:solidFill>
          <a:ln w="9525">
            <a:solidFill>
              <a:srgbClr val="B9D8C6"/>
            </a:solidFill>
            <a:prstDash val="solid"/>
          </a:ln>
        </p:spPr>
      </p:sp>
      <p:sp>
        <p:nvSpPr>
          <p:cNvPr id="5" name="Text 3"/>
          <p:cNvSpPr txBox="1"/>
          <p:nvPr/>
        </p:nvSpPr>
        <p:spPr>
          <a:xfrm>
            <a:off x="731520" y="1572768"/>
            <a:ext cx="3566160" cy="320040"/>
          </a:xfrm>
          <a:prstGeom prst="rect">
            <a:avLst/>
          </a:prstGeom>
          <a:noFill/>
          <a:ln/>
        </p:spPr>
        <p:txBody>
          <a:bodyPr wrap="square" lIns="0" tIns="0" rIns="0" bIns="0" rtlCol="0" anchor="ctr"/>
          <a:lstStyle/>
          <a:p>
            <a:pPr indent="0" marL="0">
              <a:buNone/>
            </a:pPr>
            <a:r>
              <a:rPr lang="en-US" sz="1400" b="1" dirty="0">
                <a:solidFill>
                  <a:srgbClr val="17211B"/>
                </a:solidFill>
                <a:latin typeface="Arial" pitchFamily="34" charset="0"/>
                <a:ea typeface="Arial" pitchFamily="34" charset="-122"/>
                <a:cs typeface="Arial" pitchFamily="34" charset="-120"/>
              </a:rPr>
              <a:t>It proves the method</a:t>
            </a:r>
            <a:endParaRPr lang="en-US" sz="1400" dirty="0"/>
          </a:p>
        </p:txBody>
      </p:sp>
      <p:sp>
        <p:nvSpPr>
          <p:cNvPr id="6" name="Text 4"/>
          <p:cNvSpPr txBox="1"/>
          <p:nvPr/>
        </p:nvSpPr>
        <p:spPr>
          <a:xfrm>
            <a:off x="731520" y="1920240"/>
            <a:ext cx="356616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50" dirty="0">
                <a:solidFill>
                  <a:srgbClr val="17211B"/>
                </a:solidFill>
                <a:latin typeface="Calibri" pitchFamily="34" charset="0"/>
                <a:ea typeface="Calibri" pitchFamily="34" charset="-122"/>
                <a:cs typeface="Calibri" pitchFamily="34" charset="-120"/>
              </a:rPr>
              <a:t>Demand with realistic weekday, weather, holiday and seasonal structure is learnable from sales data alone, censored by sellouts as a real store's data is.</a:t>
            </a:r>
            <a:endParaRPr lang="en-US" sz="1150" dirty="0"/>
          </a:p>
          <a:p>
            <a:pPr marL="342900" indent="-342900">
              <a:lnSpc>
                <a:spcPct val="110000"/>
              </a:lnSpc>
              <a:spcAft>
                <a:spcPts val="600"/>
              </a:spcAft>
              <a:buSzPct val="100000"/>
              <a:buChar char="•"/>
            </a:pPr>
            <a:r>
              <a:rPr lang="en-US" sz="1150" dirty="0">
                <a:solidFill>
                  <a:srgbClr val="17211B"/>
                </a:solidFill>
                <a:latin typeface="Calibri" pitchFamily="34" charset="0"/>
                <a:ea typeface="Calibri" pitchFamily="34" charset="-122"/>
                <a:cs typeface="Calibri" pitchFamily="34" charset="-120"/>
              </a:rPr>
              <a:t>Production driven by those forecasts beats a well-run par sheet by a wide margin, and beats two simpler forecasters too.</a:t>
            </a:r>
            <a:endParaRPr lang="en-US" sz="1150" dirty="0"/>
          </a:p>
          <a:p>
            <a:pPr marL="342900" indent="-342900">
              <a:lnSpc>
                <a:spcPct val="110000"/>
              </a:lnSpc>
              <a:spcAft>
                <a:spcPts val="600"/>
              </a:spcAft>
              <a:buSzPct val="100000"/>
              <a:buChar char="•"/>
            </a:pPr>
            <a:r>
              <a:rPr lang="en-US" sz="1150" dirty="0">
                <a:solidFill>
                  <a:srgbClr val="17211B"/>
                </a:solidFill>
                <a:latin typeface="Calibri" pitchFamily="34" charset="0"/>
                <a:ea typeface="Calibri" pitchFamily="34" charset="-122"/>
                <a:cs typeface="Calibri" pitchFamily="34" charset="-120"/>
              </a:rPr>
              <a:t>Every number is reproducible from the repository with one command, and the inputs are frozen.</a:t>
            </a:r>
            <a:endParaRPr lang="en-US" sz="1150" dirty="0"/>
          </a:p>
        </p:txBody>
      </p:sp>
      <p:sp>
        <p:nvSpPr>
          <p:cNvPr id="7" name="Shape 5"/>
          <p:cNvSpPr/>
          <p:nvPr/>
        </p:nvSpPr>
        <p:spPr>
          <a:xfrm>
            <a:off x="4709160" y="1463040"/>
            <a:ext cx="3886200" cy="3017520"/>
          </a:xfrm>
          <a:prstGeom prst="roundRect">
            <a:avLst>
              <a:gd name="adj" fmla="val 3636"/>
            </a:avLst>
          </a:prstGeom>
          <a:solidFill>
            <a:srgbClr val="FDF6E8"/>
          </a:solidFill>
          <a:ln w="9525">
            <a:solidFill>
              <a:srgbClr val="E5CF9A"/>
            </a:solidFill>
            <a:prstDash val="solid"/>
          </a:ln>
        </p:spPr>
      </p:sp>
      <p:sp>
        <p:nvSpPr>
          <p:cNvPr id="8" name="Text 6"/>
          <p:cNvSpPr txBox="1"/>
          <p:nvPr/>
        </p:nvSpPr>
        <p:spPr>
          <a:xfrm>
            <a:off x="4892040" y="1572768"/>
            <a:ext cx="3566160" cy="320040"/>
          </a:xfrm>
          <a:prstGeom prst="rect">
            <a:avLst/>
          </a:prstGeom>
          <a:noFill/>
          <a:ln/>
        </p:spPr>
        <p:txBody>
          <a:bodyPr wrap="square" lIns="0" tIns="0" rIns="0" bIns="0" rtlCol="0" anchor="ctr"/>
          <a:lstStyle/>
          <a:p>
            <a:pPr indent="0" marL="0">
              <a:buNone/>
            </a:pPr>
            <a:r>
              <a:rPr lang="en-US" sz="1400" b="1" dirty="0">
                <a:solidFill>
                  <a:srgbClr val="17211B"/>
                </a:solidFill>
                <a:latin typeface="Arial" pitchFamily="34" charset="0"/>
                <a:ea typeface="Arial" pitchFamily="34" charset="-122"/>
                <a:cs typeface="Arial" pitchFamily="34" charset="-120"/>
              </a:rPr>
              <a:t>It does not prove our dollar figure</a:t>
            </a:r>
            <a:endParaRPr lang="en-US" sz="1400" dirty="0"/>
          </a:p>
        </p:txBody>
      </p:sp>
      <p:sp>
        <p:nvSpPr>
          <p:cNvPr id="9" name="Text 7"/>
          <p:cNvSpPr txBox="1"/>
          <p:nvPr/>
        </p:nvSpPr>
        <p:spPr>
          <a:xfrm>
            <a:off x="4892040" y="1920240"/>
            <a:ext cx="356616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50" dirty="0">
                <a:solidFill>
                  <a:srgbClr val="17211B"/>
                </a:solidFill>
                <a:latin typeface="Calibri" pitchFamily="34" charset="0"/>
                <a:ea typeface="Calibri" pitchFamily="34" charset="-122"/>
                <a:cs typeface="Calibri" pitchFamily="34" charset="-120"/>
              </a:rPr>
              <a:t>The simulated store is a plausible invention. Its simulated manager, though deliberately competent, is an invention too.</a:t>
            </a:r>
            <a:endParaRPr lang="en-US" sz="1150" dirty="0"/>
          </a:p>
          <a:p>
            <a:pPr marL="342900" indent="-342900">
              <a:lnSpc>
                <a:spcPct val="110000"/>
              </a:lnSpc>
              <a:spcAft>
                <a:spcPts val="600"/>
              </a:spcAft>
              <a:buSzPct val="100000"/>
              <a:buChar char="•"/>
            </a:pPr>
            <a:r>
              <a:rPr lang="en-US" sz="1150" dirty="0">
                <a:solidFill>
                  <a:srgbClr val="17211B"/>
                </a:solidFill>
                <a:latin typeface="Calibri" pitchFamily="34" charset="0"/>
                <a:ea typeface="Calibri" pitchFamily="34" charset="-122"/>
                <a:cs typeface="Calibri" pitchFamily="34" charset="-120"/>
              </a:rPr>
              <a:t>No company data of any kind was used. Nothing here has seen a real export yet.</a:t>
            </a:r>
            <a:endParaRPr lang="en-US" sz="1150" dirty="0"/>
          </a:p>
          <a:p>
            <a:pPr marL="342900" indent="-342900">
              <a:lnSpc>
                <a:spcPct val="110000"/>
              </a:lnSpc>
              <a:spcAft>
                <a:spcPts val="600"/>
              </a:spcAft>
              <a:buSzPct val="100000"/>
              <a:buChar char="•"/>
            </a:pPr>
            <a:r>
              <a:rPr lang="en-US" sz="1150" dirty="0">
                <a:solidFill>
                  <a:srgbClr val="17211B"/>
                </a:solidFill>
                <a:latin typeface="Calibri" pitchFamily="34" charset="0"/>
                <a:ea typeface="Calibri" pitchFamily="34" charset="-122"/>
                <a:cs typeface="Calibri" pitchFamily="34" charset="-120"/>
              </a:rPr>
              <a:t>That is why this proposal promises 10–15% in a real pilot, not 37–60%, and why the pilot's measured baseline, not the simulation, is the number it is judged against.</a:t>
            </a:r>
            <a:endParaRPr lang="en-US" sz="1150" dirty="0"/>
          </a:p>
        </p:txBody>
      </p:sp>
      <p:sp>
        <p:nvSpPr>
          <p:cNvPr id="11"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THE PROPOSAL</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200" b="1" dirty="0">
                <a:solidFill>
                  <a:srgbClr val="17211B"/>
                </a:solidFill>
                <a:latin typeface="Arial" pitchFamily="34" charset="0"/>
                <a:ea typeface="Arial" pitchFamily="34" charset="-122"/>
                <a:cs typeface="Arial" pitchFamily="34" charset="-120"/>
              </a:rPr>
              <a:t>A 90-day pilot at one store, with a stop gate before anything in the kitchen changes</a:t>
            </a:r>
            <a:endParaRPr lang="en-US" sz="2200" dirty="0"/>
          </a:p>
        </p:txBody>
      </p:sp>
      <p:sp>
        <p:nvSpPr>
          <p:cNvPr id="4" name="Shape 2"/>
          <p:cNvSpPr/>
          <p:nvPr/>
        </p:nvSpPr>
        <p:spPr>
          <a:xfrm>
            <a:off x="548640" y="1463040"/>
            <a:ext cx="2514600" cy="2148840"/>
          </a:xfrm>
          <a:prstGeom prst="roundRect">
            <a:avLst>
              <a:gd name="adj" fmla="val 5106"/>
            </a:avLst>
          </a:prstGeom>
          <a:solidFill>
            <a:srgbClr val="FFFFFF"/>
          </a:solidFill>
          <a:ln w="9525">
            <a:solidFill>
              <a:srgbClr val="D9DFD9"/>
            </a:solidFill>
            <a:prstDash val="solid"/>
          </a:ln>
        </p:spPr>
      </p:sp>
      <p:sp>
        <p:nvSpPr>
          <p:cNvPr id="5" name="Text 3"/>
          <p:cNvSpPr txBox="1"/>
          <p:nvPr/>
        </p:nvSpPr>
        <p:spPr>
          <a:xfrm>
            <a:off x="713232" y="1591056"/>
            <a:ext cx="2185416" cy="201168"/>
          </a:xfrm>
          <a:prstGeom prst="rect">
            <a:avLst/>
          </a:prstGeom>
          <a:noFill/>
          <a:ln/>
        </p:spPr>
        <p:txBody>
          <a:bodyPr wrap="square" lIns="0" tIns="0" rIns="0" bIns="0" rtlCol="0" anchor="ctr"/>
          <a:lstStyle/>
          <a:p>
            <a:pPr indent="0" marL="0">
              <a:buNone/>
            </a:pPr>
            <a:r>
              <a:rPr lang="en-US" sz="850" b="1" spc="150" kern="0" dirty="0">
                <a:solidFill>
                  <a:srgbClr val="1E7A46"/>
                </a:solidFill>
                <a:latin typeface="Arial" pitchFamily="34" charset="0"/>
                <a:ea typeface="Arial" pitchFamily="34" charset="-122"/>
                <a:cs typeface="Arial" pitchFamily="34" charset="-120"/>
              </a:rPr>
              <a:t>WEEKS 1–2</a:t>
            </a:r>
            <a:endParaRPr lang="en-US" sz="850" dirty="0"/>
          </a:p>
        </p:txBody>
      </p:sp>
      <p:sp>
        <p:nvSpPr>
          <p:cNvPr id="6" name="Text 4"/>
          <p:cNvSpPr txBox="1"/>
          <p:nvPr/>
        </p:nvSpPr>
        <p:spPr>
          <a:xfrm>
            <a:off x="713232" y="1792224"/>
            <a:ext cx="2185416" cy="292608"/>
          </a:xfrm>
          <a:prstGeom prst="rect">
            <a:avLst/>
          </a:prstGeom>
          <a:noFill/>
          <a:ln/>
        </p:spPr>
        <p:txBody>
          <a:bodyPr wrap="square" lIns="0" tIns="0" rIns="0" bIns="0" rtlCol="0" anchor="ctr"/>
          <a:lstStyle/>
          <a:p>
            <a:pPr indent="0" marL="0">
              <a:buNone/>
            </a:pPr>
            <a:r>
              <a:rPr lang="en-US" sz="1400" b="1" dirty="0">
                <a:solidFill>
                  <a:srgbClr val="17211B"/>
                </a:solidFill>
                <a:latin typeface="Arial" pitchFamily="34" charset="0"/>
                <a:ea typeface="Arial" pitchFamily="34" charset="-122"/>
                <a:cs typeface="Arial" pitchFamily="34" charset="-120"/>
              </a:rPr>
              <a:t>Baseline</a:t>
            </a:r>
            <a:endParaRPr lang="en-US" sz="1400" dirty="0"/>
          </a:p>
        </p:txBody>
      </p:sp>
      <p:sp>
        <p:nvSpPr>
          <p:cNvPr id="7" name="Text 5"/>
          <p:cNvSpPr txBox="1"/>
          <p:nvPr/>
        </p:nvSpPr>
        <p:spPr>
          <a:xfrm>
            <a:off x="713232" y="2103120"/>
            <a:ext cx="2185416" cy="960120"/>
          </a:xfrm>
          <a:prstGeom prst="rect">
            <a:avLst/>
          </a:prstGeom>
          <a:noFill/>
          <a:ln/>
        </p:spPr>
        <p:txBody>
          <a:bodyPr wrap="square" lIns="0" tIns="0" rIns="0" bIns="0" rtlCol="0" anchor="t"/>
          <a:lstStyle/>
          <a:p>
            <a:pPr indent="0" marL="0">
              <a:lnSpc>
                <a:spcPct val="110000"/>
              </a:lnSpc>
              <a:buNone/>
            </a:pPr>
            <a:r>
              <a:rPr lang="en-US" sz="1050" dirty="0">
                <a:solidFill>
                  <a:srgbClr val="17211B"/>
                </a:solidFill>
                <a:latin typeface="Calibri" pitchFamily="34" charset="0"/>
                <a:ea typeface="Calibri" pitchFamily="34" charset="-122"/>
                <a:cs typeface="Calibri" pitchFamily="34" charset="-120"/>
              </a:rPr>
              <a:t>Log every discarded prepared-food item across 5–10 pilot SKUs with the phone-based waste logger that already exists.</a:t>
            </a:r>
            <a:endParaRPr lang="en-US" sz="1050" dirty="0"/>
          </a:p>
        </p:txBody>
      </p:sp>
      <p:sp>
        <p:nvSpPr>
          <p:cNvPr id="8" name="Text 6"/>
          <p:cNvSpPr txBox="1"/>
          <p:nvPr/>
        </p:nvSpPr>
        <p:spPr>
          <a:xfrm>
            <a:off x="713232" y="3035808"/>
            <a:ext cx="2185416" cy="502920"/>
          </a:xfrm>
          <a:prstGeom prst="rect">
            <a:avLst/>
          </a:prstGeom>
          <a:noFill/>
          <a:ln/>
        </p:spPr>
        <p:txBody>
          <a:bodyPr wrap="square" lIns="0" tIns="0" rIns="0" bIns="0" rtlCol="0" anchor="t"/>
          <a:lstStyle/>
          <a:p>
            <a:pPr indent="0" marL="0">
              <a:buNone/>
            </a:pPr>
            <a:r>
              <a:rPr lang="en-US" sz="950" b="1" dirty="0">
                <a:solidFill>
                  <a:srgbClr val="4D5A52"/>
                </a:solidFill>
                <a:latin typeface="Arial" pitchFamily="34" charset="0"/>
                <a:ea typeface="Arial" pitchFamily="34" charset="-122"/>
                <a:cs typeface="Arial" pitchFamily="34" charset="-120"/>
              </a:rPr>
              <a:t>Output: this store's real waste number, in dollars per year.</a:t>
            </a:r>
            <a:endParaRPr lang="en-US" sz="950" dirty="0"/>
          </a:p>
        </p:txBody>
      </p:sp>
      <p:sp>
        <p:nvSpPr>
          <p:cNvPr id="9" name="Shape 7"/>
          <p:cNvSpPr/>
          <p:nvPr/>
        </p:nvSpPr>
        <p:spPr>
          <a:xfrm>
            <a:off x="3246120" y="1463040"/>
            <a:ext cx="2514600" cy="2148840"/>
          </a:xfrm>
          <a:prstGeom prst="roundRect">
            <a:avLst>
              <a:gd name="adj" fmla="val 5106"/>
            </a:avLst>
          </a:prstGeom>
          <a:solidFill>
            <a:srgbClr val="FFFFFF"/>
          </a:solidFill>
          <a:ln w="9525">
            <a:solidFill>
              <a:srgbClr val="D9DFD9"/>
            </a:solidFill>
            <a:prstDash val="solid"/>
          </a:ln>
        </p:spPr>
      </p:sp>
      <p:sp>
        <p:nvSpPr>
          <p:cNvPr id="10" name="Text 8"/>
          <p:cNvSpPr txBox="1"/>
          <p:nvPr/>
        </p:nvSpPr>
        <p:spPr>
          <a:xfrm>
            <a:off x="3410712" y="1591056"/>
            <a:ext cx="2185416" cy="201168"/>
          </a:xfrm>
          <a:prstGeom prst="rect">
            <a:avLst/>
          </a:prstGeom>
          <a:noFill/>
          <a:ln/>
        </p:spPr>
        <p:txBody>
          <a:bodyPr wrap="square" lIns="0" tIns="0" rIns="0" bIns="0" rtlCol="0" anchor="ctr"/>
          <a:lstStyle/>
          <a:p>
            <a:pPr indent="0" marL="0">
              <a:buNone/>
            </a:pPr>
            <a:r>
              <a:rPr lang="en-US" sz="850" b="1" spc="150" kern="0" dirty="0">
                <a:solidFill>
                  <a:srgbClr val="1E7A46"/>
                </a:solidFill>
                <a:latin typeface="Arial" pitchFamily="34" charset="0"/>
                <a:ea typeface="Arial" pitchFamily="34" charset="-122"/>
                <a:cs typeface="Arial" pitchFamily="34" charset="-120"/>
              </a:rPr>
              <a:t>WEEKS 3–6</a:t>
            </a:r>
            <a:endParaRPr lang="en-US" sz="850" dirty="0"/>
          </a:p>
        </p:txBody>
      </p:sp>
      <p:sp>
        <p:nvSpPr>
          <p:cNvPr id="11" name="Text 9"/>
          <p:cNvSpPr txBox="1"/>
          <p:nvPr/>
        </p:nvSpPr>
        <p:spPr>
          <a:xfrm>
            <a:off x="3410712" y="1792224"/>
            <a:ext cx="2185416" cy="292608"/>
          </a:xfrm>
          <a:prstGeom prst="rect">
            <a:avLst/>
          </a:prstGeom>
          <a:noFill/>
          <a:ln/>
        </p:spPr>
        <p:txBody>
          <a:bodyPr wrap="square" lIns="0" tIns="0" rIns="0" bIns="0" rtlCol="0" anchor="ctr"/>
          <a:lstStyle/>
          <a:p>
            <a:pPr indent="0" marL="0">
              <a:buNone/>
            </a:pPr>
            <a:r>
              <a:rPr lang="en-US" sz="1400" b="1" dirty="0">
                <a:solidFill>
                  <a:srgbClr val="17211B"/>
                </a:solidFill>
                <a:latin typeface="Arial" pitchFamily="34" charset="0"/>
                <a:ea typeface="Arial" pitchFamily="34" charset="-122"/>
                <a:cs typeface="Arial" pitchFamily="34" charset="-120"/>
              </a:rPr>
              <a:t>Shadow mode</a:t>
            </a:r>
            <a:endParaRPr lang="en-US" sz="1400" dirty="0"/>
          </a:p>
        </p:txBody>
      </p:sp>
      <p:sp>
        <p:nvSpPr>
          <p:cNvPr id="12" name="Text 10"/>
          <p:cNvSpPr txBox="1"/>
          <p:nvPr/>
        </p:nvSpPr>
        <p:spPr>
          <a:xfrm>
            <a:off x="3410712" y="2103120"/>
            <a:ext cx="2185416" cy="960120"/>
          </a:xfrm>
          <a:prstGeom prst="rect">
            <a:avLst/>
          </a:prstGeom>
          <a:noFill/>
          <a:ln/>
        </p:spPr>
        <p:txBody>
          <a:bodyPr wrap="square" lIns="0" tIns="0" rIns="0" bIns="0" rtlCol="0" anchor="t"/>
          <a:lstStyle/>
          <a:p>
            <a:pPr indent="0" marL="0">
              <a:lnSpc>
                <a:spcPct val="110000"/>
              </a:lnSpc>
              <a:buNone/>
            </a:pPr>
            <a:r>
              <a:rPr lang="en-US" sz="1050" dirty="0">
                <a:solidFill>
                  <a:srgbClr val="17211B"/>
                </a:solidFill>
                <a:latin typeface="Calibri" pitchFamily="34" charset="0"/>
                <a:ea typeface="Calibri" pitchFamily="34" charset="-122"/>
                <a:cs typeface="Calibri" pitchFamily="34" charset="-120"/>
              </a:rPr>
              <a:t>With data access granted, the model retrains on this store's history and prints its morning sheet. The kitchen ignores it. We record what it would have done.</a:t>
            </a:r>
            <a:endParaRPr lang="en-US" sz="1050" dirty="0"/>
          </a:p>
        </p:txBody>
      </p:sp>
      <p:sp>
        <p:nvSpPr>
          <p:cNvPr id="13" name="Text 11"/>
          <p:cNvSpPr txBox="1"/>
          <p:nvPr/>
        </p:nvSpPr>
        <p:spPr>
          <a:xfrm>
            <a:off x="3410712" y="3035808"/>
            <a:ext cx="2185416" cy="502920"/>
          </a:xfrm>
          <a:prstGeom prst="rect">
            <a:avLst/>
          </a:prstGeom>
          <a:noFill/>
          <a:ln/>
        </p:spPr>
        <p:txBody>
          <a:bodyPr wrap="square" lIns="0" tIns="0" rIns="0" bIns="0" rtlCol="0" anchor="t"/>
          <a:lstStyle/>
          <a:p>
            <a:pPr indent="0" marL="0">
              <a:buNone/>
            </a:pPr>
            <a:r>
              <a:rPr lang="en-US" sz="950" b="1" dirty="0">
                <a:solidFill>
                  <a:srgbClr val="4D5A52"/>
                </a:solidFill>
                <a:latin typeface="Arial" pitchFamily="34" charset="0"/>
                <a:ea typeface="Arial" pitchFamily="34" charset="-122"/>
                <a:cs typeface="Arial" pitchFamily="34" charset="-120"/>
              </a:rPr>
              <a:t>Output: forecast accuracy against reality, and five go/no-go criteria fixed in advance.</a:t>
            </a:r>
            <a:endParaRPr lang="en-US" sz="950" dirty="0"/>
          </a:p>
        </p:txBody>
      </p:sp>
      <p:sp>
        <p:nvSpPr>
          <p:cNvPr id="14" name="Shape 12"/>
          <p:cNvSpPr/>
          <p:nvPr/>
        </p:nvSpPr>
        <p:spPr>
          <a:xfrm>
            <a:off x="5943600" y="1463040"/>
            <a:ext cx="2514600" cy="2148840"/>
          </a:xfrm>
          <a:prstGeom prst="roundRect">
            <a:avLst>
              <a:gd name="adj" fmla="val 5106"/>
            </a:avLst>
          </a:prstGeom>
          <a:solidFill>
            <a:srgbClr val="124D2E"/>
          </a:solidFill>
          <a:ln w="9525">
            <a:solidFill>
              <a:srgbClr val="124D2E"/>
            </a:solidFill>
            <a:prstDash val="solid"/>
          </a:ln>
        </p:spPr>
      </p:sp>
      <p:sp>
        <p:nvSpPr>
          <p:cNvPr id="15" name="Text 13"/>
          <p:cNvSpPr txBox="1"/>
          <p:nvPr/>
        </p:nvSpPr>
        <p:spPr>
          <a:xfrm>
            <a:off x="6108192" y="1591056"/>
            <a:ext cx="2185416" cy="201168"/>
          </a:xfrm>
          <a:prstGeom prst="rect">
            <a:avLst/>
          </a:prstGeom>
          <a:noFill/>
          <a:ln/>
        </p:spPr>
        <p:txBody>
          <a:bodyPr wrap="square" lIns="0" tIns="0" rIns="0" bIns="0" rtlCol="0" anchor="ctr"/>
          <a:lstStyle/>
          <a:p>
            <a:pPr indent="0" marL="0">
              <a:buNone/>
            </a:pPr>
            <a:r>
              <a:rPr lang="en-US" sz="850" b="1" spc="150" kern="0" dirty="0">
                <a:solidFill>
                  <a:srgbClr val="9FE0B9"/>
                </a:solidFill>
                <a:latin typeface="Arial" pitchFamily="34" charset="0"/>
                <a:ea typeface="Arial" pitchFamily="34" charset="-122"/>
                <a:cs typeface="Arial" pitchFamily="34" charset="-120"/>
              </a:rPr>
              <a:t>WEEKS 7–13</a:t>
            </a:r>
            <a:endParaRPr lang="en-US" sz="850" dirty="0"/>
          </a:p>
        </p:txBody>
      </p:sp>
      <p:sp>
        <p:nvSpPr>
          <p:cNvPr id="16" name="Text 14"/>
          <p:cNvSpPr txBox="1"/>
          <p:nvPr/>
        </p:nvSpPr>
        <p:spPr>
          <a:xfrm>
            <a:off x="6108192" y="1792224"/>
            <a:ext cx="2185416" cy="292608"/>
          </a:xfrm>
          <a:prstGeom prst="rect">
            <a:avLst/>
          </a:prstGeom>
          <a:noFill/>
          <a:ln/>
        </p:spPr>
        <p:txBody>
          <a:bodyPr wrap="square" lIns="0" tIns="0" rIns="0" bIns="0" rtlCol="0" anchor="ctr"/>
          <a:lstStyle/>
          <a:p>
            <a:pPr indent="0" marL="0">
              <a:buNone/>
            </a:pPr>
            <a:r>
              <a:rPr lang="en-US" sz="1400" b="1" dirty="0">
                <a:solidFill>
                  <a:srgbClr val="EEF1EC"/>
                </a:solidFill>
                <a:latin typeface="Arial" pitchFamily="34" charset="0"/>
                <a:ea typeface="Arial" pitchFamily="34" charset="-122"/>
                <a:cs typeface="Arial" pitchFamily="34" charset="-120"/>
              </a:rPr>
              <a:t>Live</a:t>
            </a:r>
            <a:endParaRPr lang="en-US" sz="1400" dirty="0"/>
          </a:p>
        </p:txBody>
      </p:sp>
      <p:sp>
        <p:nvSpPr>
          <p:cNvPr id="17" name="Text 15"/>
          <p:cNvSpPr txBox="1"/>
          <p:nvPr/>
        </p:nvSpPr>
        <p:spPr>
          <a:xfrm>
            <a:off x="6108192" y="2103120"/>
            <a:ext cx="2185416" cy="960120"/>
          </a:xfrm>
          <a:prstGeom prst="rect">
            <a:avLst/>
          </a:prstGeom>
          <a:noFill/>
          <a:ln/>
        </p:spPr>
        <p:txBody>
          <a:bodyPr wrap="square" lIns="0" tIns="0" rIns="0" bIns="0" rtlCol="0" anchor="t"/>
          <a:lstStyle/>
          <a:p>
            <a:pPr indent="0" marL="0">
              <a:lnSpc>
                <a:spcPct val="110000"/>
              </a:lnSpc>
              <a:buNone/>
            </a:pPr>
            <a:r>
              <a:rPr lang="en-US" sz="1050" dirty="0">
                <a:solidFill>
                  <a:srgbClr val="EEF1EC"/>
                </a:solidFill>
                <a:latin typeface="Calibri" pitchFamily="34" charset="0"/>
                <a:ea typeface="Calibri" pitchFamily="34" charset="-122"/>
                <a:cs typeface="Calibri" pitchFamily="34" charset="-120"/>
              </a:rPr>
              <a:t>The kitchen follows the sheet. The manager can override any line on any day, and overrides are logged, not fought.</a:t>
            </a:r>
            <a:endParaRPr lang="en-US" sz="1050" dirty="0"/>
          </a:p>
        </p:txBody>
      </p:sp>
      <p:sp>
        <p:nvSpPr>
          <p:cNvPr id="18" name="Text 16"/>
          <p:cNvSpPr txBox="1"/>
          <p:nvPr/>
        </p:nvSpPr>
        <p:spPr>
          <a:xfrm>
            <a:off x="6108192" y="3035808"/>
            <a:ext cx="2185416" cy="502920"/>
          </a:xfrm>
          <a:prstGeom prst="rect">
            <a:avLst/>
          </a:prstGeom>
          <a:noFill/>
          <a:ln/>
        </p:spPr>
        <p:txBody>
          <a:bodyPr wrap="square" lIns="0" tIns="0" rIns="0" bIns="0" rtlCol="0" anchor="t"/>
          <a:lstStyle/>
          <a:p>
            <a:pPr indent="0" marL="0">
              <a:buNone/>
            </a:pPr>
            <a:r>
              <a:rPr lang="en-US" sz="950" b="1" dirty="0">
                <a:solidFill>
                  <a:srgbClr val="C9E6D4"/>
                </a:solidFill>
                <a:latin typeface="Arial" pitchFamily="34" charset="0"/>
                <a:ea typeface="Arial" pitchFamily="34" charset="-122"/>
                <a:cs typeface="Arial" pitchFamily="34" charset="-120"/>
              </a:rPr>
              <a:t>Output: measured waste and sellout change versus the baseline.</a:t>
            </a:r>
            <a:endParaRPr lang="en-US" sz="950" dirty="0"/>
          </a:p>
        </p:txBody>
      </p:sp>
      <p:sp>
        <p:nvSpPr>
          <p:cNvPr id="19" name="Shape 17"/>
          <p:cNvSpPr/>
          <p:nvPr/>
        </p:nvSpPr>
        <p:spPr>
          <a:xfrm>
            <a:off x="548640" y="3794760"/>
            <a:ext cx="8046720" cy="777240"/>
          </a:xfrm>
          <a:prstGeom prst="roundRect">
            <a:avLst>
              <a:gd name="adj" fmla="val 11765"/>
            </a:avLst>
          </a:prstGeom>
          <a:solidFill>
            <a:srgbClr val="E7F2EC"/>
          </a:solidFill>
          <a:ln w="12700">
            <a:solidFill>
              <a:srgbClr val="E7F2EC"/>
            </a:solidFill>
            <a:prstDash val="solid"/>
          </a:ln>
        </p:spPr>
      </p:sp>
      <p:sp>
        <p:nvSpPr>
          <p:cNvPr id="20" name="Text 18"/>
          <p:cNvSpPr txBox="1"/>
          <p:nvPr/>
        </p:nvSpPr>
        <p:spPr>
          <a:xfrm>
            <a:off x="731520" y="3840480"/>
            <a:ext cx="7680960" cy="685800"/>
          </a:xfrm>
          <a:prstGeom prst="rect">
            <a:avLst/>
          </a:prstGeom>
          <a:noFill/>
          <a:ln/>
        </p:spPr>
        <p:txBody>
          <a:bodyPr wrap="square" lIns="0" tIns="0" rIns="0" bIns="0" rtlCol="0" anchor="ctr"/>
          <a:lstStyle/>
          <a:p>
            <a:pPr indent="0" marL="0">
              <a:buNone/>
            </a:pPr>
            <a:r>
              <a:rPr lang="en-US" sz="1100" b="1" dirty="0">
                <a:solidFill>
                  <a:srgbClr val="17211B"/>
                </a:solidFill>
                <a:latin typeface="Arial" pitchFamily="34" charset="0"/>
                <a:ea typeface="Arial" pitchFamily="34" charset="-122"/>
                <a:cs typeface="Arial" pitchFamily="34" charset="-120"/>
              </a:rPr>
              <a:t>Success criterion, agreed in advance: </a:t>
            </a:r>
            <a:pPr indent="0" marL="0">
              <a:buNone/>
            </a:pPr>
            <a:r>
              <a:rPr lang="en-US" sz="1100" dirty="0">
                <a:solidFill>
                  <a:srgbClr val="17211B"/>
                </a:solidFill>
                <a:latin typeface="Calibri" pitchFamily="34" charset="0"/>
                <a:ea typeface="Calibri" pitchFamily="34" charset="-122"/>
                <a:cs typeface="Calibri" pitchFamily="34" charset="-120"/>
              </a:rPr>
              <a:t>at least a 10% reduction in prepared-food waste dollars versus the baseline, with no material drop in on-shelf availability. If shadow mode shows the forecasts are not accurate enough, we stop at week 6 and nothing in the kitchen has changed.</a:t>
            </a:r>
            <a:endParaRPr lang="en-US" sz="1100" dirty="0"/>
          </a:p>
        </p:txBody>
      </p:sp>
      <p:sp>
        <p:nvSpPr>
          <p:cNvPr id="22" name="Text 19"/>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THE ASKS</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600" b="1" dirty="0">
                <a:solidFill>
                  <a:srgbClr val="17211B"/>
                </a:solidFill>
                <a:latin typeface="Arial" pitchFamily="34" charset="0"/>
                <a:ea typeface="Arial" pitchFamily="34" charset="-122"/>
                <a:cs typeface="Arial" pitchFamily="34" charset="-120"/>
              </a:rPr>
              <a:t>Three decisions, all reversible</a:t>
            </a:r>
            <a:endParaRPr lang="en-US" sz="2600" dirty="0"/>
          </a:p>
        </p:txBody>
      </p:sp>
      <p:sp>
        <p:nvSpPr>
          <p:cNvPr id="4" name="Shape 2"/>
          <p:cNvSpPr/>
          <p:nvPr/>
        </p:nvSpPr>
        <p:spPr>
          <a:xfrm>
            <a:off x="548640" y="1463040"/>
            <a:ext cx="2514600" cy="2468880"/>
          </a:xfrm>
          <a:prstGeom prst="roundRect">
            <a:avLst>
              <a:gd name="adj" fmla="val 4444"/>
            </a:avLst>
          </a:prstGeom>
          <a:solidFill>
            <a:srgbClr val="FFFFFF"/>
          </a:solidFill>
          <a:ln w="9525">
            <a:solidFill>
              <a:srgbClr val="D9DFD9"/>
            </a:solidFill>
            <a:prstDash val="solid"/>
          </a:ln>
        </p:spPr>
      </p:sp>
      <p:sp>
        <p:nvSpPr>
          <p:cNvPr id="5" name="Shape 3"/>
          <p:cNvSpPr/>
          <p:nvPr/>
        </p:nvSpPr>
        <p:spPr>
          <a:xfrm>
            <a:off x="731520" y="1645920"/>
            <a:ext cx="384048" cy="384048"/>
          </a:xfrm>
          <a:prstGeom prst="ellipse">
            <a:avLst/>
          </a:prstGeom>
          <a:solidFill>
            <a:srgbClr val="1E7A46"/>
          </a:solidFill>
          <a:ln w="12700">
            <a:solidFill>
              <a:srgbClr val="1E7A46"/>
            </a:solidFill>
            <a:prstDash val="solid"/>
          </a:ln>
        </p:spPr>
      </p:sp>
      <p:sp>
        <p:nvSpPr>
          <p:cNvPr id="6" name="Text 4"/>
          <p:cNvSpPr txBox="1"/>
          <p:nvPr/>
        </p:nvSpPr>
        <p:spPr>
          <a:xfrm>
            <a:off x="73152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731520" y="2121408"/>
            <a:ext cx="2148840" cy="502920"/>
          </a:xfrm>
          <a:prstGeom prst="rect">
            <a:avLst/>
          </a:prstGeom>
          <a:noFill/>
          <a:ln/>
        </p:spPr>
        <p:txBody>
          <a:bodyPr wrap="square" lIns="0" tIns="0" rIns="0" bIns="0" rtlCol="0" anchor="t"/>
          <a:lstStyle/>
          <a:p>
            <a:pPr indent="0" marL="0">
              <a:buNone/>
            </a:pPr>
            <a:r>
              <a:rPr lang="en-US" sz="1350" b="1" dirty="0">
                <a:solidFill>
                  <a:srgbClr val="17211B"/>
                </a:solidFill>
                <a:latin typeface="Arial" pitchFamily="34" charset="0"/>
                <a:ea typeface="Arial" pitchFamily="34" charset="-122"/>
                <a:cs typeface="Arial" pitchFamily="34" charset="-120"/>
              </a:rPr>
              <a:t>Data access, in writing</a:t>
            </a:r>
            <a:endParaRPr lang="en-US" sz="1350" dirty="0"/>
          </a:p>
        </p:txBody>
      </p:sp>
      <p:sp>
        <p:nvSpPr>
          <p:cNvPr id="8" name="Text 6"/>
          <p:cNvSpPr txBox="1"/>
          <p:nvPr/>
        </p:nvSpPr>
        <p:spPr>
          <a:xfrm>
            <a:off x="731520" y="2651760"/>
            <a:ext cx="2148840" cy="1188720"/>
          </a:xfrm>
          <a:prstGeom prst="rect">
            <a:avLst/>
          </a:prstGeom>
          <a:noFill/>
          <a:ln/>
        </p:spPr>
        <p:txBody>
          <a:bodyPr wrap="square" lIns="0" tIns="0" rIns="0" bIns="0" rtlCol="0" anchor="t"/>
          <a:lstStyle/>
          <a:p>
            <a:pPr indent="0" marL="0">
              <a:lnSpc>
                <a:spcPct val="110000"/>
              </a:lnSpc>
              <a:buNone/>
            </a:pPr>
            <a:r>
              <a:rPr lang="en-US" sz="1050" dirty="0">
                <a:solidFill>
                  <a:srgbClr val="17211B"/>
                </a:solidFill>
                <a:latin typeface="Calibri" pitchFamily="34" charset="0"/>
                <a:ea typeface="Calibri" pitchFamily="34" charset="-122"/>
                <a:cs typeface="Calibri" pitchFamily="34" charset="-120"/>
              </a:rPr>
              <a:t>Read-only access to daily sales and production counts for the pilot items at one store, for the duration of the pilot. Scoped, revocable, and requested before any real data is touched.</a:t>
            </a:r>
            <a:endParaRPr lang="en-US" sz="1050" dirty="0"/>
          </a:p>
        </p:txBody>
      </p:sp>
      <p:sp>
        <p:nvSpPr>
          <p:cNvPr id="9" name="Shape 7"/>
          <p:cNvSpPr/>
          <p:nvPr/>
        </p:nvSpPr>
        <p:spPr>
          <a:xfrm>
            <a:off x="3246120" y="1463040"/>
            <a:ext cx="2514600" cy="2468880"/>
          </a:xfrm>
          <a:prstGeom prst="roundRect">
            <a:avLst>
              <a:gd name="adj" fmla="val 4444"/>
            </a:avLst>
          </a:prstGeom>
          <a:solidFill>
            <a:srgbClr val="FFFFFF"/>
          </a:solidFill>
          <a:ln w="9525">
            <a:solidFill>
              <a:srgbClr val="D9DFD9"/>
            </a:solidFill>
            <a:prstDash val="solid"/>
          </a:ln>
        </p:spPr>
      </p:sp>
      <p:sp>
        <p:nvSpPr>
          <p:cNvPr id="10" name="Shape 8"/>
          <p:cNvSpPr/>
          <p:nvPr/>
        </p:nvSpPr>
        <p:spPr>
          <a:xfrm>
            <a:off x="3429000" y="1645920"/>
            <a:ext cx="384048" cy="384048"/>
          </a:xfrm>
          <a:prstGeom prst="ellipse">
            <a:avLst/>
          </a:prstGeom>
          <a:solidFill>
            <a:srgbClr val="1E7A46"/>
          </a:solidFill>
          <a:ln w="12700">
            <a:solidFill>
              <a:srgbClr val="1E7A46"/>
            </a:solidFill>
            <a:prstDash val="solid"/>
          </a:ln>
        </p:spPr>
      </p:sp>
      <p:sp>
        <p:nvSpPr>
          <p:cNvPr id="11" name="Text 9"/>
          <p:cNvSpPr txBox="1"/>
          <p:nvPr/>
        </p:nvSpPr>
        <p:spPr>
          <a:xfrm>
            <a:off x="342900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3429000" y="2121408"/>
            <a:ext cx="2148840" cy="502920"/>
          </a:xfrm>
          <a:prstGeom prst="rect">
            <a:avLst/>
          </a:prstGeom>
          <a:noFill/>
          <a:ln/>
        </p:spPr>
        <p:txBody>
          <a:bodyPr wrap="square" lIns="0" tIns="0" rIns="0" bIns="0" rtlCol="0" anchor="t"/>
          <a:lstStyle/>
          <a:p>
            <a:pPr indent="0" marL="0">
              <a:buNone/>
            </a:pPr>
            <a:r>
              <a:rPr lang="en-US" sz="1350" b="1" dirty="0">
                <a:solidFill>
                  <a:srgbClr val="17211B"/>
                </a:solidFill>
                <a:latin typeface="Arial" pitchFamily="34" charset="0"/>
                <a:ea typeface="Arial" pitchFamily="34" charset="-122"/>
                <a:cs typeface="Arial" pitchFamily="34" charset="-120"/>
              </a:rPr>
              <a:t>40–80 paid hours</a:t>
            </a:r>
            <a:endParaRPr lang="en-US" sz="1350" dirty="0"/>
          </a:p>
        </p:txBody>
      </p:sp>
      <p:sp>
        <p:nvSpPr>
          <p:cNvPr id="13" name="Text 11"/>
          <p:cNvSpPr txBox="1"/>
          <p:nvPr/>
        </p:nvSpPr>
        <p:spPr>
          <a:xfrm>
            <a:off x="3429000" y="2651760"/>
            <a:ext cx="2148840" cy="1188720"/>
          </a:xfrm>
          <a:prstGeom prst="rect">
            <a:avLst/>
          </a:prstGeom>
          <a:noFill/>
          <a:ln/>
        </p:spPr>
        <p:txBody>
          <a:bodyPr wrap="square" lIns="0" tIns="0" rIns="0" bIns="0" rtlCol="0" anchor="t"/>
          <a:lstStyle/>
          <a:p>
            <a:pPr indent="0" marL="0">
              <a:lnSpc>
                <a:spcPct val="110000"/>
              </a:lnSpc>
              <a:buNone/>
            </a:pPr>
            <a:r>
              <a:rPr lang="en-US" sz="1050" dirty="0">
                <a:solidFill>
                  <a:srgbClr val="17211B"/>
                </a:solidFill>
                <a:latin typeface="Calibri" pitchFamily="34" charset="0"/>
                <a:ea typeface="Calibri" pitchFamily="34" charset="-122"/>
                <a:cs typeface="Calibri" pitchFamily="34" charset="-120"/>
              </a:rPr>
              <a:t>Non-floor time to connect the store's export, run shadow mode, and operate the live phase. The importer, validator, training and scoring tools are already built and rehearsed on a mock export.</a:t>
            </a:r>
            <a:endParaRPr lang="en-US" sz="1050" dirty="0"/>
          </a:p>
        </p:txBody>
      </p:sp>
      <p:sp>
        <p:nvSpPr>
          <p:cNvPr id="14" name="Shape 12"/>
          <p:cNvSpPr/>
          <p:nvPr/>
        </p:nvSpPr>
        <p:spPr>
          <a:xfrm>
            <a:off x="5943600" y="1463040"/>
            <a:ext cx="2514600" cy="2468880"/>
          </a:xfrm>
          <a:prstGeom prst="roundRect">
            <a:avLst>
              <a:gd name="adj" fmla="val 4444"/>
            </a:avLst>
          </a:prstGeom>
          <a:solidFill>
            <a:srgbClr val="FFFFFF"/>
          </a:solidFill>
          <a:ln w="9525">
            <a:solidFill>
              <a:srgbClr val="D9DFD9"/>
            </a:solidFill>
            <a:prstDash val="solid"/>
          </a:ln>
        </p:spPr>
      </p:sp>
      <p:sp>
        <p:nvSpPr>
          <p:cNvPr id="15" name="Shape 13"/>
          <p:cNvSpPr/>
          <p:nvPr/>
        </p:nvSpPr>
        <p:spPr>
          <a:xfrm>
            <a:off x="6126480" y="1645920"/>
            <a:ext cx="384048" cy="384048"/>
          </a:xfrm>
          <a:prstGeom prst="ellipse">
            <a:avLst/>
          </a:prstGeom>
          <a:solidFill>
            <a:srgbClr val="1E7A46"/>
          </a:solidFill>
          <a:ln w="12700">
            <a:solidFill>
              <a:srgbClr val="1E7A46"/>
            </a:solidFill>
            <a:prstDash val="solid"/>
          </a:ln>
        </p:spPr>
      </p:sp>
      <p:sp>
        <p:nvSpPr>
          <p:cNvPr id="16" name="Text 14"/>
          <p:cNvSpPr txBox="1"/>
          <p:nvPr/>
        </p:nvSpPr>
        <p:spPr>
          <a:xfrm>
            <a:off x="61264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6126480" y="2121408"/>
            <a:ext cx="2148840" cy="502920"/>
          </a:xfrm>
          <a:prstGeom prst="rect">
            <a:avLst/>
          </a:prstGeom>
          <a:noFill/>
          <a:ln/>
        </p:spPr>
        <p:txBody>
          <a:bodyPr wrap="square" lIns="0" tIns="0" rIns="0" bIns="0" rtlCol="0" anchor="t"/>
          <a:lstStyle/>
          <a:p>
            <a:pPr indent="0" marL="0">
              <a:buNone/>
            </a:pPr>
            <a:r>
              <a:rPr lang="en-US" sz="1350" b="1" dirty="0">
                <a:solidFill>
                  <a:srgbClr val="17211B"/>
                </a:solidFill>
                <a:latin typeface="Arial" pitchFamily="34" charset="0"/>
                <a:ea typeface="Arial" pitchFamily="34" charset="-122"/>
                <a:cs typeface="Arial" pitchFamily="34" charset="-120"/>
              </a:rPr>
              <a:t>A sponsor and a recognition structure</a:t>
            </a:r>
            <a:endParaRPr lang="en-US" sz="1350" dirty="0"/>
          </a:p>
        </p:txBody>
      </p:sp>
      <p:sp>
        <p:nvSpPr>
          <p:cNvPr id="18" name="Text 16"/>
          <p:cNvSpPr txBox="1"/>
          <p:nvPr/>
        </p:nvSpPr>
        <p:spPr>
          <a:xfrm>
            <a:off x="6126480" y="2651760"/>
            <a:ext cx="2148840" cy="1188720"/>
          </a:xfrm>
          <a:prstGeom prst="rect">
            <a:avLst/>
          </a:prstGeom>
          <a:noFill/>
          <a:ln/>
        </p:spPr>
        <p:txBody>
          <a:bodyPr wrap="square" lIns="0" tIns="0" rIns="0" bIns="0" rtlCol="0" anchor="t"/>
          <a:lstStyle/>
          <a:p>
            <a:pPr indent="0" marL="0">
              <a:lnSpc>
                <a:spcPct val="110000"/>
              </a:lnSpc>
              <a:buNone/>
            </a:pPr>
            <a:r>
              <a:rPr lang="en-US" sz="1050" dirty="0">
                <a:solidFill>
                  <a:srgbClr val="17211B"/>
                </a:solidFill>
                <a:latin typeface="Calibri" pitchFamily="34" charset="0"/>
                <a:ea typeface="Calibri" pitchFamily="34" charset="-122"/>
                <a:cs typeface="Calibri" pitchFamily="34" charset="-120"/>
              </a:rPr>
              <a:t>A store or district leader who owns the pilot, and an agreed, written structure tied to the measured result, settled before the live phase, so that a successful pilot has somewhere to scale.</a:t>
            </a:r>
            <a:endParaRPr lang="en-US" sz="1050" dirty="0"/>
          </a:p>
        </p:txBody>
      </p:sp>
      <p:sp>
        <p:nvSpPr>
          <p:cNvPr id="19" name="Text 17"/>
          <p:cNvSpPr txBox="1"/>
          <p:nvPr/>
        </p:nvSpPr>
        <p:spPr>
          <a:xfrm>
            <a:off x="548640" y="4526280"/>
            <a:ext cx="7223760" cy="411480"/>
          </a:xfrm>
          <a:prstGeom prst="rect">
            <a:avLst/>
          </a:prstGeom>
          <a:noFill/>
          <a:ln/>
        </p:spPr>
        <p:txBody>
          <a:bodyPr wrap="square" lIns="0" tIns="0" rIns="0" bIns="0" rtlCol="0" anchor="b"/>
          <a:lstStyle/>
          <a:p>
            <a:pPr indent="0" marL="0">
              <a:buNone/>
            </a:pPr>
            <a:r>
              <a:rPr lang="en-US" sz="950" dirty="0">
                <a:solidFill>
                  <a:srgbClr val="7D8A81"/>
                </a:solidFill>
                <a:latin typeface="Calibri" pitchFamily="34" charset="0"/>
                <a:ea typeface="Calibri" pitchFamily="34" charset="-122"/>
                <a:cs typeface="Calibri" pitchFamily="34" charset="-120"/>
              </a:rPr>
              <a:t>Ownership of the work built so far was deliberately kept clean: nothing was built on company data, so IP and data questions can be settled on the way in rather than argued about on the way out.</a:t>
            </a:r>
            <a:endParaRPr lang="en-US" sz="950" dirty="0"/>
          </a:p>
        </p:txBody>
      </p:sp>
      <p:sp>
        <p:nvSpPr>
          <p:cNvPr id="21" name="Text 1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IF IT WORKS</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200" b="1" dirty="0">
                <a:solidFill>
                  <a:srgbClr val="17211B"/>
                </a:solidFill>
                <a:latin typeface="Arial" pitchFamily="34" charset="0"/>
                <a:ea typeface="Arial" pitchFamily="34" charset="-122"/>
                <a:cs typeface="Arial" pitchFamily="34" charset="-120"/>
              </a:rPr>
              <a:t>One model serves every item, so the pilot is also the template</a:t>
            </a:r>
            <a:endParaRPr lang="en-US" sz="2200" dirty="0"/>
          </a:p>
        </p:txBody>
      </p:sp>
      <p:sp>
        <p:nvSpPr>
          <p:cNvPr id="4" name="Text 2"/>
          <p:cNvSpPr txBox="1"/>
          <p:nvPr/>
        </p:nvSpPr>
        <p:spPr>
          <a:xfrm>
            <a:off x="548640" y="1463040"/>
            <a:ext cx="3108960" cy="1371600"/>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7211B"/>
                </a:solidFill>
                <a:latin typeface="Calibri" pitchFamily="34" charset="0"/>
                <a:ea typeface="Calibri" pitchFamily="34" charset="-122"/>
                <a:cs typeface="Calibri" pitchFamily="34" charset="-120"/>
              </a:rPr>
              <a:t>The same architecture scales from 9 SKUs at one store to every prepared-foods case in a district without redesign: retraining per store takes about a minute, and the morning sheet is the only interface the kitchen ever sees.</a:t>
            </a:r>
            <a:endParaRPr lang="en-US" sz="1150" dirty="0"/>
          </a:p>
        </p:txBody>
      </p:sp>
      <p:sp>
        <p:nvSpPr>
          <p:cNvPr id="5" name="Text 3"/>
          <p:cNvSpPr txBox="1"/>
          <p:nvPr/>
        </p:nvSpPr>
        <p:spPr>
          <a:xfrm>
            <a:off x="548640" y="2788920"/>
            <a:ext cx="3108960" cy="1645920"/>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7211B"/>
                </a:solidFill>
                <a:latin typeface="Calibri" pitchFamily="34" charset="0"/>
                <a:ea typeface="Calibri" pitchFamily="34" charset="-122"/>
                <a:cs typeface="Calibri" pitchFamily="34" charset="-120"/>
              </a:rPr>
              <a:t>The table is arithmetic on the simulated store, not a forecast of Harris Teeter's numbers. Its job is to show which column the pilot replaces with a measured fact. The last column is what this proposal actually promises, applied to a store whose waste looks like the simulated one.</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840480" y="1463040"/>
          <a:ext cx="4754880" cy="914400"/>
        </p:xfrm>
        <a:graphic>
          <a:graphicData uri="http://schemas.openxmlformats.org/drawingml/2006/table">
            <a:tbl>
              <a:tblPr/>
              <a:tblGrid>
                <a:gridCol w="914400"/>
                <a:gridCol w="1097280"/>
                <a:gridCol w="1097280"/>
                <a:gridCol w="1645920"/>
              </a:tblGrid>
              <a:tr h="502920">
                <a:tc>
                  <a:txBody>
                    <a:bodyPr/>
                    <a:lstStyle/>
                    <a:p>
                      <a:pPr algn="l" indent="0" marL="0">
                        <a:buNone/>
                      </a:pPr>
                      <a:r>
                        <a:rPr lang="en-US" sz="800" b="1" dirty="0">
                          <a:solidFill>
                            <a:srgbClr val="4D5A52"/>
                          </a:solidFill>
                          <a:latin typeface="Arial" pitchFamily="34" charset="0"/>
                          <a:ea typeface="Arial" pitchFamily="34" charset="-122"/>
                          <a:cs typeface="Arial" pitchFamily="34" charset="-120"/>
                        </a:rPr>
                        <a:t>PER YEAR</a:t>
                      </a:r>
                      <a:endParaRPr lang="en-US" sz="800" dirty="0">
                        <a:latin typeface="Arial" charset="0"/>
                        <a:ea typeface="Arial" charset="0"/>
                        <a:cs typeface="Arial" charset="0"/>
                      </a:endParaRPr>
                    </a:p>
                  </a:txBody>
                  <a:tcPr marL="45720" marR="45720" marT="45720" marB="45720"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800" b="1" dirty="0">
                          <a:solidFill>
                            <a:srgbClr val="4D5A52"/>
                          </a:solidFill>
                          <a:latin typeface="Arial" pitchFamily="34" charset="0"/>
                          <a:ea typeface="Arial" pitchFamily="34" charset="-122"/>
                          <a:cs typeface="Arial" pitchFamily="34" charset="-120"/>
                        </a:rPr>
                        <a:t>FOOD NOT WASTED (RETAIL, SIMULATED)</a:t>
                      </a:r>
                      <a:endParaRPr lang="en-US" sz="800" dirty="0">
                        <a:latin typeface="Arial" charset="0"/>
                        <a:ea typeface="Arial" charset="0"/>
                        <a:cs typeface="Arial" charset="0"/>
                      </a:endParaRPr>
                    </a:p>
                  </a:txBody>
                  <a:tcPr marL="45720" marR="45720" marT="45720" marB="45720"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800" b="1" dirty="0">
                          <a:solidFill>
                            <a:srgbClr val="4D5A52"/>
                          </a:solidFill>
                          <a:latin typeface="Arial" pitchFamily="34" charset="0"/>
                          <a:ea typeface="Arial" pitchFamily="34" charset="-122"/>
                          <a:cs typeface="Arial" pitchFamily="34" charset="-120"/>
                        </a:rPr>
                        <a:t>ECONOMIC COST AVOIDED (SIMULATED)</a:t>
                      </a:r>
                      <a:endParaRPr lang="en-US" sz="800" dirty="0">
                        <a:latin typeface="Arial" charset="0"/>
                        <a:ea typeface="Arial" charset="0"/>
                        <a:cs typeface="Arial" charset="0"/>
                      </a:endParaRPr>
                    </a:p>
                  </a:txBody>
                  <a:tcPr marL="45720" marR="45720" marT="45720" marB="45720"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800" b="1" dirty="0">
                          <a:solidFill>
                            <a:srgbClr val="4D5A52"/>
                          </a:solidFill>
                          <a:latin typeface="Arial" pitchFamily="34" charset="0"/>
                          <a:ea typeface="Arial" pitchFamily="34" charset="-122"/>
                          <a:cs typeface="Arial" pitchFamily="34" charset="-120"/>
                        </a:rPr>
                        <a:t>PROMISE APPLIED (10–15% OF WASTE)</a:t>
                      </a:r>
                      <a:endParaRPr lang="en-US" sz="800" dirty="0">
                        <a:latin typeface="Arial" charset="0"/>
                        <a:ea typeface="Arial" charset="0"/>
                        <a:cs typeface="Arial" charset="0"/>
                      </a:endParaRPr>
                    </a:p>
                  </a:txBody>
                  <a:tcPr marL="45720" marR="45720" marT="45720" marB="45720"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329184">
                <a:tc>
                  <a:txBody>
                    <a:bodyPr/>
                    <a:lstStyle/>
                    <a:p>
                      <a:pPr algn="l" indent="0" marL="0">
                        <a:buNone/>
                      </a:pPr>
                      <a:r>
                        <a:rPr lang="en-US" sz="1050" b="1" dirty="0">
                          <a:solidFill>
                            <a:srgbClr val="17211B"/>
                          </a:solidFill>
                          <a:latin typeface="Calibri" pitchFamily="34" charset="0"/>
                          <a:ea typeface="Calibri" pitchFamily="34" charset="-122"/>
                          <a:cs typeface="Calibri" pitchFamily="34" charset="-120"/>
                        </a:rPr>
                        <a:t>1 store</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$51,111</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$14,933</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$13,846 – $20,769</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329184">
                <a:tc>
                  <a:txBody>
                    <a:bodyPr/>
                    <a:lstStyle/>
                    <a:p>
                      <a:pPr algn="l" indent="0" marL="0">
                        <a:buNone/>
                      </a:pPr>
                      <a:r>
                        <a:rPr lang="en-US" sz="1050" b="1" dirty="0">
                          <a:solidFill>
                            <a:srgbClr val="17211B"/>
                          </a:solidFill>
                          <a:latin typeface="Calibri" pitchFamily="34" charset="0"/>
                          <a:ea typeface="Calibri" pitchFamily="34" charset="-122"/>
                          <a:cs typeface="Calibri" pitchFamily="34" charset="-120"/>
                        </a:rPr>
                        <a:t>20 stores</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$1,022,216</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$298,664</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$276,924 – $415,386</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329184">
                <a:tc>
                  <a:txBody>
                    <a:bodyPr/>
                    <a:lstStyle/>
                    <a:p>
                      <a:pPr algn="l" indent="0" marL="0">
                        <a:buNone/>
                      </a:pPr>
                      <a:r>
                        <a:rPr lang="en-US" sz="1050" b="1" dirty="0">
                          <a:solidFill>
                            <a:srgbClr val="17211B"/>
                          </a:solidFill>
                          <a:latin typeface="Calibri" pitchFamily="34" charset="0"/>
                          <a:ea typeface="Calibri" pitchFamily="34" charset="-122"/>
                          <a:cs typeface="Calibri" pitchFamily="34" charset="-120"/>
                        </a:rPr>
                        <a:t>50 stores</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$2,555,539</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$746,660</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$692,310 – $1,038,466</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329184">
                <a:tc>
                  <a:txBody>
                    <a:bodyPr/>
                    <a:lstStyle/>
                    <a:p>
                      <a:pPr algn="l" indent="0" marL="0">
                        <a:buNone/>
                      </a:pPr>
                      <a:r>
                        <a:rPr lang="en-US" sz="1050" b="1" dirty="0">
                          <a:solidFill>
                            <a:srgbClr val="17211B"/>
                          </a:solidFill>
                          <a:latin typeface="Calibri" pitchFamily="34" charset="0"/>
                          <a:ea typeface="Calibri" pitchFamily="34" charset="-122"/>
                          <a:cs typeface="Calibri" pitchFamily="34" charset="-120"/>
                        </a:rPr>
                        <a:t>100 stores</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$5,111,078</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$1,493,320</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50" dirty="0">
                          <a:solidFill>
                            <a:srgbClr val="17211B"/>
                          </a:solidFill>
                          <a:latin typeface="Calibri" pitchFamily="34" charset="0"/>
                          <a:ea typeface="Calibri" pitchFamily="34" charset="-122"/>
                          <a:cs typeface="Calibri" pitchFamily="34" charset="-120"/>
                        </a:rPr>
                        <a:t>$1,384,621 – $2,076,931</a:t>
                      </a:r>
                      <a:endParaRPr lang="en-US" sz="105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bl>
          </a:graphicData>
        </a:graphic>
      </p:graphicFrame>
      <p:sp>
        <p:nvSpPr>
          <p:cNvPr id="7" name="Text 4"/>
          <p:cNvSpPr txBox="1"/>
          <p:nvPr/>
        </p:nvSpPr>
        <p:spPr>
          <a:xfrm>
            <a:off x="3840480" y="3429000"/>
            <a:ext cx="4754880" cy="822960"/>
          </a:xfrm>
          <a:prstGeom prst="rect">
            <a:avLst/>
          </a:prstGeom>
          <a:noFill/>
          <a:ln/>
        </p:spPr>
        <p:txBody>
          <a:bodyPr wrap="square" lIns="0" tIns="0" rIns="0" bIns="0" rtlCol="0" anchor="t"/>
          <a:lstStyle/>
          <a:p>
            <a:pPr indent="0" marL="0">
              <a:lnSpc>
                <a:spcPct val="112000"/>
              </a:lnSpc>
              <a:spcAft>
                <a:spcPts val="600"/>
              </a:spcAft>
              <a:buNone/>
            </a:pPr>
            <a:r>
              <a:rPr lang="en-US" sz="900" dirty="0">
                <a:solidFill>
                  <a:srgbClr val="7D8A81"/>
                </a:solidFill>
                <a:latin typeface="Calibri" pitchFamily="34" charset="0"/>
                <a:ea typeface="Calibri" pitchFamily="34" charset="-122"/>
                <a:cs typeface="Calibri" pitchFamily="34" charset="-120"/>
              </a:rPr>
              <a:t>Simulated store: $138,462 of prepared-food waste at retail per year under the par sheet; availability-held forecast setting. Replace the first row with the pilot's measured baseline and the rest follows.</a:t>
            </a:r>
            <a:endParaRPr lang="en-US" sz="900" dirty="0"/>
          </a:p>
        </p:txBody>
      </p:sp>
      <p:sp>
        <p:nvSpPr>
          <p:cNvPr id="9" name="Text 5"/>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RISKS, NAMED</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200" b="1" dirty="0">
                <a:solidFill>
                  <a:srgbClr val="17211B"/>
                </a:solidFill>
                <a:latin typeface="Arial" pitchFamily="34" charset="0"/>
                <a:ea typeface="Arial" pitchFamily="34" charset="-122"/>
                <a:cs typeface="Arial" pitchFamily="34" charset="-120"/>
              </a:rPr>
              <a:t>Every risk has a gate, a fallback, or a written answer</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8046720" cy="914400"/>
        </p:xfrm>
        <a:graphic>
          <a:graphicData uri="http://schemas.openxmlformats.org/drawingml/2006/table">
            <a:tbl>
              <a:tblPr/>
              <a:tblGrid>
                <a:gridCol w="2834640"/>
                <a:gridCol w="5212080"/>
              </a:tblGrid>
              <a:tr h="274320">
                <a:tc>
                  <a:txBody>
                    <a:bodyPr/>
                    <a:lstStyle/>
                    <a:p>
                      <a:pPr indent="0" marL="0">
                        <a:buNone/>
                      </a:pPr>
                      <a:r>
                        <a:rPr lang="en-US" sz="850" b="1" dirty="0">
                          <a:solidFill>
                            <a:srgbClr val="4D5A52"/>
                          </a:solidFill>
                          <a:latin typeface="Arial" pitchFamily="34" charset="0"/>
                          <a:ea typeface="Arial" pitchFamily="34" charset="-122"/>
                          <a:cs typeface="Arial" pitchFamily="34" charset="-120"/>
                        </a:rPr>
                        <a:t>RISK</a:t>
                      </a:r>
                      <a:endParaRPr lang="en-US" sz="850" dirty="0">
                        <a:latin typeface="Arial" charset="0"/>
                        <a:ea typeface="Arial" charset="0"/>
                        <a:cs typeface="Arial" charset="0"/>
                      </a:endParaRPr>
                    </a:p>
                  </a:txBody>
                  <a:tcPr marL="64008" marR="64008" marT="64008" marB="64008">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indent="0" marL="0">
                        <a:buNone/>
                      </a:pPr>
                      <a:r>
                        <a:rPr lang="en-US" sz="850" b="1" dirty="0">
                          <a:solidFill>
                            <a:srgbClr val="4D5A52"/>
                          </a:solidFill>
                          <a:latin typeface="Arial" pitchFamily="34" charset="0"/>
                          <a:ea typeface="Arial" pitchFamily="34" charset="-122"/>
                          <a:cs typeface="Arial" pitchFamily="34" charset="-120"/>
                        </a:rPr>
                        <a:t>MITIGATION</a:t>
                      </a:r>
                      <a:endParaRPr lang="en-US" sz="850" dirty="0">
                        <a:latin typeface="Arial" charset="0"/>
                        <a:ea typeface="Arial" charset="0"/>
                        <a:cs typeface="Arial" charset="0"/>
                      </a:endParaRPr>
                    </a:p>
                  </a:txBody>
                  <a:tcPr marL="64008" marR="64008" marT="64008" marB="64008">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502920">
                <a:tc>
                  <a:txBody>
                    <a:bodyPr/>
                    <a:lstStyle/>
                    <a:p>
                      <a:pPr indent="0" marL="0">
                        <a:buNone/>
                      </a:pPr>
                      <a:r>
                        <a:rPr lang="en-US" sz="1100" b="1" dirty="0">
                          <a:solidFill>
                            <a:srgbClr val="17211B"/>
                          </a:solidFill>
                          <a:latin typeface="Calibri" pitchFamily="34" charset="0"/>
                          <a:ea typeface="Calibri" pitchFamily="34" charset="-122"/>
                          <a:cs typeface="Calibri" pitchFamily="34" charset="-120"/>
                        </a:rPr>
                        <a:t>Forecasts do not transfer from simulation to this store</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indent="0" marL="0">
                        <a:buNone/>
                      </a:pPr>
                      <a:r>
                        <a:rPr lang="en-US" sz="1100" dirty="0">
                          <a:solidFill>
                            <a:srgbClr val="17211B"/>
                          </a:solidFill>
                          <a:latin typeface="Calibri" pitchFamily="34" charset="0"/>
                          <a:ea typeface="Calibri" pitchFamily="34" charset="-122"/>
                          <a:cs typeface="Calibri" pitchFamily="34" charset="-120"/>
                        </a:rPr>
                        <a:t>Shadow mode is the gate: four weeks of predictions scored against reality before production changes at all.</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502920">
                <a:tc>
                  <a:txBody>
                    <a:bodyPr/>
                    <a:lstStyle/>
                    <a:p>
                      <a:pPr indent="0" marL="0">
                        <a:buNone/>
                      </a:pPr>
                      <a:r>
                        <a:rPr lang="en-US" sz="1100" b="1" dirty="0">
                          <a:solidFill>
                            <a:srgbClr val="17211B"/>
                          </a:solidFill>
                          <a:latin typeface="Calibri" pitchFamily="34" charset="0"/>
                          <a:ea typeface="Calibri" pitchFamily="34" charset="-122"/>
                          <a:cs typeface="Calibri" pitchFamily="34" charset="-120"/>
                        </a:rPr>
                        <a:t>Availability suffers and customers notice</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indent="0" marL="0">
                        <a:buNone/>
                      </a:pPr>
                      <a:r>
                        <a:rPr lang="en-US" sz="1100" dirty="0">
                          <a:solidFill>
                            <a:srgbClr val="17211B"/>
                          </a:solidFill>
                          <a:latin typeface="Calibri" pitchFamily="34" charset="0"/>
                          <a:ea typeface="Calibri" pitchFamily="34" charset="-122"/>
                          <a:cs typeface="Calibri" pitchFamily="34" charset="-120"/>
                        </a:rPr>
                        <a:t>The pilot runs at the availability-held setting; sellouts are tracked daily and any item can revert to its par instantly.</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502920">
                <a:tc>
                  <a:txBody>
                    <a:bodyPr/>
                    <a:lstStyle/>
                    <a:p>
                      <a:pPr indent="0" marL="0">
                        <a:buNone/>
                      </a:pPr>
                      <a:r>
                        <a:rPr lang="en-US" sz="1100" b="1" dirty="0">
                          <a:solidFill>
                            <a:srgbClr val="17211B"/>
                          </a:solidFill>
                          <a:latin typeface="Calibri" pitchFamily="34" charset="0"/>
                          <a:ea typeface="Calibri" pitchFamily="34" charset="-122"/>
                          <a:cs typeface="Calibri" pitchFamily="34" charset="-120"/>
                        </a:rPr>
                        <a:t>The kitchen does not trust the sheet</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indent="0" marL="0">
                        <a:buNone/>
                      </a:pPr>
                      <a:r>
                        <a:rPr lang="en-US" sz="1100" dirty="0">
                          <a:solidFill>
                            <a:srgbClr val="17211B"/>
                          </a:solidFill>
                          <a:latin typeface="Calibri" pitchFamily="34" charset="0"/>
                          <a:ea typeface="Calibri" pitchFamily="34" charset="-122"/>
                          <a:cs typeface="Calibri" pitchFamily="34" charset="-120"/>
                        </a:rPr>
                        <a:t>Manager override is a feature, logged not fought; the pilot measures the blend, which is how it would really run.</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502920">
                <a:tc>
                  <a:txBody>
                    <a:bodyPr/>
                    <a:lstStyle/>
                    <a:p>
                      <a:pPr indent="0" marL="0">
                        <a:buNone/>
                      </a:pPr>
                      <a:r>
                        <a:rPr lang="en-US" sz="1100" b="1" dirty="0">
                          <a:solidFill>
                            <a:srgbClr val="17211B"/>
                          </a:solidFill>
                          <a:latin typeface="Calibri" pitchFamily="34" charset="0"/>
                          <a:ea typeface="Calibri" pitchFamily="34" charset="-122"/>
                          <a:cs typeface="Calibri" pitchFamily="34" charset="-120"/>
                        </a:rPr>
                        <a:t>The store's export is dirtier than expected</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indent="0" marL="0">
                        <a:buNone/>
                      </a:pPr>
                      <a:r>
                        <a:rPr lang="en-US" sz="1100" dirty="0">
                          <a:solidFill>
                            <a:srgbClr val="17211B"/>
                          </a:solidFill>
                          <a:latin typeface="Calibri" pitchFamily="34" charset="0"/>
                          <a:ea typeface="Calibri" pitchFamily="34" charset="-122"/>
                          <a:cs typeface="Calibri" pitchFamily="34" charset="-120"/>
                        </a:rPr>
                        <a:t>The importer has been rehearsed against a deliberately dirty mock export. The first real one will still surprise us, and the hours ask covers that.</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502920">
                <a:tc>
                  <a:txBody>
                    <a:bodyPr/>
                    <a:lstStyle/>
                    <a:p>
                      <a:pPr indent="0" marL="0">
                        <a:buNone/>
                      </a:pPr>
                      <a:r>
                        <a:rPr lang="en-US" sz="1100" b="1" dirty="0">
                          <a:solidFill>
                            <a:srgbClr val="17211B"/>
                          </a:solidFill>
                          <a:latin typeface="Calibri" pitchFamily="34" charset="0"/>
                          <a:ea typeface="Calibri" pitchFamily="34" charset="-122"/>
                          <a:cs typeface="Calibri" pitchFamily="34" charset="-120"/>
                        </a:rPr>
                        <a:t>Data access or IP questions</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indent="0" marL="0">
                        <a:buNone/>
                      </a:pPr>
                      <a:r>
                        <a:rPr lang="en-US" sz="1100" dirty="0">
                          <a:solidFill>
                            <a:srgbClr val="17211B"/>
                          </a:solidFill>
                          <a:latin typeface="Calibri" pitchFamily="34" charset="0"/>
                          <a:ea typeface="Calibri" pitchFamily="34" charset="-122"/>
                          <a:cs typeface="Calibri" pitchFamily="34" charset="-120"/>
                        </a:rPr>
                        <a:t>Nothing was built on company data; access is scoped, read-only, written and revocable. IP and recognition are settled in writing before the live phase.</a:t>
                      </a:r>
                      <a:endParaRPr lang="en-US" sz="1100" dirty="0">
                        <a:latin typeface="Calibri" charset="0"/>
                        <a:ea typeface="Calibri" charset="0"/>
                        <a:cs typeface="Calibri" charset="0"/>
                      </a:endParaRPr>
                    </a:p>
                  </a:txBody>
                  <a:tcPr marL="64008" marR="64008" marT="64008" marB="64008" anchor="t">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bl>
          </a:graphicData>
        </a:graphic>
      </p:graphicFrame>
      <p:sp>
        <p:nvSpPr>
          <p:cNvPr id="6"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14"/>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7FD1A0"/>
                </a:solidFill>
                <a:latin typeface="Arial" pitchFamily="34" charset="0"/>
                <a:ea typeface="Arial" pitchFamily="34" charset="-122"/>
                <a:cs typeface="Arial" pitchFamily="34" charset="-120"/>
              </a:rPr>
              <a:t>THE DECISION</a:t>
            </a:r>
            <a:endParaRPr lang="en-US" sz="1000" dirty="0"/>
          </a:p>
        </p:txBody>
      </p:sp>
      <p:sp>
        <p:nvSpPr>
          <p:cNvPr id="3" name="Text 1"/>
          <p:cNvSpPr txBox="1"/>
          <p:nvPr/>
        </p:nvSpPr>
        <p:spPr>
          <a:xfrm>
            <a:off x="548640" y="1371600"/>
            <a:ext cx="8046720" cy="914400"/>
          </a:xfrm>
          <a:prstGeom prst="rect">
            <a:avLst/>
          </a:prstGeom>
          <a:noFill/>
          <a:ln/>
        </p:spPr>
        <p:txBody>
          <a:bodyPr wrap="square" lIns="0" tIns="0" rIns="0" bIns="0" rtlCol="0" anchor="ctr"/>
          <a:lstStyle/>
          <a:p>
            <a:pPr indent="0" marL="0">
              <a:buNone/>
            </a:pPr>
            <a:r>
              <a:rPr lang="en-US" sz="4600" b="1" dirty="0">
                <a:solidFill>
                  <a:srgbClr val="EEF1EC"/>
                </a:solidFill>
                <a:latin typeface="Arial" pitchFamily="34" charset="0"/>
                <a:ea typeface="Arial" pitchFamily="34" charset="-122"/>
                <a:cs typeface="Arial" pitchFamily="34" charset="-120"/>
              </a:rPr>
              <a:t>Approve one pilot store.</a:t>
            </a:r>
            <a:endParaRPr lang="en-US" sz="4600" dirty="0"/>
          </a:p>
        </p:txBody>
      </p:sp>
      <p:sp>
        <p:nvSpPr>
          <p:cNvPr id="4" name="Text 2"/>
          <p:cNvSpPr txBox="1"/>
          <p:nvPr/>
        </p:nvSpPr>
        <p:spPr>
          <a:xfrm>
            <a:off x="548640" y="2377440"/>
            <a:ext cx="6766560" cy="914400"/>
          </a:xfrm>
          <a:prstGeom prst="rect">
            <a:avLst/>
          </a:prstGeom>
          <a:noFill/>
          <a:ln/>
        </p:spPr>
        <p:txBody>
          <a:bodyPr wrap="square" lIns="0" tIns="0" rIns="0" bIns="0" rtlCol="0" anchor="ctr"/>
          <a:lstStyle/>
          <a:p>
            <a:pPr indent="0" marL="0">
              <a:buNone/>
            </a:pPr>
            <a:r>
              <a:rPr lang="en-US" sz="1800" dirty="0">
                <a:solidFill>
                  <a:srgbClr val="C9D4CC"/>
                </a:solidFill>
                <a:latin typeface="Calibri" pitchFamily="34" charset="0"/>
                <a:ea typeface="Calibri" pitchFamily="34" charset="-122"/>
                <a:cs typeface="Calibri" pitchFamily="34" charset="-120"/>
              </a:rPr>
              <a:t>Week 1 begins the day the data-access letter is signed. By week 6 we know whether the forecasts are accurate here. By week 13 we have a measured number.</a:t>
            </a:r>
            <a:endParaRPr lang="en-US" sz="1800" dirty="0"/>
          </a:p>
        </p:txBody>
      </p:sp>
      <p:sp>
        <p:nvSpPr>
          <p:cNvPr id="5" name="Text 3"/>
          <p:cNvSpPr txBox="1"/>
          <p:nvPr/>
        </p:nvSpPr>
        <p:spPr>
          <a:xfrm>
            <a:off x="548640" y="3429000"/>
            <a:ext cx="8046720" cy="320040"/>
          </a:xfrm>
          <a:prstGeom prst="rect">
            <a:avLst/>
          </a:prstGeom>
          <a:noFill/>
          <a:ln/>
        </p:spPr>
        <p:txBody>
          <a:bodyPr wrap="square" lIns="0" tIns="0" rIns="0" bIns="0" rtlCol="0" anchor="ctr"/>
          <a:lstStyle/>
          <a:p>
            <a:pPr indent="0" marL="0">
              <a:buNone/>
            </a:pPr>
            <a:r>
              <a:rPr lang="en-US" sz="700" dirty="0">
                <a:solidFill>
                  <a:srgbClr val="7FD1A0"/>
                </a:solidFill>
                <a:latin typeface="Arial" pitchFamily="34" charset="0"/>
                <a:ea typeface="Arial" pitchFamily="34" charset="-122"/>
                <a:cs typeface="Arial" pitchFamily="34" charset="-120"/>
              </a:rPr>
              <a:t>●  </a:t>
            </a:r>
            <a:pPr indent="0" marL="0">
              <a:buNone/>
            </a:pPr>
            <a:r>
              <a:rPr lang="en-US" sz="1100" dirty="0">
                <a:solidFill>
                  <a:srgbClr val="9FB0A5"/>
                </a:solidFill>
                <a:latin typeface="Arial" pitchFamily="34" charset="0"/>
                <a:ea typeface="Arial" pitchFamily="34" charset="-122"/>
                <a:cs typeface="Arial" pitchFamily="34" charset="-120"/>
              </a:rPr>
              <a:t>Downside: a few pallets of mis-produced food, after a stop gate      </a:t>
            </a:r>
            <a:pPr indent="0" marL="0">
              <a:buNone/>
            </a:pPr>
            <a:r>
              <a:rPr lang="en-US" sz="700" dirty="0">
                <a:solidFill>
                  <a:srgbClr val="7FD1A0"/>
                </a:solidFill>
                <a:latin typeface="Arial" pitchFamily="34" charset="0"/>
                <a:ea typeface="Arial" pitchFamily="34" charset="-122"/>
                <a:cs typeface="Arial" pitchFamily="34" charset="-120"/>
              </a:rPr>
              <a:t>●  </a:t>
            </a:r>
            <a:pPr indent="0" marL="0">
              <a:buNone/>
            </a:pPr>
            <a:r>
              <a:rPr lang="en-US" sz="1100" dirty="0">
                <a:solidFill>
                  <a:srgbClr val="9FB0A5"/>
                </a:solidFill>
                <a:latin typeface="Arial" pitchFamily="34" charset="0"/>
                <a:ea typeface="Arial" pitchFamily="34" charset="-122"/>
                <a:cs typeface="Arial" pitchFamily="34" charset="-120"/>
              </a:rPr>
              <a:t>Upside: a measured template for every store</a:t>
            </a:r>
            <a:endParaRPr lang="en-US" sz="1100" dirty="0"/>
          </a:p>
        </p:txBody>
      </p:sp>
      <p:sp>
        <p:nvSpPr>
          <p:cNvPr id="7" name="Text 4"/>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9FB0A5"/>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APPENDIX</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200" b="1" dirty="0">
                <a:solidFill>
                  <a:srgbClr val="17211B"/>
                </a:solidFill>
                <a:latin typeface="Arial" pitchFamily="34" charset="0"/>
                <a:ea typeface="Arial" pitchFamily="34" charset="-122"/>
                <a:cs typeface="Arial" pitchFamily="34" charset="-120"/>
              </a:rPr>
              <a:t>Per item, simulated held-out year, profit-optimal setting</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554480"/>
                <a:gridCol w="1143000"/>
                <a:gridCol w="1143000"/>
                <a:gridCol w="1143000"/>
                <a:gridCol w="822960"/>
                <a:gridCol w="1417320"/>
                <a:gridCol w="822960"/>
              </a:tblGrid>
              <a:tr h="274320">
                <a:tc>
                  <a:txBody>
                    <a:bodyPr/>
                    <a:lstStyle/>
                    <a:p>
                      <a:pPr algn="l" indent="0" marL="0">
                        <a:buNone/>
                      </a:pPr>
                      <a:r>
                        <a:rPr lang="en-US" sz="750" b="1" dirty="0">
                          <a:solidFill>
                            <a:srgbClr val="4D5A52"/>
                          </a:solidFill>
                          <a:latin typeface="Arial" pitchFamily="34" charset="0"/>
                          <a:ea typeface="Arial" pitchFamily="34" charset="-122"/>
                          <a:cs typeface="Arial" pitchFamily="34" charset="-120"/>
                        </a:rPr>
                        <a:t>ITEM</a:t>
                      </a:r>
                      <a:endParaRPr lang="en-US" sz="750" dirty="0">
                        <a:latin typeface="Arial" charset="0"/>
                        <a:ea typeface="Arial" charset="0"/>
                        <a:cs typeface="Arial" charset="0"/>
                      </a:endParaRPr>
                    </a:p>
                  </a:txBody>
                  <a:tcPr marL="36576" marR="36576" marT="36576" marB="36576"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750" b="1" dirty="0">
                          <a:solidFill>
                            <a:srgbClr val="4D5A52"/>
                          </a:solidFill>
                          <a:latin typeface="Arial" pitchFamily="34" charset="0"/>
                          <a:ea typeface="Arial" pitchFamily="34" charset="-122"/>
                          <a:cs typeface="Arial" pitchFamily="34" charset="-120"/>
                        </a:rPr>
                        <a:t>WASTE TODAY (RETAIL)</a:t>
                      </a:r>
                      <a:endParaRPr lang="en-US" sz="750" dirty="0">
                        <a:latin typeface="Arial" charset="0"/>
                        <a:ea typeface="Arial" charset="0"/>
                        <a:cs typeface="Arial" charset="0"/>
                      </a:endParaRPr>
                    </a:p>
                  </a:txBody>
                  <a:tcPr marL="36576" marR="36576" marT="36576" marB="36576"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750" b="1" dirty="0">
                          <a:solidFill>
                            <a:srgbClr val="4D5A52"/>
                          </a:solidFill>
                          <a:latin typeface="Arial" pitchFamily="34" charset="0"/>
                          <a:ea typeface="Arial" pitchFamily="34" charset="-122"/>
                          <a:cs typeface="Arial" pitchFamily="34" charset="-120"/>
                        </a:rPr>
                        <a:t>WASTE % OF PRODUCTION</a:t>
                      </a:r>
                      <a:endParaRPr lang="en-US" sz="750" dirty="0">
                        <a:latin typeface="Arial" charset="0"/>
                        <a:ea typeface="Arial" charset="0"/>
                        <a:cs typeface="Arial" charset="0"/>
                      </a:endParaRPr>
                    </a:p>
                  </a:txBody>
                  <a:tcPr marL="36576" marR="36576" marT="36576" marB="36576"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750" b="1" dirty="0">
                          <a:solidFill>
                            <a:srgbClr val="4D5A52"/>
                          </a:solidFill>
                          <a:latin typeface="Arial" pitchFamily="34" charset="0"/>
                          <a:ea typeface="Arial" pitchFamily="34" charset="-122"/>
                          <a:cs typeface="Arial" pitchFamily="34" charset="-120"/>
                        </a:rPr>
                        <a:t>WASTE WITH FORECAST</a:t>
                      </a:r>
                      <a:endParaRPr lang="en-US" sz="750" dirty="0">
                        <a:latin typeface="Arial" charset="0"/>
                        <a:ea typeface="Arial" charset="0"/>
                        <a:cs typeface="Arial" charset="0"/>
                      </a:endParaRPr>
                    </a:p>
                  </a:txBody>
                  <a:tcPr marL="36576" marR="36576" marT="36576" marB="36576"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750" b="1" dirty="0">
                          <a:solidFill>
                            <a:srgbClr val="4D5A52"/>
                          </a:solidFill>
                          <a:latin typeface="Arial" pitchFamily="34" charset="0"/>
                          <a:ea typeface="Arial" pitchFamily="34" charset="-122"/>
                          <a:cs typeface="Arial" pitchFamily="34" charset="-120"/>
                        </a:rPr>
                        <a:t>CHANGE</a:t>
                      </a:r>
                      <a:endParaRPr lang="en-US" sz="750" dirty="0">
                        <a:latin typeface="Arial" charset="0"/>
                        <a:ea typeface="Arial" charset="0"/>
                        <a:cs typeface="Arial" charset="0"/>
                      </a:endParaRPr>
                    </a:p>
                  </a:txBody>
                  <a:tcPr marL="36576" marR="36576" marT="36576" marB="36576"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750" b="1" dirty="0">
                          <a:solidFill>
                            <a:srgbClr val="4D5A52"/>
                          </a:solidFill>
                          <a:latin typeface="Arial" pitchFamily="34" charset="0"/>
                          <a:ea typeface="Arial" pitchFamily="34" charset="-122"/>
                          <a:cs typeface="Arial" pitchFamily="34" charset="-120"/>
                        </a:rPr>
                        <a:t>FILL RATE TODAY → FORECAST</a:t>
                      </a:r>
                      <a:endParaRPr lang="en-US" sz="750" dirty="0">
                        <a:latin typeface="Arial" charset="0"/>
                        <a:ea typeface="Arial" charset="0"/>
                        <a:cs typeface="Arial" charset="0"/>
                      </a:endParaRPr>
                    </a:p>
                  </a:txBody>
                  <a:tcPr marL="36576" marR="36576" marT="36576" marB="36576"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750" b="1" dirty="0">
                          <a:solidFill>
                            <a:srgbClr val="4D5A52"/>
                          </a:solidFill>
                          <a:latin typeface="Arial" pitchFamily="34" charset="0"/>
                          <a:ea typeface="Arial" pitchFamily="34" charset="-122"/>
                          <a:cs typeface="Arial" pitchFamily="34" charset="-120"/>
                        </a:rPr>
                        <a:t>SERVICE TARGET</a:t>
                      </a:r>
                      <a:endParaRPr lang="en-US" sz="750" dirty="0">
                        <a:latin typeface="Arial" charset="0"/>
                        <a:ea typeface="Arial" charset="0"/>
                        <a:cs typeface="Arial" charset="0"/>
                      </a:endParaRPr>
                    </a:p>
                  </a:txBody>
                  <a:tcPr marL="36576" marR="36576" marT="36576" marB="36576" anchor="b">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274320">
                <a:tc>
                  <a:txBody>
                    <a:bodyPr/>
                    <a:lstStyle/>
                    <a:p>
                      <a:pPr algn="l" indent="0" marL="0">
                        <a:buNone/>
                      </a:pPr>
                      <a:r>
                        <a:rPr lang="en-US" sz="1000" b="1" dirty="0">
                          <a:solidFill>
                            <a:srgbClr val="17211B"/>
                          </a:solidFill>
                          <a:latin typeface="Calibri" pitchFamily="34" charset="0"/>
                          <a:ea typeface="Calibri" pitchFamily="34" charset="-122"/>
                          <a:cs typeface="Calibri" pitchFamily="34" charset="-120"/>
                        </a:rPr>
                        <a:t>Hot Bar (per lb)</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$36,056</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$11,732</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98.4% → 95.5%</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274320">
                <a:tc>
                  <a:txBody>
                    <a:bodyPr/>
                    <a:lstStyle/>
                    <a:p>
                      <a:pPr algn="l" indent="0" marL="0">
                        <a:buNone/>
                      </a:pPr>
                      <a:r>
                        <a:rPr lang="en-US" sz="1000" b="1" dirty="0">
                          <a:solidFill>
                            <a:srgbClr val="17211B"/>
                          </a:solidFill>
                          <a:latin typeface="Calibri" pitchFamily="34" charset="0"/>
                          <a:ea typeface="Calibri" pitchFamily="34" charset="-122"/>
                          <a:cs typeface="Calibri" pitchFamily="34" charset="-120"/>
                        </a:rPr>
                        <a:t>Rotisserie Chicken</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$24,002</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$8,094</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98.8% → 95.2%</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0.60</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274320">
                <a:tc>
                  <a:txBody>
                    <a:bodyPr/>
                    <a:lstStyle/>
                    <a:p>
                      <a:pPr algn="l" indent="0" marL="0">
                        <a:buNone/>
                      </a:pPr>
                      <a:r>
                        <a:rPr lang="en-US" sz="1000" b="1" dirty="0">
                          <a:solidFill>
                            <a:srgbClr val="17211B"/>
                          </a:solidFill>
                          <a:latin typeface="Calibri" pitchFamily="34" charset="0"/>
                          <a:ea typeface="Calibri" pitchFamily="34" charset="-122"/>
                          <a:cs typeface="Calibri" pitchFamily="34" charset="-120"/>
                        </a:rPr>
                        <a:t>Sushi Roll</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$21,028</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$5,448</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−74%</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97.1% → 89.2%</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0.58</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274320">
                <a:tc>
                  <a:txBody>
                    <a:bodyPr/>
                    <a:lstStyle/>
                    <a:p>
                      <a:pPr algn="l" indent="0" marL="0">
                        <a:buNone/>
                      </a:pPr>
                      <a:r>
                        <a:rPr lang="en-US" sz="1000" b="1" dirty="0">
                          <a:solidFill>
                            <a:srgbClr val="17211B"/>
                          </a:solidFill>
                          <a:latin typeface="Calibri" pitchFamily="34" charset="0"/>
                          <a:ea typeface="Calibri" pitchFamily="34" charset="-122"/>
                          <a:cs typeface="Calibri" pitchFamily="34" charset="-120"/>
                        </a:rPr>
                        <a:t>Whole Pizza</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$12,544</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$7,023</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97.3% → 95.7%</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0.68</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274320">
                <a:tc>
                  <a:txBody>
                    <a:bodyPr/>
                    <a:lstStyle/>
                    <a:p>
                      <a:pPr algn="l" indent="0" marL="0">
                        <a:buNone/>
                      </a:pPr>
                      <a:r>
                        <a:rPr lang="en-US" sz="1000" b="1" dirty="0">
                          <a:solidFill>
                            <a:srgbClr val="17211B"/>
                          </a:solidFill>
                          <a:latin typeface="Calibri" pitchFamily="34" charset="0"/>
                          <a:ea typeface="Calibri" pitchFamily="34" charset="-122"/>
                          <a:cs typeface="Calibri" pitchFamily="34" charset="-120"/>
                        </a:rPr>
                        <a:t>Pizza Slice</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$10,976</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$4,837</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98.6% → 96.1%</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0.74</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274320">
                <a:tc>
                  <a:txBody>
                    <a:bodyPr/>
                    <a:lstStyle/>
                    <a:p>
                      <a:pPr algn="l" indent="0" marL="0">
                        <a:buNone/>
                      </a:pPr>
                      <a:r>
                        <a:rPr lang="en-US" sz="1000" b="1" dirty="0">
                          <a:solidFill>
                            <a:srgbClr val="17211B"/>
                          </a:solidFill>
                          <a:latin typeface="Calibri" pitchFamily="34" charset="0"/>
                          <a:ea typeface="Calibri" pitchFamily="34" charset="-122"/>
                          <a:cs typeface="Calibri" pitchFamily="34" charset="-120"/>
                        </a:rPr>
                        <a:t>Sub / Sandwich</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$9,776</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$5,607</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−43%</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97.4% → 96.4%</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0.70</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274320">
                <a:tc>
                  <a:txBody>
                    <a:bodyPr/>
                    <a:lstStyle/>
                    <a:p>
                      <a:pPr algn="l" indent="0" marL="0">
                        <a:buNone/>
                      </a:pPr>
                      <a:r>
                        <a:rPr lang="en-US" sz="1000" b="1" dirty="0">
                          <a:solidFill>
                            <a:srgbClr val="17211B"/>
                          </a:solidFill>
                          <a:latin typeface="Calibri" pitchFamily="34" charset="0"/>
                          <a:ea typeface="Calibri" pitchFamily="34" charset="-122"/>
                          <a:cs typeface="Calibri" pitchFamily="34" charset="-120"/>
                        </a:rPr>
                        <a:t>Doughnut</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$8,727</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$4,612</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−47%</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98.7% → 97.3%</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0.79</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274320">
                <a:tc>
                  <a:txBody>
                    <a:bodyPr/>
                    <a:lstStyle/>
                    <a:p>
                      <a:pPr algn="l" indent="0" marL="0">
                        <a:buNone/>
                      </a:pPr>
                      <a:r>
                        <a:rPr lang="en-US" sz="1000" b="1" dirty="0">
                          <a:solidFill>
                            <a:srgbClr val="17211B"/>
                          </a:solidFill>
                          <a:latin typeface="Calibri" pitchFamily="34" charset="0"/>
                          <a:ea typeface="Calibri" pitchFamily="34" charset="-122"/>
                          <a:cs typeface="Calibri" pitchFamily="34" charset="-120"/>
                        </a:rPr>
                        <a:t>Bread Loaf</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$8,092</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$4,229</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98.1% → 96.7%</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0.72</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r h="274320">
                <a:tc>
                  <a:txBody>
                    <a:bodyPr/>
                    <a:lstStyle/>
                    <a:p>
                      <a:pPr algn="l" indent="0" marL="0">
                        <a:buNone/>
                      </a:pPr>
                      <a:r>
                        <a:rPr lang="en-US" sz="1000" b="1" dirty="0">
                          <a:solidFill>
                            <a:srgbClr val="17211B"/>
                          </a:solidFill>
                          <a:latin typeface="Calibri" pitchFamily="34" charset="0"/>
                          <a:ea typeface="Calibri" pitchFamily="34" charset="-122"/>
                          <a:cs typeface="Calibri" pitchFamily="34" charset="-120"/>
                        </a:rPr>
                        <a:t>Cake</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$7,261</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$4,300</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93.1% → 91.8%</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c>
                  <a:txBody>
                    <a:bodyPr/>
                    <a:lstStyle/>
                    <a:p>
                      <a:pPr algn="r" indent="0" marL="0">
                        <a:buNone/>
                      </a:pPr>
                      <a:r>
                        <a:rPr lang="en-US" sz="1000" dirty="0">
                          <a:solidFill>
                            <a:srgbClr val="17211B"/>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9525" cap="flat" cmpd="sng" algn="ctr">
                      <a:solidFill>
                        <a:srgbClr val="E3E7E2"/>
                      </a:solidFill>
                      <a:prstDash val="solid"/>
                      <a:round/>
                      <a:headEnd type="none" w="med" len="med"/>
                      <a:tailEnd type="none" w="med" len="med"/>
                    </a:lnB>
                    <a:solidFill>
                      <a:srgbClr val="F8F9F6"/>
                    </a:solidFill>
                  </a:tcPr>
                </a:tc>
              </a:tr>
            </a:tbl>
          </a:graphicData>
        </a:graphic>
      </p:graphicFrame>
      <p:sp>
        <p:nvSpPr>
          <p:cNvPr id="5" name="Text 2"/>
          <p:cNvSpPr txBox="1"/>
          <p:nvPr/>
        </p:nvSpPr>
        <p:spPr>
          <a:xfrm>
            <a:off x="548640" y="4526280"/>
            <a:ext cx="7223760" cy="411480"/>
          </a:xfrm>
          <a:prstGeom prst="rect">
            <a:avLst/>
          </a:prstGeom>
          <a:noFill/>
          <a:ln/>
        </p:spPr>
        <p:txBody>
          <a:bodyPr wrap="square" lIns="0" tIns="0" rIns="0" bIns="0" rtlCol="0" anchor="b"/>
          <a:lstStyle/>
          <a:p>
            <a:pPr indent="0" marL="0">
              <a:buNone/>
            </a:pPr>
            <a:r>
              <a:rPr lang="en-US" sz="950" dirty="0">
                <a:solidFill>
                  <a:srgbClr val="7D8A81"/>
                </a:solidFill>
                <a:latin typeface="Calibri" pitchFamily="34" charset="0"/>
                <a:ea typeface="Calibri" pitchFamily="34" charset="-122"/>
                <a:cs typeface="Calibri" pitchFamily="34" charset="-120"/>
              </a:rPr>
              <a:t>Service target is the newsvendor critical fractile each item's price, cost and salvage imply: the fraction of days the item should not sell out. Expensive, low-margin items get a lower target and run lean; cheap, high-margin items pad.</a:t>
            </a:r>
            <a:endParaRPr lang="en-US" sz="950" dirty="0"/>
          </a:p>
        </p:txBody>
      </p:sp>
      <p:sp>
        <p:nvSpPr>
          <p:cNvPr id="7"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6"/>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1E7A46"/>
                </a:solidFill>
                <a:latin typeface="Arial" pitchFamily="34" charset="0"/>
                <a:ea typeface="Arial" pitchFamily="34" charset="-122"/>
                <a:cs typeface="Arial" pitchFamily="34" charset="-120"/>
              </a:rPr>
              <a:t>APPENDIX</a:t>
            </a:r>
            <a:endParaRPr lang="en-US" sz="1000" dirty="0"/>
          </a:p>
        </p:txBody>
      </p:sp>
      <p:sp>
        <p:nvSpPr>
          <p:cNvPr id="3" name="Text 1"/>
          <p:cNvSpPr txBox="1"/>
          <p:nvPr/>
        </p:nvSpPr>
        <p:spPr>
          <a:xfrm>
            <a:off x="548640" y="566928"/>
            <a:ext cx="8046720" cy="822960"/>
          </a:xfrm>
          <a:prstGeom prst="rect">
            <a:avLst/>
          </a:prstGeom>
          <a:noFill/>
          <a:ln/>
        </p:spPr>
        <p:txBody>
          <a:bodyPr wrap="square" lIns="0" tIns="0" rIns="0" bIns="0" rtlCol="0" anchor="t">
            <a:normAutofit/>
          </a:bodyPr>
          <a:lstStyle/>
          <a:p>
            <a:pPr indent="0" marL="0">
              <a:buNone/>
            </a:pPr>
            <a:r>
              <a:rPr lang="en-US" sz="2600" b="1" dirty="0">
                <a:solidFill>
                  <a:srgbClr val="17211B"/>
                </a:solidFill>
                <a:latin typeface="Arial" pitchFamily="34" charset="0"/>
                <a:ea typeface="Arial" pitchFamily="34" charset="-122"/>
                <a:cs typeface="Arial" pitchFamily="34" charset="-120"/>
              </a:rPr>
              <a:t>Method notes and provenance</a:t>
            </a:r>
            <a:endParaRPr lang="en-US" sz="2600" dirty="0"/>
          </a:p>
        </p:txBody>
      </p:sp>
      <p:sp>
        <p:nvSpPr>
          <p:cNvPr id="4" name="Text 2"/>
          <p:cNvSpPr txBox="1"/>
          <p:nvPr/>
        </p:nvSpPr>
        <p:spPr>
          <a:xfrm>
            <a:off x="548640" y="1417320"/>
            <a:ext cx="3840480" cy="274320"/>
          </a:xfrm>
          <a:prstGeom prst="rect">
            <a:avLst/>
          </a:prstGeom>
          <a:noFill/>
          <a:ln/>
        </p:spPr>
        <p:txBody>
          <a:bodyPr wrap="square" lIns="0" tIns="0" rIns="0" bIns="0" rtlCol="0" anchor="ctr"/>
          <a:lstStyle/>
          <a:p>
            <a:pPr indent="0" marL="0">
              <a:buNone/>
            </a:pPr>
            <a:r>
              <a:rPr lang="en-US" sz="1250" b="1" dirty="0">
                <a:solidFill>
                  <a:srgbClr val="17211B"/>
                </a:solidFill>
                <a:latin typeface="Arial" pitchFamily="34" charset="0"/>
                <a:ea typeface="Arial" pitchFamily="34" charset="-122"/>
                <a:cs typeface="Arial" pitchFamily="34" charset="-120"/>
              </a:rPr>
              <a:t>Demand model</a:t>
            </a:r>
            <a:endParaRPr lang="en-US" sz="1250" dirty="0"/>
          </a:p>
        </p:txBody>
      </p:sp>
      <p:sp>
        <p:nvSpPr>
          <p:cNvPr id="5" name="Text 3"/>
          <p:cNvSpPr txBox="1"/>
          <p:nvPr/>
        </p:nvSpPr>
        <p:spPr>
          <a:xfrm>
            <a:off x="548640" y="1691640"/>
            <a:ext cx="3840480" cy="1325880"/>
          </a:xfrm>
          <a:prstGeom prst="rect">
            <a:avLst/>
          </a:prstGeom>
          <a:noFill/>
          <a:ln/>
        </p:spPr>
        <p:txBody>
          <a:bodyPr wrap="square" lIns="0" tIns="0" rIns="0" bIns="0" rtlCol="0" anchor="t"/>
          <a:lstStyle/>
          <a:p>
            <a:pPr indent="0" marL="0">
              <a:lnSpc>
                <a:spcPct val="110000"/>
              </a:lnSpc>
              <a:buNone/>
            </a:pPr>
            <a:r>
              <a:rPr lang="en-US" sz="1000" dirty="0">
                <a:solidFill>
                  <a:srgbClr val="17211B"/>
                </a:solidFill>
                <a:latin typeface="Calibri" pitchFamily="34" charset="0"/>
                <a:ea typeface="Calibri" pitchFamily="34" charset="-122"/>
                <a:cs typeface="Calibri" pitchFamily="34" charset="-120"/>
              </a:rPr>
              <a:t>A global quantile-regression neural network: a GRU encoder over each item's trailing 28 days, learned item embeddings, and calendar, weather and holiday covariates, trained with pinball loss across 11 quantiles. Sellout days are treated as censored, since sales only bound demand from below when the case sold out.</a:t>
            </a:r>
            <a:endParaRPr lang="en-US" sz="1000" dirty="0"/>
          </a:p>
        </p:txBody>
      </p:sp>
      <p:sp>
        <p:nvSpPr>
          <p:cNvPr id="6" name="Text 4"/>
          <p:cNvSpPr txBox="1"/>
          <p:nvPr/>
        </p:nvSpPr>
        <p:spPr>
          <a:xfrm>
            <a:off x="548640" y="3063240"/>
            <a:ext cx="3840480" cy="274320"/>
          </a:xfrm>
          <a:prstGeom prst="rect">
            <a:avLst/>
          </a:prstGeom>
          <a:noFill/>
          <a:ln/>
        </p:spPr>
        <p:txBody>
          <a:bodyPr wrap="square" lIns="0" tIns="0" rIns="0" bIns="0" rtlCol="0" anchor="ctr"/>
          <a:lstStyle/>
          <a:p>
            <a:pPr indent="0" marL="0">
              <a:buNone/>
            </a:pPr>
            <a:r>
              <a:rPr lang="en-US" sz="1250" b="1" dirty="0">
                <a:solidFill>
                  <a:srgbClr val="17211B"/>
                </a:solidFill>
                <a:latin typeface="Arial" pitchFamily="34" charset="0"/>
                <a:ea typeface="Arial" pitchFamily="34" charset="-122"/>
                <a:cs typeface="Arial" pitchFamily="34" charset="-120"/>
              </a:rPr>
              <a:t>Decision layer</a:t>
            </a:r>
            <a:endParaRPr lang="en-US" sz="1250" dirty="0"/>
          </a:p>
        </p:txBody>
      </p:sp>
      <p:sp>
        <p:nvSpPr>
          <p:cNvPr id="7" name="Text 5"/>
          <p:cNvSpPr txBox="1"/>
          <p:nvPr/>
        </p:nvSpPr>
        <p:spPr>
          <a:xfrm>
            <a:off x="548640" y="3337560"/>
            <a:ext cx="3840480" cy="1097280"/>
          </a:xfrm>
          <a:prstGeom prst="rect">
            <a:avLst/>
          </a:prstGeom>
          <a:noFill/>
          <a:ln/>
        </p:spPr>
        <p:txBody>
          <a:bodyPr wrap="square" lIns="0" tIns="0" rIns="0" bIns="0" rtlCol="0" anchor="t"/>
          <a:lstStyle/>
          <a:p>
            <a:pPr indent="0" marL="0">
              <a:lnSpc>
                <a:spcPct val="110000"/>
              </a:lnSpc>
              <a:buNone/>
            </a:pPr>
            <a:r>
              <a:rPr lang="en-US" sz="1000" dirty="0">
                <a:solidFill>
                  <a:srgbClr val="17211B"/>
                </a:solidFill>
                <a:latin typeface="Calibri" pitchFamily="34" charset="0"/>
                <a:ea typeface="Calibri" pitchFamily="34" charset="-122"/>
                <a:cs typeface="Calibri" pitchFamily="34" charset="-120"/>
              </a:rPr>
              <a:t>Per-item newsvendor critical fractile, rounded to batch sizes. The availability-held variant raises each item's target until the year's fill rate matches the par sheet's.</a:t>
            </a:r>
            <a:endParaRPr lang="en-US" sz="1000" dirty="0"/>
          </a:p>
        </p:txBody>
      </p:sp>
      <p:sp>
        <p:nvSpPr>
          <p:cNvPr id="8" name="Text 6"/>
          <p:cNvSpPr txBox="1"/>
          <p:nvPr/>
        </p:nvSpPr>
        <p:spPr>
          <a:xfrm>
            <a:off x="4754880" y="1417320"/>
            <a:ext cx="3840480" cy="274320"/>
          </a:xfrm>
          <a:prstGeom prst="rect">
            <a:avLst/>
          </a:prstGeom>
          <a:noFill/>
          <a:ln/>
        </p:spPr>
        <p:txBody>
          <a:bodyPr wrap="square" lIns="0" tIns="0" rIns="0" bIns="0" rtlCol="0" anchor="ctr"/>
          <a:lstStyle/>
          <a:p>
            <a:pPr indent="0" marL="0">
              <a:buNone/>
            </a:pPr>
            <a:r>
              <a:rPr lang="en-US" sz="1250" b="1" dirty="0">
                <a:solidFill>
                  <a:srgbClr val="17211B"/>
                </a:solidFill>
                <a:latin typeface="Arial" pitchFamily="34" charset="0"/>
                <a:ea typeface="Arial" pitchFamily="34" charset="-122"/>
                <a:cs typeface="Arial" pitchFamily="34" charset="-120"/>
              </a:rPr>
              <a:t>Validation</a:t>
            </a:r>
            <a:endParaRPr lang="en-US" sz="1250" dirty="0"/>
          </a:p>
        </p:txBody>
      </p:sp>
      <p:sp>
        <p:nvSpPr>
          <p:cNvPr id="9" name="Text 7"/>
          <p:cNvSpPr txBox="1"/>
          <p:nvPr/>
        </p:nvSpPr>
        <p:spPr>
          <a:xfrm>
            <a:off x="4754880" y="1691640"/>
            <a:ext cx="3840480" cy="594360"/>
          </a:xfrm>
          <a:prstGeom prst="rect">
            <a:avLst/>
          </a:prstGeom>
          <a:noFill/>
          <a:ln/>
        </p:spPr>
        <p:txBody>
          <a:bodyPr wrap="square" lIns="0" tIns="0" rIns="0" bIns="0" rtlCol="0" anchor="t"/>
          <a:lstStyle/>
          <a:p>
            <a:pPr indent="0" marL="0">
              <a:lnSpc>
                <a:spcPct val="110000"/>
              </a:lnSpc>
              <a:buNone/>
            </a:pPr>
            <a:r>
              <a:rPr lang="en-US" sz="1000" dirty="0">
                <a:solidFill>
                  <a:srgbClr val="17211B"/>
                </a:solidFill>
                <a:latin typeface="Calibri" pitchFamily="34" charset="0"/>
                <a:ea typeface="Calibri" pitchFamily="34" charset="-122"/>
                <a:cs typeface="Calibri" pitchFamily="34" charset="-120"/>
              </a:rPr>
              <a:t>Trained on simulated 2023–24, tested untouched on 2025 against naive, linear and oracle policies. Weighted forecast error: network 13.0%, trailing average 15.5%, linear 15.1%.</a:t>
            </a:r>
            <a:endParaRPr lang="en-US" sz="1000" dirty="0"/>
          </a:p>
        </p:txBody>
      </p:sp>
      <p:sp>
        <p:nvSpPr>
          <p:cNvPr id="10" name="Text 8"/>
          <p:cNvSpPr txBox="1"/>
          <p:nvPr/>
        </p:nvSpPr>
        <p:spPr>
          <a:xfrm>
            <a:off x="4754880" y="2286000"/>
            <a:ext cx="3840480" cy="274320"/>
          </a:xfrm>
          <a:prstGeom prst="rect">
            <a:avLst/>
          </a:prstGeom>
          <a:noFill/>
          <a:ln/>
        </p:spPr>
        <p:txBody>
          <a:bodyPr wrap="square" lIns="0" tIns="0" rIns="0" bIns="0" rtlCol="0" anchor="ctr"/>
          <a:lstStyle/>
          <a:p>
            <a:pPr indent="0" marL="0">
              <a:buNone/>
            </a:pPr>
            <a:r>
              <a:rPr lang="en-US" sz="1250" b="1" dirty="0">
                <a:solidFill>
                  <a:srgbClr val="17211B"/>
                </a:solidFill>
                <a:latin typeface="Arial" pitchFamily="34" charset="0"/>
                <a:ea typeface="Arial" pitchFamily="34" charset="-122"/>
                <a:cs typeface="Arial" pitchFamily="34" charset="-120"/>
              </a:rPr>
              <a:t>Provenance</a:t>
            </a:r>
            <a:endParaRPr lang="en-US" sz="1250" dirty="0"/>
          </a:p>
        </p:txBody>
      </p:sp>
      <p:sp>
        <p:nvSpPr>
          <p:cNvPr id="11" name="Text 9"/>
          <p:cNvSpPr txBox="1"/>
          <p:nvPr/>
        </p:nvSpPr>
        <p:spPr>
          <a:xfrm>
            <a:off x="4754880" y="2560320"/>
            <a:ext cx="3840480" cy="1143000"/>
          </a:xfrm>
          <a:prstGeom prst="rect">
            <a:avLst/>
          </a:prstGeom>
          <a:noFill/>
          <a:ln/>
        </p:spPr>
        <p:txBody>
          <a:bodyPr wrap="square" lIns="0" tIns="0" rIns="0" bIns="0" rtlCol="0" anchor="t"/>
          <a:lstStyle/>
          <a:p>
            <a:pPr indent="0" marL="0">
              <a:lnSpc>
                <a:spcPct val="110000"/>
              </a:lnSpc>
              <a:buNone/>
            </a:pPr>
            <a:r>
              <a:rPr lang="en-US" sz="1000" dirty="0">
                <a:solidFill>
                  <a:srgbClr val="17211B"/>
                </a:solidFill>
                <a:latin typeface="Calibri" pitchFamily="34" charset="0"/>
                <a:ea typeface="Calibri" pitchFamily="34" charset="-122"/>
                <a:cs typeface="Calibri" pitchFamily="34" charset="-120"/>
              </a:rPr>
              <a:t>The synthetic dataset, the trained checkpoint and the results file are frozen and checked in. The backtest reproduces the results byte for byte, and the tools refuse to overwrite the frozen files by accident. This deck is generated from that results file by tools/build_deck_pptx.js.</a:t>
            </a:r>
            <a:endParaRPr lang="en-US" sz="1000" dirty="0"/>
          </a:p>
        </p:txBody>
      </p:sp>
      <p:sp>
        <p:nvSpPr>
          <p:cNvPr id="12" name="Text 10"/>
          <p:cNvSpPr txBox="1"/>
          <p:nvPr/>
        </p:nvSpPr>
        <p:spPr>
          <a:xfrm>
            <a:off x="4754880" y="3703320"/>
            <a:ext cx="3840480" cy="274320"/>
          </a:xfrm>
          <a:prstGeom prst="rect">
            <a:avLst/>
          </a:prstGeom>
          <a:noFill/>
          <a:ln/>
        </p:spPr>
        <p:txBody>
          <a:bodyPr wrap="square" lIns="0" tIns="0" rIns="0" bIns="0" rtlCol="0" anchor="ctr"/>
          <a:lstStyle/>
          <a:p>
            <a:pPr indent="0" marL="0">
              <a:buNone/>
            </a:pPr>
            <a:r>
              <a:rPr lang="en-US" sz="1250" b="1" dirty="0">
                <a:solidFill>
                  <a:srgbClr val="17211B"/>
                </a:solidFill>
                <a:latin typeface="Arial" pitchFamily="34" charset="0"/>
                <a:ea typeface="Arial" pitchFamily="34" charset="-122"/>
                <a:cs typeface="Arial" pitchFamily="34" charset="-120"/>
              </a:rPr>
              <a:t>Real-data path</a:t>
            </a:r>
            <a:endParaRPr lang="en-US" sz="1250" dirty="0"/>
          </a:p>
        </p:txBody>
      </p:sp>
      <p:sp>
        <p:nvSpPr>
          <p:cNvPr id="13" name="Text 11"/>
          <p:cNvSpPr txBox="1"/>
          <p:nvPr/>
        </p:nvSpPr>
        <p:spPr>
          <a:xfrm>
            <a:off x="4754880" y="3977640"/>
            <a:ext cx="3840480" cy="731520"/>
          </a:xfrm>
          <a:prstGeom prst="rect">
            <a:avLst/>
          </a:prstGeom>
          <a:noFill/>
          <a:ln/>
        </p:spPr>
        <p:txBody>
          <a:bodyPr wrap="square" lIns="0" tIns="0" rIns="0" bIns="0" rtlCol="0" anchor="t"/>
          <a:lstStyle/>
          <a:p>
            <a:pPr indent="0" marL="0">
              <a:lnSpc>
                <a:spcPct val="110000"/>
              </a:lnSpc>
              <a:buNone/>
            </a:pPr>
            <a:r>
              <a:rPr lang="en-US" sz="1000" dirty="0">
                <a:solidFill>
                  <a:srgbClr val="17211B"/>
                </a:solidFill>
                <a:latin typeface="Calibri" pitchFamily="34" charset="0"/>
                <a:ea typeface="Calibri" pitchFamily="34" charset="-122"/>
                <a:cs typeface="Calibri" pitchFamily="34" charset="-120"/>
              </a:rPr>
              <a:t>Importer, validation gate, training, evaluation and the morning-sheet loop have been run end to end on a mock export built from the synthetic store with realistic dirt added. None of it has seen real data.</a:t>
            </a:r>
            <a:endParaRPr lang="en-US" sz="1000" dirty="0"/>
          </a:p>
        </p:txBody>
      </p:sp>
      <p:sp>
        <p:nvSpPr>
          <p:cNvPr id="15" name="Text 1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800" dirty="0">
                <a:solidFill>
                  <a:srgbClr val="7D8A81"/>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 Forecast · Proposal for Harris Teeter leadership</dc:title>
  <dc:subject>PptxGenJS Presentation</dc:subject>
  <dc:creator>Fresh Forecast</dc:creator>
  <cp:lastModifiedBy>Fresh Forecast</cp:lastModifiedBy>
  <cp:revision>1</cp:revision>
  <dcterms:created xsi:type="dcterms:W3CDTF">2026-09-10T13:04:27Z</dcterms:created>
  <dcterms:modified xsi:type="dcterms:W3CDTF">2026-09-10T13:04:27Z</dcterms:modified>
</cp:coreProperties>
</file>